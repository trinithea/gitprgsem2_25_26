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81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8579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985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5127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3186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588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6353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7025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003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306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52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4552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4561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3744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2018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9189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7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48142F1-E5A4-4AC0-8987-F48CF9C4F690}" type="datetimeFigureOut">
              <a:rPr lang="cs-CZ" smtClean="0"/>
              <a:t>29.03.2026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A7B71D-D71D-4D05-B629-98595BE492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79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8490951" y="4185117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55612" y="4241801"/>
            <a:ext cx="112776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cs-C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646631C-3E48-0243-EA65-7675178DE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143000"/>
            <a:ext cx="8825658" cy="3389217"/>
          </a:xfrm>
        </p:spPr>
        <p:txBody>
          <a:bodyPr anchor="ctr">
            <a:normAutofit/>
          </a:bodyPr>
          <a:lstStyle/>
          <a:p>
            <a:pPr algn="ctr"/>
            <a:r>
              <a:rPr lang="cs-CZ" sz="6100">
                <a:solidFill>
                  <a:srgbClr val="FFFFFF"/>
                </a:solidFill>
              </a:rPr>
              <a:t>16. Aritmetické výrazy – reprezentace v grafu, vyhodnocení.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061FD40-3039-D892-3682-346C5AD30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5240851"/>
            <a:ext cx="8825658" cy="828932"/>
          </a:xfrm>
        </p:spPr>
        <p:txBody>
          <a:bodyPr>
            <a:normAutofit/>
          </a:bodyPr>
          <a:lstStyle/>
          <a:p>
            <a:pPr algn="ctr"/>
            <a:r>
              <a:rPr lang="cs-CZ" sz="2400">
                <a:solidFill>
                  <a:schemeClr val="tx2"/>
                </a:solidFill>
              </a:rPr>
              <a:t>Tomáš Diessner, 8.M</a:t>
            </a:r>
          </a:p>
        </p:txBody>
      </p:sp>
    </p:spTree>
    <p:extLst>
      <p:ext uri="{BB962C8B-B14F-4D97-AF65-F5344CB8AC3E}">
        <p14:creationId xmlns:p14="http://schemas.microsoft.com/office/powerpoint/2010/main" val="268411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844934-2C38-3263-E4C3-055A8262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Aritmetický výraz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6D78C9-CAAB-54ED-3F62-DDD1D8B12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3200" dirty="0"/>
              <a:t>Operandy (čísla, proměnné)</a:t>
            </a:r>
          </a:p>
          <a:p>
            <a:r>
              <a:rPr lang="cs-CZ" sz="3200" dirty="0"/>
              <a:t>Operátory (+, -, *, /)</a:t>
            </a:r>
          </a:p>
          <a:p>
            <a:r>
              <a:rPr lang="cs-CZ" sz="3200" dirty="0"/>
              <a:t>Příklady: </a:t>
            </a:r>
          </a:p>
          <a:p>
            <a:pPr marL="0" indent="0">
              <a:buNone/>
            </a:pPr>
            <a:r>
              <a:rPr lang="cs-CZ" sz="3200" dirty="0"/>
              <a:t>3 + 2 * 4</a:t>
            </a:r>
          </a:p>
          <a:p>
            <a:pPr marL="0" indent="0">
              <a:buNone/>
            </a:pPr>
            <a:r>
              <a:rPr lang="cs-CZ" sz="3200" dirty="0"/>
              <a:t>(3 + 2) * 4</a:t>
            </a:r>
          </a:p>
          <a:p>
            <a:pPr marL="0" indent="0">
              <a:buNone/>
            </a:pPr>
            <a:r>
              <a:rPr lang="cs-CZ" sz="3200" dirty="0"/>
              <a:t>((2 + 3) * (8 / 4)) / (12 - 9)</a:t>
            </a:r>
          </a:p>
        </p:txBody>
      </p:sp>
    </p:spTree>
    <p:extLst>
      <p:ext uri="{BB962C8B-B14F-4D97-AF65-F5344CB8AC3E}">
        <p14:creationId xmlns:p14="http://schemas.microsoft.com/office/powerpoint/2010/main" val="2525423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C48213-6FAC-746C-EAF7-658A08E9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Infix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976A3D-0651-2EF1-B477-E52333B06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Operátor je </a:t>
            </a:r>
            <a:r>
              <a:rPr lang="cs-CZ" sz="3200" b="1" dirty="0"/>
              <a:t>mezi</a:t>
            </a:r>
            <a:r>
              <a:rPr lang="cs-CZ" sz="3200" dirty="0"/>
              <a:t> operandy</a:t>
            </a:r>
          </a:p>
          <a:p>
            <a:pPr marL="0" indent="0">
              <a:buNone/>
            </a:pPr>
            <a:r>
              <a:rPr lang="cs-CZ" sz="4400" b="1" dirty="0"/>
              <a:t>(A + B) * C</a:t>
            </a:r>
          </a:p>
        </p:txBody>
      </p:sp>
    </p:spTree>
    <p:extLst>
      <p:ext uri="{BB962C8B-B14F-4D97-AF65-F5344CB8AC3E}">
        <p14:creationId xmlns:p14="http://schemas.microsoft.com/office/powerpoint/2010/main" val="79478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2C82AE-8253-64D9-6706-FE56F99E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Postfix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F5CD80-B146-D683-8E81-CC2F3A97F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Operátor je </a:t>
            </a:r>
            <a:r>
              <a:rPr lang="cs-CZ" sz="3200" b="1" dirty="0"/>
              <a:t>za</a:t>
            </a:r>
            <a:r>
              <a:rPr lang="cs-CZ" sz="3200" dirty="0"/>
              <a:t> operandy</a:t>
            </a:r>
          </a:p>
          <a:p>
            <a:pPr marL="0" indent="0">
              <a:buNone/>
            </a:pPr>
            <a:r>
              <a:rPr lang="cs-CZ" sz="4400" b="1" dirty="0"/>
              <a:t>A B + C *</a:t>
            </a:r>
          </a:p>
        </p:txBody>
      </p:sp>
    </p:spTree>
    <p:extLst>
      <p:ext uri="{BB962C8B-B14F-4D97-AF65-F5344CB8AC3E}">
        <p14:creationId xmlns:p14="http://schemas.microsoft.com/office/powerpoint/2010/main" val="147694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D6A8BA-F197-CFAD-EAC7-A6E85612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Prefix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A4E4B2-3D97-1972-3AB2-30EF9A73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Operátor je </a:t>
            </a:r>
            <a:r>
              <a:rPr lang="cs-CZ" sz="3200" b="1" dirty="0"/>
              <a:t>před</a:t>
            </a:r>
            <a:r>
              <a:rPr lang="cs-CZ" sz="3200" dirty="0"/>
              <a:t> operandy</a:t>
            </a:r>
          </a:p>
          <a:p>
            <a:r>
              <a:rPr lang="cs-CZ" sz="3200" dirty="0"/>
              <a:t>Méně častý.</a:t>
            </a:r>
          </a:p>
          <a:p>
            <a:pPr marL="0" indent="0">
              <a:buNone/>
            </a:pPr>
            <a:r>
              <a:rPr lang="cs-CZ" sz="4400" b="1" dirty="0"/>
              <a:t>* + A B C</a:t>
            </a:r>
          </a:p>
        </p:txBody>
      </p:sp>
    </p:spTree>
    <p:extLst>
      <p:ext uri="{BB962C8B-B14F-4D97-AF65-F5344CB8AC3E}">
        <p14:creationId xmlns:p14="http://schemas.microsoft.com/office/powerpoint/2010/main" val="10600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3429E8-407F-583C-DB91-84208A857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Binární strom výrazu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B8FAD8-6792-90EA-ECD2-9A8DF3661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00923" cy="3416300"/>
          </a:xfrm>
        </p:spPr>
        <p:txBody>
          <a:bodyPr>
            <a:normAutofit/>
          </a:bodyPr>
          <a:lstStyle/>
          <a:p>
            <a:r>
              <a:rPr lang="cs-CZ" sz="3200" dirty="0"/>
              <a:t>Uzly – operátory</a:t>
            </a:r>
          </a:p>
          <a:p>
            <a:r>
              <a:rPr lang="cs-CZ" sz="3200" dirty="0"/>
              <a:t>Listy – operandy</a:t>
            </a:r>
          </a:p>
          <a:p>
            <a:r>
              <a:rPr lang="cs-CZ" sz="3200" dirty="0"/>
              <a:t>Operace s nejvyšší prioritou nejhlouběji</a:t>
            </a:r>
            <a:endParaRPr lang="cs-CZ" sz="3200" b="1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009FF70-7885-F9B2-2FFF-CD1E916E7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876" y="2603500"/>
            <a:ext cx="3326170" cy="373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6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960C14-5315-C678-D658-DA09AF98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Převod z binárního stromu – infix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316939-AAF7-1F49-4549-D1B6E8E0D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967783" cy="3416300"/>
          </a:xfrm>
        </p:spPr>
        <p:txBody>
          <a:bodyPr>
            <a:normAutofit/>
          </a:bodyPr>
          <a:lstStyle/>
          <a:p>
            <a:r>
              <a:rPr lang="cs-CZ" sz="3200" dirty="0"/>
              <a:t>Snažíme se napsat vždy co nejlevější prvek.</a:t>
            </a:r>
          </a:p>
          <a:p>
            <a:r>
              <a:rPr lang="cs-CZ" sz="3200" dirty="0"/>
              <a:t>Když přejdeme přes operátor dál do leva, přidáme závorku.</a:t>
            </a:r>
            <a:endParaRPr lang="cs-CZ" sz="4400" dirty="0"/>
          </a:p>
          <a:p>
            <a:pPr marL="0" indent="0">
              <a:buNone/>
            </a:pPr>
            <a:r>
              <a:rPr lang="cs-CZ" sz="4000" b="1" dirty="0"/>
              <a:t>3 + ((5 + 9) * 2)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C8EDD50-7A88-A486-A429-1C33E27A8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737" y="2296728"/>
            <a:ext cx="3587260" cy="402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3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9B58-123D-683D-65FB-F7E8BA16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50EB2E-C51A-54A9-6B20-24A5A753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9463885" cy="706964"/>
          </a:xfrm>
        </p:spPr>
        <p:txBody>
          <a:bodyPr/>
          <a:lstStyle/>
          <a:p>
            <a:r>
              <a:rPr lang="cs-CZ" sz="4400" dirty="0"/>
              <a:t>Převod z binárního stromu – postfix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8083F2-C2E8-186E-8550-5D5F70274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967783" cy="3416300"/>
          </a:xfrm>
        </p:spPr>
        <p:txBody>
          <a:bodyPr>
            <a:normAutofit/>
          </a:bodyPr>
          <a:lstStyle/>
          <a:p>
            <a:r>
              <a:rPr lang="cs-CZ" sz="3200" dirty="0"/>
              <a:t>Vypisujeme v pořadí: Levý prvek – pravý potomek – uzel</a:t>
            </a:r>
          </a:p>
          <a:p>
            <a:pPr marL="0" indent="0">
              <a:buNone/>
            </a:pPr>
            <a:r>
              <a:rPr lang="cs-CZ" sz="4000" b="1" dirty="0"/>
              <a:t>3 5 9 + 2 * +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AF707E8-5B09-5285-1BFC-8E0269819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737" y="2296728"/>
            <a:ext cx="3587260" cy="402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5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F78D-6671-D05F-4C98-4C8C2409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368CCD-4F97-C7ED-534C-CCE8EB0C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277072" cy="706964"/>
          </a:xfrm>
        </p:spPr>
        <p:txBody>
          <a:bodyPr/>
          <a:lstStyle/>
          <a:p>
            <a:r>
              <a:rPr lang="cs-CZ" sz="4400" dirty="0"/>
              <a:t>Převod z binárního stromu – prefix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622E67-43A2-703B-0B43-F62993169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967783" cy="3416300"/>
          </a:xfrm>
        </p:spPr>
        <p:txBody>
          <a:bodyPr>
            <a:normAutofit/>
          </a:bodyPr>
          <a:lstStyle/>
          <a:p>
            <a:r>
              <a:rPr lang="cs-CZ" sz="3200" dirty="0"/>
              <a:t>Vypisujeme v pořadí: Uzel – levý prvek – pravý prvek</a:t>
            </a:r>
          </a:p>
          <a:p>
            <a:pPr marL="0" indent="0">
              <a:buNone/>
            </a:pPr>
            <a:r>
              <a:rPr lang="cs-CZ" sz="4000" b="1" dirty="0"/>
              <a:t>+ 3 * + 5 9 2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9591372-739F-882D-F563-3A8B9D85E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737" y="2296728"/>
            <a:ext cx="3587260" cy="402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6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5E0F-2D85-A80F-9B6B-409E9BCD0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D99E0C-05D5-29BF-254D-2D18ED00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88581" cy="706964"/>
          </a:xfrm>
        </p:spPr>
        <p:txBody>
          <a:bodyPr/>
          <a:lstStyle/>
          <a:p>
            <a:r>
              <a:rPr lang="cs-CZ" sz="4400" dirty="0"/>
              <a:t>Vyhodnocování výrazu ze stromu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E5382C-EEA5-8AB8-C61D-511D3B509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6039666" cy="3416300"/>
          </a:xfrm>
        </p:spPr>
        <p:txBody>
          <a:bodyPr>
            <a:normAutofit/>
          </a:bodyPr>
          <a:lstStyle/>
          <a:p>
            <a:r>
              <a:rPr lang="cs-CZ" sz="3200" dirty="0"/>
              <a:t>Rekurzivně </a:t>
            </a:r>
          </a:p>
          <a:p>
            <a:r>
              <a:rPr lang="cs-CZ" sz="3200" dirty="0"/>
              <a:t>Výsledek = Operátor(Levý podstrom, Pravý podstrom)</a:t>
            </a:r>
            <a:endParaRPr lang="cs-CZ" sz="28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AD5E33E-35AF-3D00-AFC7-B856CE2C9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876" y="2603500"/>
            <a:ext cx="3326170" cy="373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34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0AC1-5CB9-13CF-1F84-3A3EC72D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4AB5EA-7283-C0C4-D6AB-C303951A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88581" cy="706964"/>
          </a:xfrm>
        </p:spPr>
        <p:txBody>
          <a:bodyPr/>
          <a:lstStyle/>
          <a:p>
            <a:r>
              <a:rPr lang="cs-CZ" sz="4400" dirty="0"/>
              <a:t>Vyhodnocování výrazu postfix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93846DAC-C74F-CE5A-40D7-B741CB3D1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r>
              <a:rPr lang="cs-CZ" sz="3200" dirty="0"/>
              <a:t>Pomocí zásobníku</a:t>
            </a:r>
          </a:p>
          <a:p>
            <a:r>
              <a:rPr lang="cs-CZ" sz="3200" dirty="0"/>
              <a:t>Operátor -&gt; operace mezi čísly na zásobníku -&gt; výsledek zpět na zásobník</a:t>
            </a:r>
          </a:p>
        </p:txBody>
      </p:sp>
    </p:spTree>
    <p:extLst>
      <p:ext uri="{BB962C8B-B14F-4D97-AF65-F5344CB8AC3E}">
        <p14:creationId xmlns:p14="http://schemas.microsoft.com/office/powerpoint/2010/main" val="333159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31C1-9A31-3CAB-CDAE-550ECB59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95ECB2-AC8C-67F0-9C14-FC06FAB4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88581" cy="706964"/>
          </a:xfrm>
        </p:spPr>
        <p:txBody>
          <a:bodyPr/>
          <a:lstStyle/>
          <a:p>
            <a:r>
              <a:rPr lang="cs-CZ" sz="4400" dirty="0"/>
              <a:t>Vyhodnocování ostatních výrazů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111EC2EF-586B-B8E1-5C01-DDCFE36C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>
            <a:normAutofit/>
          </a:bodyPr>
          <a:lstStyle/>
          <a:p>
            <a:r>
              <a:rPr lang="cs-CZ" sz="3200" dirty="0"/>
              <a:t>Prefix – převrátíme a spočítáme stejně jako postfix</a:t>
            </a:r>
          </a:p>
          <a:p>
            <a:r>
              <a:rPr lang="cs-CZ" sz="3200" dirty="0"/>
              <a:t>Infix – převedeme na binární strom, kořenem bude operace, která se vyhodnotí poslední</a:t>
            </a:r>
          </a:p>
        </p:txBody>
      </p:sp>
    </p:spTree>
    <p:extLst>
      <p:ext uri="{BB962C8B-B14F-4D97-AF65-F5344CB8AC3E}">
        <p14:creationId xmlns:p14="http://schemas.microsoft.com/office/powerpoint/2010/main" val="97043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6910BA-BA3F-560E-3736-8B8F2600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11776087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283</TotalTime>
  <Words>254</Words>
  <Application>Microsoft Office PowerPoint</Application>
  <PresentationFormat>Širokoúhlá obrazovka</PresentationFormat>
  <Paragraphs>43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16. Aritmetické výrazy – reprezentace v grafu, vyhodnocení.</vt:lpstr>
      <vt:lpstr>Aritmetický výraz</vt:lpstr>
      <vt:lpstr>Infix</vt:lpstr>
      <vt:lpstr>Postfix</vt:lpstr>
      <vt:lpstr>Prefix</vt:lpstr>
      <vt:lpstr>Binární strom výrazu</vt:lpstr>
      <vt:lpstr>Převod z binárního stromu – infix</vt:lpstr>
      <vt:lpstr>Převod z binárního stromu – postfix</vt:lpstr>
      <vt:lpstr>Převod z binárního stromu – prefix</vt:lpstr>
      <vt:lpstr>Vyhodnocování výrazu ze stromu</vt:lpstr>
      <vt:lpstr>Vyhodnocování výrazu postfix</vt:lpstr>
      <vt:lpstr>Vyhodnocování ostatních výrazů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Diessner Tomáš</dc:creator>
  <cp:lastModifiedBy>Diessner Tomáš</cp:lastModifiedBy>
  <cp:revision>16</cp:revision>
  <dcterms:created xsi:type="dcterms:W3CDTF">2026-03-29T10:18:06Z</dcterms:created>
  <dcterms:modified xsi:type="dcterms:W3CDTF">2026-03-29T15:03:00Z</dcterms:modified>
</cp:coreProperties>
</file>