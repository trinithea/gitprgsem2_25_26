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1"/>
  </p:notesMasterIdLst>
  <p:sldIdLst>
    <p:sldId id="256" r:id="rId2"/>
    <p:sldId id="280" r:id="rId3"/>
    <p:sldId id="263" r:id="rId4"/>
    <p:sldId id="291" r:id="rId5"/>
    <p:sldId id="292" r:id="rId6"/>
    <p:sldId id="293" r:id="rId7"/>
    <p:sldId id="287" r:id="rId8"/>
    <p:sldId id="294" r:id="rId9"/>
    <p:sldId id="290" r:id="rId10"/>
  </p:sldIdLst>
  <p:sldSz cx="9144000" cy="5143500" type="screen16x9"/>
  <p:notesSz cx="6858000" cy="9144000"/>
  <p:embeddedFontLst>
    <p:embeddedFont>
      <p:font typeface="Archivo" panose="020B0604020202020204" charset="-18"/>
      <p:regular r:id="rId12"/>
      <p:bold r:id="rId13"/>
      <p:italic r:id="rId14"/>
      <p:boldItalic r:id="rId15"/>
    </p:embeddedFont>
    <p:embeddedFont>
      <p:font typeface="Corbel" panose="020B0503020204020204" pitchFamily="34" charset="0"/>
      <p:regular r:id="rId16"/>
      <p:bold r:id="rId17"/>
      <p:italic r:id="rId18"/>
      <p:boldItalic r:id="rId19"/>
    </p:embeddedFont>
    <p:embeddedFont>
      <p:font typeface="IBM Plex Mono" panose="020B0509050203000203" pitchFamily="49" charset="-18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20322D-4874-4E19-802A-148BA7BCF51F}">
  <a:tblStyle styleId="{8520322D-4874-4E19-802A-148BA7BCF5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A7F8CB-E332-4225-9CD5-63CC39202C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EC20E35-A176-4012-BC5E-935CFFF8708E}" styleName="Střední sty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92b8f97649_1_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92b8f97649_1_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cs-CZ" b="1" dirty="0"/>
              <a:t>Fáze A: Z editoru do balíčku (Build </a:t>
            </a:r>
            <a:r>
              <a:rPr lang="cs-CZ" b="1" dirty="0" err="1"/>
              <a:t>time</a:t>
            </a:r>
            <a:r>
              <a:rPr lang="cs-CZ" b="1" dirty="0"/>
              <a:t>)</a:t>
            </a:r>
          </a:p>
          <a:p>
            <a:r>
              <a:rPr lang="cs-CZ" dirty="0"/>
              <a:t>Když v C# klikneš na „Build“ nebo „Run“, kompilátor (jmenuje se </a:t>
            </a:r>
            <a:r>
              <a:rPr lang="cs-CZ" b="1" dirty="0" err="1"/>
              <a:t>Roslyn</a:t>
            </a:r>
            <a:r>
              <a:rPr lang="cs-CZ" dirty="0"/>
              <a:t>) vezme tvůj kód a přeloží ho do něčeho, čemu říkáme </a:t>
            </a:r>
            <a:r>
              <a:rPr lang="cs-CZ" b="1" dirty="0"/>
              <a:t>MSIL</a:t>
            </a:r>
            <a:r>
              <a:rPr lang="cs-CZ" dirty="0"/>
              <a:t> (Microsoft </a:t>
            </a:r>
            <a:r>
              <a:rPr lang="cs-CZ" dirty="0" err="1"/>
              <a:t>Intermediate</a:t>
            </a:r>
            <a:r>
              <a:rPr lang="cs-CZ" dirty="0"/>
              <a:t> </a:t>
            </a:r>
            <a:r>
              <a:rPr lang="cs-CZ" dirty="0" err="1"/>
              <a:t>Language</a:t>
            </a:r>
            <a:r>
              <a:rPr lang="cs-CZ" dirty="0"/>
              <a:t>).</a:t>
            </a:r>
          </a:p>
          <a:p>
            <a:r>
              <a:rPr lang="cs-CZ" dirty="0"/>
              <a:t>Výsledkem je soubor </a:t>
            </a:r>
            <a:r>
              <a:rPr lang="cs-CZ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.dll</a:t>
            </a:r>
            <a:r>
              <a:rPr lang="cs-CZ" dirty="0"/>
              <a:t> nebo </a:t>
            </a:r>
            <a:r>
              <a:rPr lang="cs-CZ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cs-CZ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</a:t>
            </a:r>
            <a:r>
              <a:rPr lang="cs-CZ" dirty="0"/>
              <a:t>.</a:t>
            </a:r>
          </a:p>
          <a:p>
            <a:r>
              <a:rPr lang="cs-CZ" dirty="0"/>
              <a:t>Tento soubor ale procesor ještě neumí přečíst! Je to takový univerzální „</a:t>
            </a:r>
            <a:r>
              <a:rPr lang="cs-CZ" dirty="0" err="1"/>
              <a:t>ajťácký</a:t>
            </a:r>
            <a:r>
              <a:rPr lang="cs-CZ" dirty="0"/>
              <a:t> esperanto“.</a:t>
            </a:r>
          </a:p>
          <a:p>
            <a:r>
              <a:rPr lang="cs-CZ" b="1" dirty="0"/>
              <a:t>Fáze B: Spuštění a JIT (Runtime)</a:t>
            </a:r>
          </a:p>
          <a:p>
            <a:r>
              <a:rPr lang="cs-CZ" dirty="0"/>
              <a:t>Teprve když program spustíš, nastupuje </a:t>
            </a:r>
            <a:r>
              <a:rPr lang="cs-CZ" b="1" dirty="0"/>
              <a:t>JIT (Just-In-Time) kompilátor</a:t>
            </a:r>
            <a:r>
              <a:rPr lang="cs-CZ" dirty="0"/>
              <a:t>, který je součástí platformy </a:t>
            </a:r>
            <a:r>
              <a:rPr lang="cs-CZ" b="1" dirty="0"/>
              <a:t>.NET</a:t>
            </a:r>
            <a:r>
              <a:rPr lang="cs-CZ" dirty="0"/>
              <a:t>.</a:t>
            </a:r>
          </a:p>
          <a:p>
            <a:r>
              <a:rPr lang="cs-CZ" dirty="0"/>
              <a:t>JIT se podívá na MSIL kód a </a:t>
            </a:r>
            <a:r>
              <a:rPr lang="cs-CZ" b="1" dirty="0"/>
              <a:t>přímo za běhu</a:t>
            </a:r>
            <a:r>
              <a:rPr lang="cs-CZ" dirty="0"/>
              <a:t> ho přeloží do instrukcí konkrétního procesoru (např. Intel nebo Apple M2), který máš v počítači.</a:t>
            </a:r>
          </a:p>
          <a:p>
            <a:r>
              <a:rPr lang="cs-CZ" b="1" dirty="0"/>
              <a:t>Výhoda:</a:t>
            </a:r>
            <a:r>
              <a:rPr lang="cs-CZ" dirty="0"/>
              <a:t> Je to extrémně rychlé, protože JIT může kód optimalizovat přesně pro tvůj hardware.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C66CD250-DA64-9CA4-1FAD-AEDC2E18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>
            <a:extLst>
              <a:ext uri="{FF2B5EF4-FFF2-40B4-BE49-F238E27FC236}">
                <a16:creationId xmlns:a16="http://schemas.microsoft.com/office/drawing/2014/main" id="{CD36F60E-DCC7-8803-E2D7-3DBE954C7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>
            <a:extLst>
              <a:ext uri="{FF2B5EF4-FFF2-40B4-BE49-F238E27FC236}">
                <a16:creationId xmlns:a16="http://schemas.microsoft.com/office/drawing/2014/main" id="{4E47F990-596B-1EFC-6500-9739B9EDE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827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180C86F3-1950-2640-2520-84F5073D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>
            <a:extLst>
              <a:ext uri="{FF2B5EF4-FFF2-40B4-BE49-F238E27FC236}">
                <a16:creationId xmlns:a16="http://schemas.microsoft.com/office/drawing/2014/main" id="{355BC182-B4EB-F543-C2E6-4AA5C5D47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>
            <a:extLst>
              <a:ext uri="{FF2B5EF4-FFF2-40B4-BE49-F238E27FC236}">
                <a16:creationId xmlns:a16="http://schemas.microsoft.com/office/drawing/2014/main" id="{BCD91398-04F6-C95A-5E96-BFC65579C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V C# je číslo </a:t>
            </a:r>
            <a:r>
              <a:rPr lang="cs-CZ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cs-CZ" dirty="0"/>
              <a:t> jen 32 bitů v paměti. V Pythonu je to objekt, který kolem sebe má další metadata (např. počítadlo odkazů, aby Python věděl, kdy ho může smazat).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1319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>
          <a:extLst>
            <a:ext uri="{FF2B5EF4-FFF2-40B4-BE49-F238E27FC236}">
              <a16:creationId xmlns:a16="http://schemas.microsoft.com/office/drawing/2014/main" id="{D52A75BE-326B-396E-6C7F-17037EEC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92b8f97649_1_484:notes">
            <a:extLst>
              <a:ext uri="{FF2B5EF4-FFF2-40B4-BE49-F238E27FC236}">
                <a16:creationId xmlns:a16="http://schemas.microsoft.com/office/drawing/2014/main" id="{A7CEF6F1-7D58-5FB6-F430-2CB9D1733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92b8f97649_1_484:notes">
            <a:extLst>
              <a:ext uri="{FF2B5EF4-FFF2-40B4-BE49-F238E27FC236}">
                <a16:creationId xmlns:a16="http://schemas.microsoft.com/office/drawing/2014/main" id="{62577C3C-9E81-4773-D545-EB3A76469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643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933ed14694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933ed14694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>
          <a:extLst>
            <a:ext uri="{FF2B5EF4-FFF2-40B4-BE49-F238E27FC236}">
              <a16:creationId xmlns:a16="http://schemas.microsoft.com/office/drawing/2014/main" id="{95F0F84E-AE88-D07B-D5B5-E0C8C407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933ed14694_0_235:notes">
            <a:extLst>
              <a:ext uri="{FF2B5EF4-FFF2-40B4-BE49-F238E27FC236}">
                <a16:creationId xmlns:a16="http://schemas.microsoft.com/office/drawing/2014/main" id="{4274F6C2-45EF-CCB0-F456-B96FF8D2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933ed14694_0_235:notes">
            <a:extLst>
              <a:ext uri="{FF2B5EF4-FFF2-40B4-BE49-F238E27FC236}">
                <a16:creationId xmlns:a16="http://schemas.microsoft.com/office/drawing/2014/main" id="{FF4D0304-EC7D-B2F9-AFA8-0110AFF98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634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92fd234c9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92fd234c9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8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08376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46239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5083759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1462170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203824" y="197287"/>
            <a:ext cx="8755913" cy="4831913"/>
            <a:chOff x="203824" y="197287"/>
            <a:chExt cx="8755913" cy="4831913"/>
          </a:xfrm>
        </p:grpSpPr>
        <p:pic>
          <p:nvPicPr>
            <p:cNvPr id="39" name="Google Shape;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7284074" y="48482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03824" y="364107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Google Shape;41;p5"/>
          <p:cNvGrpSpPr/>
          <p:nvPr/>
        </p:nvGrpSpPr>
        <p:grpSpPr>
          <a:xfrm>
            <a:off x="720000" y="146984"/>
            <a:ext cx="8023949" cy="4844116"/>
            <a:chOff x="720000" y="146984"/>
            <a:chExt cx="8023949" cy="4844116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23436"/>
            <a:stretch/>
          </p:blipFill>
          <p:spPr>
            <a:xfrm>
              <a:off x="720000" y="4457700"/>
              <a:ext cx="3363601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t="27541" r="2657"/>
            <a:stretch/>
          </p:blipFill>
          <p:spPr>
            <a:xfrm>
              <a:off x="5245100" y="146984"/>
              <a:ext cx="3498849" cy="53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6"/>
          <p:cNvGrpSpPr/>
          <p:nvPr/>
        </p:nvGrpSpPr>
        <p:grpSpPr>
          <a:xfrm>
            <a:off x="-539705" y="-195092"/>
            <a:ext cx="9784805" cy="5424242"/>
            <a:chOff x="-539705" y="-195092"/>
            <a:chExt cx="9784805" cy="5424242"/>
          </a:xfrm>
        </p:grpSpPr>
        <p:grpSp>
          <p:nvGrpSpPr>
            <p:cNvPr id="48" name="Google Shape;48;p6"/>
            <p:cNvGrpSpPr/>
            <p:nvPr/>
          </p:nvGrpSpPr>
          <p:grpSpPr>
            <a:xfrm rot="899960">
              <a:off x="-340854" y="-99825"/>
              <a:ext cx="955046" cy="1662400"/>
              <a:chOff x="-191200" y="-67425"/>
              <a:chExt cx="955075" cy="1662450"/>
            </a:xfrm>
          </p:grpSpPr>
          <p:cxnSp>
            <p:nvCxnSpPr>
              <p:cNvPr id="49" name="Google Shape;49;p6"/>
              <p:cNvCxnSpPr/>
              <p:nvPr/>
            </p:nvCxnSpPr>
            <p:spPr>
              <a:xfrm flipH="1">
                <a:off x="331275" y="-67425"/>
                <a:ext cx="432600" cy="68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flipH="1">
                <a:off x="-191200" y="247125"/>
                <a:ext cx="865200" cy="134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3881150" y="3437425"/>
              <a:ext cx="5363950" cy="1438325"/>
            </a:xfrm>
            <a:custGeom>
              <a:avLst/>
              <a:gdLst/>
              <a:ahLst/>
              <a:cxnLst/>
              <a:rect l="l" t="t" r="r" b="b"/>
              <a:pathLst>
                <a:path w="214558" h="57533" extrusionOk="0">
                  <a:moveTo>
                    <a:pt x="214558" y="0"/>
                  </a:moveTo>
                  <a:lnTo>
                    <a:pt x="192990" y="29881"/>
                  </a:lnTo>
                  <a:lnTo>
                    <a:pt x="192990" y="53696"/>
                  </a:lnTo>
                  <a:lnTo>
                    <a:pt x="172545" y="53696"/>
                  </a:lnTo>
                  <a:lnTo>
                    <a:pt x="170330" y="57533"/>
                  </a:lnTo>
                  <a:lnTo>
                    <a:pt x="143563" y="57533"/>
                  </a:lnTo>
                  <a:lnTo>
                    <a:pt x="140409" y="54379"/>
                  </a:lnTo>
                  <a:lnTo>
                    <a:pt x="99977" y="54379"/>
                  </a:lnTo>
                  <a:lnTo>
                    <a:pt x="0" y="54379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sp>
        <p:sp>
          <p:nvSpPr>
            <p:cNvPr id="52" name="Google Shape;52;p6"/>
            <p:cNvSpPr/>
            <p:nvPr/>
          </p:nvSpPr>
          <p:spPr>
            <a:xfrm>
              <a:off x="3785650" y="4684225"/>
              <a:ext cx="1984050" cy="544925"/>
            </a:xfrm>
            <a:custGeom>
              <a:avLst/>
              <a:gdLst/>
              <a:ahLst/>
              <a:cxnLst/>
              <a:rect l="l" t="t" r="r" b="b"/>
              <a:pathLst>
                <a:path w="79362" h="21797" extrusionOk="0">
                  <a:moveTo>
                    <a:pt x="0" y="21797"/>
                  </a:moveTo>
                  <a:lnTo>
                    <a:pt x="15952" y="2476"/>
                  </a:lnTo>
                  <a:lnTo>
                    <a:pt x="30106" y="2476"/>
                  </a:lnTo>
                  <a:lnTo>
                    <a:pt x="36284" y="8654"/>
                  </a:lnTo>
                  <a:lnTo>
                    <a:pt x="74366" y="8654"/>
                  </a:lnTo>
                  <a:lnTo>
                    <a:pt x="79362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sp>
        <p:cxnSp>
          <p:nvCxnSpPr>
            <p:cNvPr id="53" name="Google Shape;53;p6"/>
            <p:cNvCxnSpPr/>
            <p:nvPr/>
          </p:nvCxnSpPr>
          <p:spPr>
            <a:xfrm>
              <a:off x="8599175" y="4156375"/>
              <a:ext cx="0" cy="10671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24899" y="4658424"/>
            <a:ext cx="456876" cy="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" name="Google Shape;67;p8"/>
          <p:cNvGrpSpPr/>
          <p:nvPr/>
        </p:nvGrpSpPr>
        <p:grpSpPr>
          <a:xfrm>
            <a:off x="182700" y="151649"/>
            <a:ext cx="8778600" cy="4853775"/>
            <a:chOff x="182700" y="151649"/>
            <a:chExt cx="8778600" cy="4853775"/>
          </a:xfrm>
        </p:grpSpPr>
        <p:pic>
          <p:nvPicPr>
            <p:cNvPr id="68" name="Google Shape;68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232175" y="460399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2700" y="151649"/>
              <a:ext cx="1729125" cy="401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2298600" y="1619250"/>
            <a:ext cx="4546800" cy="1849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0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8" name="Google Shape;148;p19"/>
          <p:cNvGrpSpPr/>
          <p:nvPr/>
        </p:nvGrpSpPr>
        <p:grpSpPr>
          <a:xfrm>
            <a:off x="5610238" y="-3"/>
            <a:ext cx="3206224" cy="664100"/>
            <a:chOff x="5610238" y="-3"/>
            <a:chExt cx="3206224" cy="664100"/>
          </a:xfrm>
        </p:grpSpPr>
        <p:pic>
          <p:nvPicPr>
            <p:cNvPr id="149" name="Google Shape;149;p19"/>
            <p:cNvPicPr preferRelativeResize="0"/>
            <p:nvPr/>
          </p:nvPicPr>
          <p:blipFill>
            <a:blip r:embed="rId2">
              <a:alphaModFix amt="51000"/>
            </a:blip>
            <a:stretch>
              <a:fillRect/>
            </a:stretch>
          </p:blipFill>
          <p:spPr>
            <a:xfrm rot="10800000">
              <a:off x="5610238" y="-3"/>
              <a:ext cx="3206224" cy="664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415875" y="159727"/>
              <a:ext cx="1185500" cy="245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9"/>
          <p:cNvGrpSpPr/>
          <p:nvPr/>
        </p:nvGrpSpPr>
        <p:grpSpPr>
          <a:xfrm>
            <a:off x="173699" y="149901"/>
            <a:ext cx="8791752" cy="5042757"/>
            <a:chOff x="173699" y="149901"/>
            <a:chExt cx="8791752" cy="5042757"/>
          </a:xfrm>
        </p:grpSpPr>
        <p:pic>
          <p:nvPicPr>
            <p:cNvPr id="152" name="Google Shape;152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4626" y="4417018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3699" y="3609676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002249" y="149901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34"/>
          <p:cNvSpPr txBox="1">
            <a:spLocks noGrp="1"/>
          </p:cNvSpPr>
          <p:nvPr>
            <p:ph type="title"/>
          </p:nvPr>
        </p:nvSpPr>
        <p:spPr>
          <a:xfrm>
            <a:off x="859125" y="1292000"/>
            <a:ext cx="3000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34"/>
          <p:cNvSpPr txBox="1">
            <a:spLocks noGrp="1"/>
          </p:cNvSpPr>
          <p:nvPr>
            <p:ph type="subTitle" idx="1"/>
          </p:nvPr>
        </p:nvSpPr>
        <p:spPr>
          <a:xfrm>
            <a:off x="859100" y="2279275"/>
            <a:ext cx="3000600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5" name="Google Shape;345;p34"/>
          <p:cNvGrpSpPr/>
          <p:nvPr/>
        </p:nvGrpSpPr>
        <p:grpSpPr>
          <a:xfrm>
            <a:off x="-152400" y="147737"/>
            <a:ext cx="1816700" cy="4043263"/>
            <a:chOff x="-152400" y="147737"/>
            <a:chExt cx="1816700" cy="4043263"/>
          </a:xfrm>
        </p:grpSpPr>
        <p:pic>
          <p:nvPicPr>
            <p:cNvPr id="346" name="Google Shape;346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-11363" y="435275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4"/>
            <p:cNvSpPr/>
            <p:nvPr/>
          </p:nvSpPr>
          <p:spPr>
            <a:xfrm>
              <a:off x="-152400" y="624850"/>
              <a:ext cx="592450" cy="3566150"/>
            </a:xfrm>
            <a:custGeom>
              <a:avLst/>
              <a:gdLst/>
              <a:ahLst/>
              <a:cxnLst/>
              <a:rect l="l" t="t" r="r" b="b"/>
              <a:pathLst>
                <a:path w="23698" h="142646" extrusionOk="0">
                  <a:moveTo>
                    <a:pt x="0" y="0"/>
                  </a:moveTo>
                  <a:lnTo>
                    <a:pt x="20422" y="19202"/>
                  </a:lnTo>
                  <a:lnTo>
                    <a:pt x="20422" y="29260"/>
                  </a:lnTo>
                  <a:lnTo>
                    <a:pt x="15392" y="34289"/>
                  </a:lnTo>
                  <a:lnTo>
                    <a:pt x="15392" y="74066"/>
                  </a:lnTo>
                  <a:lnTo>
                    <a:pt x="23698" y="82372"/>
                  </a:lnTo>
                  <a:lnTo>
                    <a:pt x="23698" y="142646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sp>
      </p:grpSp>
      <p:pic>
        <p:nvPicPr>
          <p:cNvPr id="348" name="Google Shape;3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599996">
            <a:off x="7091874" y="3272324"/>
            <a:ext cx="2124548" cy="22359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4438375" y="2254650"/>
            <a:ext cx="39924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Diese Präsentationsvorlage wurde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erstellt, inklusive Icons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und Infografiken &amp; Bildern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 </a:t>
            </a:r>
            <a:endParaRPr sz="1000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8" r:id="rId5"/>
    <p:sldLayoutId id="2147483665" r:id="rId6"/>
    <p:sldLayoutId id="2147483680" r:id="rId7"/>
    <p:sldLayoutId id="2147483681" r:id="rId8"/>
    <p:sldLayoutId id="2147483682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4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4">
            <a:alphaModFix/>
          </a:blip>
          <a:srcRect t="19097" r="5042" b="2954"/>
          <a:stretch/>
        </p:blipFill>
        <p:spPr>
          <a:xfrm>
            <a:off x="2396525" y="3055175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>
            <a:spLocks noGrp="1"/>
          </p:cNvSpPr>
          <p:nvPr>
            <p:ph type="ctrTitle"/>
          </p:nvPr>
        </p:nvSpPr>
        <p:spPr>
          <a:xfrm>
            <a:off x="1234950" y="1398099"/>
            <a:ext cx="6486900" cy="18161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cs-CZ" sz="4400" dirty="0"/>
              <a:t>SROVNÁNÍ PROGRAMOVACÍCH JAZYKŮ </a:t>
            </a:r>
            <a:r>
              <a:rPr lang="cs-CZ" sz="4400" dirty="0">
                <a:solidFill>
                  <a:schemeClr val="accent2"/>
                </a:solidFill>
              </a:rPr>
              <a:t>PYTHON</a:t>
            </a:r>
            <a:r>
              <a:rPr lang="cs-CZ" sz="4400" dirty="0"/>
              <a:t> A </a:t>
            </a:r>
            <a:r>
              <a:rPr lang="cs-CZ" sz="4400" dirty="0">
                <a:solidFill>
                  <a:schemeClr val="accent2"/>
                </a:solidFill>
              </a:rPr>
              <a:t>C#</a:t>
            </a:r>
            <a:endParaRPr sz="4400" dirty="0">
              <a:solidFill>
                <a:schemeClr val="accent2"/>
              </a:solidFill>
            </a:endParaRPr>
          </a:p>
        </p:txBody>
      </p:sp>
      <p:sp>
        <p:nvSpPr>
          <p:cNvPr id="394" name="Google Shape;394;p40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Štanclová Tereza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 err="1"/>
              <a:t>Porovn</a:t>
            </a:r>
            <a:r>
              <a:rPr lang="cs-CZ" sz="3100" dirty="0"/>
              <a:t>ání C </a:t>
            </a:r>
            <a:r>
              <a:rPr lang="en-US" sz="3100" dirty="0"/>
              <a:t># a Python</a:t>
            </a:r>
            <a:endParaRPr lang="cs-CZ" sz="3100" dirty="0"/>
          </a:p>
        </p:txBody>
      </p:sp>
      <p:graphicFrame>
        <p:nvGraphicFramePr>
          <p:cNvPr id="2" name="Tabulka 1">
            <a:extLst>
              <a:ext uri="{FF2B5EF4-FFF2-40B4-BE49-F238E27FC236}">
                <a16:creationId xmlns:a16="http://schemas.microsoft.com/office/drawing/2014/main" id="{5850F116-36B5-331F-1FCF-57B3077A3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4122"/>
              </p:ext>
            </p:extLst>
          </p:nvPr>
        </p:nvGraphicFramePr>
        <p:xfrm>
          <a:off x="713225" y="1348157"/>
          <a:ext cx="7717501" cy="2984546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2480821">
                  <a:extLst>
                    <a:ext uri="{9D8B030D-6E8A-4147-A177-3AD203B41FA5}">
                      <a16:colId xmlns:a16="http://schemas.microsoft.com/office/drawing/2014/main" val="119723374"/>
                    </a:ext>
                  </a:extLst>
                </a:gridCol>
                <a:gridCol w="2585414">
                  <a:extLst>
                    <a:ext uri="{9D8B030D-6E8A-4147-A177-3AD203B41FA5}">
                      <a16:colId xmlns:a16="http://schemas.microsoft.com/office/drawing/2014/main" val="3720472552"/>
                    </a:ext>
                  </a:extLst>
                </a:gridCol>
                <a:gridCol w="2651266">
                  <a:extLst>
                    <a:ext uri="{9D8B030D-6E8A-4147-A177-3AD203B41FA5}">
                      <a16:colId xmlns:a16="http://schemas.microsoft.com/office/drawing/2014/main" val="3084606033"/>
                    </a:ext>
                  </a:extLst>
                </a:gridCol>
              </a:tblGrid>
              <a:tr h="2311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VLASTNOST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C#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PYTHON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243522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Typování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Statické</a:t>
                      </a:r>
                      <a:br>
                        <a:rPr lang="en-US" sz="13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(typ je nutné znát při psaní kódu)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Dynamické</a:t>
                      </a:r>
                      <a:br>
                        <a:rPr lang="en-US" sz="13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(typ proměnné se určí až za běhu)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271322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Překlad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Kompilovaný </a:t>
                      </a:r>
                      <a:br>
                        <a:rPr lang="cs-CZ" sz="12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(do </a:t>
                      </a:r>
                      <a:r>
                        <a:rPr lang="cs-CZ" sz="1000" kern="100" dirty="0" err="1">
                          <a:effectLst/>
                        </a:rPr>
                        <a:t>mezijaz</a:t>
                      </a:r>
                      <a:r>
                        <a:rPr lang="cs-CZ" sz="1000" kern="100" dirty="0">
                          <a:effectLst/>
                        </a:rPr>
                        <a:t>. MSIL, </a:t>
                      </a:r>
                      <a:r>
                        <a:rPr lang="en-US" sz="1000" kern="100" dirty="0">
                          <a:effectLst/>
                        </a:rPr>
                        <a:t>JIT, </a:t>
                      </a:r>
                      <a:r>
                        <a:rPr lang="cs-CZ" sz="1000" kern="100" dirty="0">
                          <a:effectLst/>
                        </a:rPr>
                        <a:t>pak běží v .NET)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Interpretovaný</a:t>
                      </a:r>
                      <a:br>
                        <a:rPr lang="en-US" sz="13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(skript se přímo vykonávána)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462719"/>
                  </a:ext>
                </a:extLst>
              </a:tr>
              <a:tr h="5077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Správa paměti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Automatická</a:t>
                      </a:r>
                      <a:br>
                        <a:rPr lang="en-US" sz="13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</a:t>
                      </a:r>
                      <a:r>
                        <a:rPr lang="cs-CZ" sz="1000" kern="100" dirty="0" err="1">
                          <a:effectLst/>
                        </a:rPr>
                        <a:t>Garbage</a:t>
                      </a:r>
                      <a:r>
                        <a:rPr lang="cs-CZ" sz="1000" kern="100" dirty="0">
                          <a:effectLst/>
                        </a:rPr>
                        <a:t> </a:t>
                      </a:r>
                      <a:r>
                        <a:rPr lang="cs-CZ" sz="1000" kern="100" dirty="0" err="1">
                          <a:effectLst/>
                        </a:rPr>
                        <a:t>Collector</a:t>
                      </a:r>
                      <a:r>
                        <a:rPr lang="cs-CZ" sz="1000" kern="100" dirty="0">
                          <a:effectLst/>
                        </a:rPr>
                        <a:t>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Automatická</a:t>
                      </a:r>
                      <a:br>
                        <a:rPr lang="en-US" sz="13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</a:t>
                      </a:r>
                      <a:r>
                        <a:rPr lang="cs-CZ" sz="1000" kern="100" dirty="0" err="1">
                          <a:effectLst/>
                        </a:rPr>
                        <a:t>Garbage</a:t>
                      </a:r>
                      <a:r>
                        <a:rPr lang="cs-CZ" sz="1000" kern="100" dirty="0">
                          <a:effectLst/>
                        </a:rPr>
                        <a:t> </a:t>
                      </a:r>
                      <a:r>
                        <a:rPr lang="cs-CZ" sz="1000" kern="100" dirty="0" err="1">
                          <a:effectLst/>
                        </a:rPr>
                        <a:t>Collector</a:t>
                      </a:r>
                      <a:r>
                        <a:rPr lang="cs-CZ" sz="1000" kern="100" dirty="0">
                          <a:effectLst/>
                        </a:rPr>
                        <a:t>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158724"/>
                  </a:ext>
                </a:extLst>
              </a:tr>
              <a:tr h="4002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Výkon</a:t>
                      </a:r>
                      <a:endParaRPr lang="cs-CZ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Vysoký </a:t>
                      </a:r>
                      <a:br>
                        <a:rPr lang="cs-CZ" sz="1200" kern="100">
                          <a:effectLst/>
                        </a:rPr>
                      </a:br>
                      <a:r>
                        <a:rPr lang="cs-CZ" sz="1000" kern="100">
                          <a:effectLst/>
                        </a:rPr>
                        <a:t>(blízký C++; vhodný pro náročné výpočty)</a:t>
                      </a:r>
                      <a:endParaRPr lang="cs-CZ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Nižší </a:t>
                      </a:r>
                      <a:br>
                        <a:rPr lang="en-US" sz="12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(interpretace řádek po řádku je pomalejší)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2935195"/>
                  </a:ext>
                </a:extLst>
              </a:tr>
              <a:tr h="4002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Platforma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.NET Ecosystem </a:t>
                      </a:r>
                      <a:br>
                        <a:rPr lang="cs-CZ" sz="1200" kern="100">
                          <a:effectLst/>
                        </a:rPr>
                      </a:br>
                      <a:r>
                        <a:rPr lang="cs-CZ" sz="1000" kern="100">
                          <a:effectLst/>
                        </a:rPr>
                        <a:t>(Windows, Linux, macOS)</a:t>
                      </a:r>
                      <a:endParaRPr lang="cs-CZ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 err="1">
                          <a:effectLst/>
                        </a:rPr>
                        <a:t>Cross-platform</a:t>
                      </a:r>
                      <a:r>
                        <a:rPr lang="cs-CZ" sz="1200" kern="100" dirty="0">
                          <a:effectLst/>
                        </a:rPr>
                        <a:t> </a:t>
                      </a:r>
                      <a:br>
                        <a:rPr lang="cs-CZ" sz="1200" kern="100" dirty="0">
                          <a:effectLst/>
                        </a:rPr>
                      </a:br>
                      <a:r>
                        <a:rPr lang="cs-CZ" sz="1000" kern="100" dirty="0">
                          <a:effectLst/>
                        </a:rPr>
                        <a:t>(prakticky jakýkoliv OS)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993816"/>
                  </a:ext>
                </a:extLst>
              </a:tr>
              <a:tr h="4296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Hlavní užití</a:t>
                      </a:r>
                      <a:endParaRPr lang="cs-CZ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>
                          <a:effectLst/>
                        </a:rPr>
                        <a:t>Enterprise, Hry </a:t>
                      </a:r>
                      <a:r>
                        <a:rPr lang="cs-CZ" sz="1000" kern="100">
                          <a:effectLst/>
                        </a:rPr>
                        <a:t>(Unity)</a:t>
                      </a:r>
                      <a:r>
                        <a:rPr lang="cs-CZ" sz="1200" kern="100">
                          <a:effectLst/>
                        </a:rPr>
                        <a:t>, Web </a:t>
                      </a:r>
                      <a:r>
                        <a:rPr lang="cs-CZ" sz="1000" kern="100">
                          <a:effectLst/>
                        </a:rPr>
                        <a:t>(ASP.NET)</a:t>
                      </a:r>
                      <a:endParaRPr lang="cs-CZ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200" kern="100" dirty="0">
                          <a:effectLst/>
                        </a:rPr>
                        <a:t>AI/ML, Data Science, Skriptování, Web </a:t>
                      </a:r>
                      <a:r>
                        <a:rPr lang="cs-CZ" sz="1000" kern="100" dirty="0">
                          <a:effectLst/>
                        </a:rPr>
                        <a:t>(</a:t>
                      </a:r>
                      <a:r>
                        <a:rPr lang="cs-CZ" sz="1000" kern="100" dirty="0" err="1">
                          <a:effectLst/>
                        </a:rPr>
                        <a:t>Django</a:t>
                      </a:r>
                      <a:r>
                        <a:rPr lang="cs-CZ" sz="1000" kern="100" dirty="0">
                          <a:effectLst/>
                        </a:rPr>
                        <a:t>)</a:t>
                      </a:r>
                      <a:endParaRPr lang="cs-CZ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608" marR="726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3600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cs-CZ" dirty="0"/>
              <a:t>DATOVÉ TYPY A SPRÁVA PAMĚTI </a:t>
            </a:r>
            <a:r>
              <a:rPr lang="en-US" dirty="0"/>
              <a:t> </a:t>
            </a:r>
            <a:r>
              <a:rPr lang="cs-CZ" dirty="0"/>
              <a:t>- C</a:t>
            </a:r>
            <a:r>
              <a:rPr lang="en-US" dirty="0"/>
              <a:t>#</a:t>
            </a:r>
            <a:endParaRPr lang="cs-CZ" dirty="0"/>
          </a:p>
        </p:txBody>
      </p:sp>
      <p:sp>
        <p:nvSpPr>
          <p:cNvPr id="464" name="Google Shape;464;p47"/>
          <p:cNvSpPr txBox="1">
            <a:spLocks noGrp="1"/>
          </p:cNvSpPr>
          <p:nvPr>
            <p:ph type="subTitle" idx="1"/>
          </p:nvPr>
        </p:nvSpPr>
        <p:spPr>
          <a:xfrm>
            <a:off x="5132257" y="2319479"/>
            <a:ext cx="2613300" cy="2058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s-CZ" sz="1200" dirty="0"/>
              <a:t>-</a:t>
            </a:r>
            <a:r>
              <a:rPr lang="cs-CZ" sz="1200" b="1" dirty="0"/>
              <a:t> Uložení:</a:t>
            </a:r>
            <a:r>
              <a:rPr lang="cs-CZ" sz="1200" dirty="0"/>
              <a:t> skutečná data na haldě (</a:t>
            </a:r>
            <a:r>
              <a:rPr lang="cs-CZ" sz="1200" dirty="0" err="1"/>
              <a:t>heap</a:t>
            </a:r>
            <a:r>
              <a:rPr lang="cs-CZ" sz="1200" dirty="0"/>
              <a:t>), v zásobníku je jen adresa</a:t>
            </a:r>
          </a:p>
          <a:p>
            <a:pPr marL="0" lvl="0" indent="0"/>
            <a:endParaRPr lang="cs-CZ" sz="300" dirty="0"/>
          </a:p>
          <a:p>
            <a:pPr marL="0" indent="0"/>
            <a:r>
              <a:rPr lang="cs-CZ" sz="1200" dirty="0"/>
              <a:t>- </a:t>
            </a:r>
            <a:r>
              <a:rPr lang="cs-CZ" sz="1200" b="1" dirty="0"/>
              <a:t>Kopie:</a:t>
            </a:r>
            <a:r>
              <a:rPr lang="cs-CZ" sz="1200" dirty="0"/>
              <a:t> kopíruje se pouze odkaz (obě proměnné ukazují na stejné místo)</a:t>
            </a:r>
          </a:p>
          <a:p>
            <a:pPr marL="0" indent="0"/>
            <a:endParaRPr lang="cs-CZ" sz="300" dirty="0"/>
          </a:p>
          <a:p>
            <a:pPr marL="0" indent="0"/>
            <a:r>
              <a:rPr lang="cs-CZ" sz="1200" dirty="0"/>
              <a:t>- </a:t>
            </a:r>
            <a:r>
              <a:rPr lang="cs-CZ" sz="1200" b="1" dirty="0"/>
              <a:t>Výchozí hodnota:</a:t>
            </a:r>
            <a:r>
              <a:rPr lang="cs-CZ" sz="1200" dirty="0"/>
              <a:t> může být </a:t>
            </a:r>
            <a:r>
              <a:rPr lang="cs-CZ" sz="1200" dirty="0" err="1"/>
              <a:t>null</a:t>
            </a:r>
            <a:endParaRPr lang="cs-CZ" sz="1200" dirty="0"/>
          </a:p>
        </p:txBody>
      </p:sp>
      <p:sp>
        <p:nvSpPr>
          <p:cNvPr id="465" name="Google Shape;465;p47"/>
          <p:cNvSpPr txBox="1">
            <a:spLocks noGrp="1"/>
          </p:cNvSpPr>
          <p:nvPr>
            <p:ph type="subTitle" idx="2"/>
          </p:nvPr>
        </p:nvSpPr>
        <p:spPr>
          <a:xfrm>
            <a:off x="1510887" y="2319480"/>
            <a:ext cx="2613075" cy="1746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s-CZ" sz="1200" dirty="0"/>
              <a:t>-</a:t>
            </a:r>
            <a:r>
              <a:rPr lang="cs-CZ" sz="1200" b="1" dirty="0"/>
              <a:t> Uložení:</a:t>
            </a:r>
            <a:r>
              <a:rPr lang="cs-CZ" sz="1200" dirty="0"/>
              <a:t> přímo v zásobníku (</a:t>
            </a:r>
            <a:r>
              <a:rPr lang="cs-CZ" sz="1200" dirty="0" err="1"/>
              <a:t>stack</a:t>
            </a:r>
            <a:r>
              <a:rPr lang="cs-CZ" sz="1200" dirty="0"/>
              <a:t>) – velmi rychlé</a:t>
            </a:r>
          </a:p>
          <a:p>
            <a:pPr marL="0" lvl="0" indent="0"/>
            <a:endParaRPr lang="cs-CZ" sz="300" dirty="0"/>
          </a:p>
          <a:p>
            <a:pPr marL="0" indent="0"/>
            <a:r>
              <a:rPr lang="cs-CZ" sz="1200" dirty="0"/>
              <a:t>- </a:t>
            </a:r>
            <a:r>
              <a:rPr lang="cs-CZ" sz="1200" b="1" dirty="0"/>
              <a:t>Kopie:</a:t>
            </a:r>
            <a:r>
              <a:rPr lang="cs-CZ" sz="1200" dirty="0"/>
              <a:t> vytvoří se zcela nový, nezávislý kus dat</a:t>
            </a:r>
          </a:p>
          <a:p>
            <a:pPr marL="0" indent="0"/>
            <a:endParaRPr lang="cs-CZ" sz="300" dirty="0"/>
          </a:p>
          <a:p>
            <a:pPr marL="0" indent="0"/>
            <a:r>
              <a:rPr lang="cs-CZ" sz="1200" dirty="0"/>
              <a:t>- </a:t>
            </a:r>
            <a:r>
              <a:rPr lang="cs-CZ" sz="1200" b="1" dirty="0"/>
              <a:t>Výchozí hodnota:</a:t>
            </a:r>
            <a:r>
              <a:rPr lang="cs-CZ" sz="1200" dirty="0"/>
              <a:t> nemůže být </a:t>
            </a:r>
            <a:r>
              <a:rPr lang="cs-CZ" sz="1200" dirty="0" err="1"/>
              <a:t>null</a:t>
            </a:r>
            <a:r>
              <a:rPr lang="cs-CZ" sz="1200" dirty="0"/>
              <a:t> (např. </a:t>
            </a:r>
            <a:r>
              <a:rPr lang="cs-CZ" sz="1200" dirty="0" err="1"/>
              <a:t>int</a:t>
            </a:r>
            <a:r>
              <a:rPr lang="cs-CZ" sz="1200" dirty="0"/>
              <a:t> je 0, </a:t>
            </a:r>
            <a:r>
              <a:rPr lang="cs-CZ" sz="1200" dirty="0" err="1"/>
              <a:t>bool</a:t>
            </a:r>
            <a:r>
              <a:rPr lang="cs-CZ" sz="1200" dirty="0"/>
              <a:t> je </a:t>
            </a:r>
            <a:r>
              <a:rPr lang="cs-CZ" sz="1200" dirty="0" err="1"/>
              <a:t>false</a:t>
            </a:r>
            <a:r>
              <a:rPr lang="cs-CZ" sz="1200" dirty="0"/>
              <a:t>)</a:t>
            </a:r>
          </a:p>
          <a:p>
            <a:pPr marL="0" lvl="0" indent="0"/>
            <a:endParaRPr lang="de-DE" sz="1200" dirty="0"/>
          </a:p>
        </p:txBody>
      </p:sp>
      <p:sp>
        <p:nvSpPr>
          <p:cNvPr id="466" name="Google Shape;466;p47"/>
          <p:cNvSpPr txBox="1">
            <a:spLocks noGrp="1"/>
          </p:cNvSpPr>
          <p:nvPr>
            <p:ph type="subTitle" idx="4"/>
          </p:nvPr>
        </p:nvSpPr>
        <p:spPr>
          <a:xfrm>
            <a:off x="1510662" y="1984080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Hodnotov</a:t>
            </a:r>
            <a:r>
              <a:rPr lang="cs-CZ" dirty="0"/>
              <a:t>é</a:t>
            </a:r>
            <a:endParaRPr dirty="0"/>
          </a:p>
        </p:txBody>
      </p:sp>
      <p:sp>
        <p:nvSpPr>
          <p:cNvPr id="467" name="Google Shape;467;p47"/>
          <p:cNvSpPr txBox="1">
            <a:spLocks noGrp="1"/>
          </p:cNvSpPr>
          <p:nvPr>
            <p:ph type="subTitle" idx="3"/>
          </p:nvPr>
        </p:nvSpPr>
        <p:spPr>
          <a:xfrm>
            <a:off x="5132251" y="1984080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Referenční</a:t>
            </a:r>
            <a:endParaRPr dirty="0"/>
          </a:p>
        </p:txBody>
      </p:sp>
      <p:sp>
        <p:nvSpPr>
          <p:cNvPr id="468" name="Google Shape;468;p47"/>
          <p:cNvSpPr/>
          <p:nvPr/>
        </p:nvSpPr>
        <p:spPr>
          <a:xfrm>
            <a:off x="5238954" y="1549700"/>
            <a:ext cx="281975" cy="281972"/>
          </a:xfrm>
          <a:custGeom>
            <a:avLst/>
            <a:gdLst/>
            <a:ahLst/>
            <a:cxnLst/>
            <a:rect l="l" t="t" r="r" b="b"/>
            <a:pathLst>
              <a:path w="916" h="916" extrusionOk="0">
                <a:moveTo>
                  <a:pt x="53" y="351"/>
                </a:moveTo>
                <a:cubicBezTo>
                  <a:pt x="53" y="343"/>
                  <a:pt x="54" y="336"/>
                  <a:pt x="54" y="328"/>
                </a:cubicBezTo>
                <a:cubicBezTo>
                  <a:pt x="23" y="339"/>
                  <a:pt x="0" y="369"/>
                  <a:pt x="0" y="404"/>
                </a:cubicBezTo>
                <a:lnTo>
                  <a:pt x="0" y="565"/>
                </a:lnTo>
                <a:cubicBezTo>
                  <a:pt x="0" y="603"/>
                  <a:pt x="26" y="634"/>
                  <a:pt x="61" y="643"/>
                </a:cubicBezTo>
                <a:cubicBezTo>
                  <a:pt x="56" y="618"/>
                  <a:pt x="53" y="592"/>
                  <a:pt x="53" y="565"/>
                </a:cubicBezTo>
                <a:lnTo>
                  <a:pt x="53" y="351"/>
                </a:lnTo>
                <a:moveTo>
                  <a:pt x="458" y="0"/>
                </a:moveTo>
                <a:cubicBezTo>
                  <a:pt x="266" y="0"/>
                  <a:pt x="107" y="158"/>
                  <a:pt x="107" y="351"/>
                </a:cubicBezTo>
                <a:lnTo>
                  <a:pt x="107" y="565"/>
                </a:lnTo>
                <a:cubicBezTo>
                  <a:pt x="107" y="758"/>
                  <a:pt x="266" y="916"/>
                  <a:pt x="458" y="916"/>
                </a:cubicBezTo>
                <a:cubicBezTo>
                  <a:pt x="651" y="916"/>
                  <a:pt x="809" y="758"/>
                  <a:pt x="809" y="565"/>
                </a:cubicBezTo>
                <a:lnTo>
                  <a:pt x="809" y="351"/>
                </a:lnTo>
                <a:cubicBezTo>
                  <a:pt x="809" y="158"/>
                  <a:pt x="651" y="0"/>
                  <a:pt x="458" y="0"/>
                </a:cubicBezTo>
                <a:moveTo>
                  <a:pt x="565" y="163"/>
                </a:moveTo>
                <a:cubicBezTo>
                  <a:pt x="579" y="163"/>
                  <a:pt x="591" y="175"/>
                  <a:pt x="591" y="190"/>
                </a:cubicBezTo>
                <a:cubicBezTo>
                  <a:pt x="591" y="205"/>
                  <a:pt x="579" y="217"/>
                  <a:pt x="565" y="217"/>
                </a:cubicBezTo>
                <a:cubicBezTo>
                  <a:pt x="550" y="217"/>
                  <a:pt x="538" y="205"/>
                  <a:pt x="538" y="190"/>
                </a:cubicBezTo>
                <a:cubicBezTo>
                  <a:pt x="538" y="175"/>
                  <a:pt x="550" y="163"/>
                  <a:pt x="565" y="163"/>
                </a:cubicBezTo>
                <a:moveTo>
                  <a:pt x="457" y="163"/>
                </a:moveTo>
                <a:cubicBezTo>
                  <a:pt x="472" y="163"/>
                  <a:pt x="484" y="175"/>
                  <a:pt x="484" y="190"/>
                </a:cubicBezTo>
                <a:cubicBezTo>
                  <a:pt x="484" y="205"/>
                  <a:pt x="472" y="217"/>
                  <a:pt x="457" y="217"/>
                </a:cubicBezTo>
                <a:cubicBezTo>
                  <a:pt x="443" y="217"/>
                  <a:pt x="431" y="205"/>
                  <a:pt x="431" y="190"/>
                </a:cubicBezTo>
                <a:cubicBezTo>
                  <a:pt x="431" y="175"/>
                  <a:pt x="443" y="163"/>
                  <a:pt x="457" y="163"/>
                </a:cubicBezTo>
                <a:moveTo>
                  <a:pt x="350" y="163"/>
                </a:moveTo>
                <a:cubicBezTo>
                  <a:pt x="365" y="163"/>
                  <a:pt x="377" y="175"/>
                  <a:pt x="377" y="190"/>
                </a:cubicBezTo>
                <a:cubicBezTo>
                  <a:pt x="377" y="205"/>
                  <a:pt x="365" y="217"/>
                  <a:pt x="350" y="217"/>
                </a:cubicBezTo>
                <a:cubicBezTo>
                  <a:pt x="335" y="217"/>
                  <a:pt x="323" y="205"/>
                  <a:pt x="323" y="190"/>
                </a:cubicBezTo>
                <a:cubicBezTo>
                  <a:pt x="323" y="175"/>
                  <a:pt x="335" y="163"/>
                  <a:pt x="350" y="163"/>
                </a:cubicBezTo>
                <a:moveTo>
                  <a:pt x="439" y="808"/>
                </a:moveTo>
                <a:cubicBezTo>
                  <a:pt x="313" y="799"/>
                  <a:pt x="217" y="691"/>
                  <a:pt x="217" y="565"/>
                </a:cubicBezTo>
                <a:lnTo>
                  <a:pt x="217" y="298"/>
                </a:lnTo>
                <a:cubicBezTo>
                  <a:pt x="217" y="283"/>
                  <a:pt x="229" y="271"/>
                  <a:pt x="243" y="271"/>
                </a:cubicBezTo>
                <a:lnTo>
                  <a:pt x="672" y="271"/>
                </a:lnTo>
                <a:cubicBezTo>
                  <a:pt x="687" y="271"/>
                  <a:pt x="699" y="283"/>
                  <a:pt x="699" y="298"/>
                </a:cubicBezTo>
                <a:lnTo>
                  <a:pt x="699" y="566"/>
                </a:lnTo>
                <a:cubicBezTo>
                  <a:pt x="699" y="705"/>
                  <a:pt x="581" y="819"/>
                  <a:pt x="439" y="808"/>
                </a:cubicBezTo>
                <a:moveTo>
                  <a:pt x="861" y="329"/>
                </a:moveTo>
                <a:cubicBezTo>
                  <a:pt x="862" y="336"/>
                  <a:pt x="862" y="343"/>
                  <a:pt x="862" y="351"/>
                </a:cubicBezTo>
                <a:lnTo>
                  <a:pt x="862" y="565"/>
                </a:lnTo>
                <a:cubicBezTo>
                  <a:pt x="862" y="592"/>
                  <a:pt x="859" y="618"/>
                  <a:pt x="855" y="643"/>
                </a:cubicBezTo>
                <a:cubicBezTo>
                  <a:pt x="890" y="635"/>
                  <a:pt x="916" y="603"/>
                  <a:pt x="916" y="565"/>
                </a:cubicBezTo>
                <a:lnTo>
                  <a:pt x="916" y="404"/>
                </a:lnTo>
                <a:cubicBezTo>
                  <a:pt x="916" y="369"/>
                  <a:pt x="893" y="339"/>
                  <a:pt x="861" y="329"/>
                </a:cubicBezTo>
                <a:moveTo>
                  <a:pt x="270" y="565"/>
                </a:moveTo>
                <a:cubicBezTo>
                  <a:pt x="270" y="660"/>
                  <a:pt x="341" y="742"/>
                  <a:pt x="435" y="754"/>
                </a:cubicBezTo>
                <a:cubicBezTo>
                  <a:pt x="549" y="767"/>
                  <a:pt x="645" y="677"/>
                  <a:pt x="645" y="566"/>
                </a:cubicBezTo>
                <a:lnTo>
                  <a:pt x="645" y="324"/>
                </a:lnTo>
                <a:lnTo>
                  <a:pt x="270" y="324"/>
                </a:lnTo>
                <a:lnTo>
                  <a:pt x="270" y="565"/>
                </a:lnTo>
                <a:moveTo>
                  <a:pt x="391" y="390"/>
                </a:moveTo>
                <a:cubicBezTo>
                  <a:pt x="420" y="390"/>
                  <a:pt x="442" y="404"/>
                  <a:pt x="457" y="421"/>
                </a:cubicBezTo>
                <a:cubicBezTo>
                  <a:pt x="473" y="404"/>
                  <a:pt x="495" y="390"/>
                  <a:pt x="524" y="390"/>
                </a:cubicBezTo>
                <a:cubicBezTo>
                  <a:pt x="576" y="390"/>
                  <a:pt x="617" y="434"/>
                  <a:pt x="617" y="489"/>
                </a:cubicBezTo>
                <a:cubicBezTo>
                  <a:pt x="617" y="553"/>
                  <a:pt x="559" y="597"/>
                  <a:pt x="510" y="638"/>
                </a:cubicBezTo>
                <a:cubicBezTo>
                  <a:pt x="499" y="647"/>
                  <a:pt x="487" y="657"/>
                  <a:pt x="475" y="668"/>
                </a:cubicBezTo>
                <a:cubicBezTo>
                  <a:pt x="470" y="672"/>
                  <a:pt x="464" y="674"/>
                  <a:pt x="457" y="674"/>
                </a:cubicBezTo>
                <a:cubicBezTo>
                  <a:pt x="451" y="674"/>
                  <a:pt x="445" y="672"/>
                  <a:pt x="440" y="668"/>
                </a:cubicBezTo>
                <a:cubicBezTo>
                  <a:pt x="428" y="657"/>
                  <a:pt x="416" y="648"/>
                  <a:pt x="405" y="639"/>
                </a:cubicBezTo>
                <a:cubicBezTo>
                  <a:pt x="343" y="586"/>
                  <a:pt x="298" y="547"/>
                  <a:pt x="298" y="489"/>
                </a:cubicBezTo>
                <a:cubicBezTo>
                  <a:pt x="298" y="434"/>
                  <a:pt x="339" y="390"/>
                  <a:pt x="391" y="390"/>
                </a:cubicBezTo>
                <a:moveTo>
                  <a:pt x="440" y="598"/>
                </a:moveTo>
                <a:cubicBezTo>
                  <a:pt x="446" y="602"/>
                  <a:pt x="451" y="607"/>
                  <a:pt x="457" y="612"/>
                </a:cubicBezTo>
                <a:cubicBezTo>
                  <a:pt x="463" y="607"/>
                  <a:pt x="469" y="602"/>
                  <a:pt x="475" y="597"/>
                </a:cubicBezTo>
                <a:cubicBezTo>
                  <a:pt x="505" y="572"/>
                  <a:pt x="564" y="528"/>
                  <a:pt x="564" y="489"/>
                </a:cubicBezTo>
                <a:cubicBezTo>
                  <a:pt x="564" y="467"/>
                  <a:pt x="550" y="444"/>
                  <a:pt x="524" y="444"/>
                </a:cubicBezTo>
                <a:cubicBezTo>
                  <a:pt x="495" y="444"/>
                  <a:pt x="484" y="480"/>
                  <a:pt x="483" y="482"/>
                </a:cubicBezTo>
                <a:cubicBezTo>
                  <a:pt x="480" y="493"/>
                  <a:pt x="470" y="500"/>
                  <a:pt x="457" y="501"/>
                </a:cubicBezTo>
                <a:cubicBezTo>
                  <a:pt x="445" y="501"/>
                  <a:pt x="435" y="493"/>
                  <a:pt x="431" y="482"/>
                </a:cubicBezTo>
                <a:cubicBezTo>
                  <a:pt x="431" y="480"/>
                  <a:pt x="420" y="444"/>
                  <a:pt x="391" y="444"/>
                </a:cubicBezTo>
                <a:cubicBezTo>
                  <a:pt x="365" y="444"/>
                  <a:pt x="351" y="467"/>
                  <a:pt x="351" y="489"/>
                </a:cubicBezTo>
                <a:cubicBezTo>
                  <a:pt x="351" y="521"/>
                  <a:pt x="380" y="547"/>
                  <a:pt x="440" y="59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7"/>
          <p:cNvSpPr/>
          <p:nvPr/>
        </p:nvSpPr>
        <p:spPr>
          <a:xfrm>
            <a:off x="1617559" y="1549393"/>
            <a:ext cx="214251" cy="281972"/>
          </a:xfrm>
          <a:custGeom>
            <a:avLst/>
            <a:gdLst/>
            <a:ahLst/>
            <a:cxnLst/>
            <a:rect l="l" t="t" r="r" b="b"/>
            <a:pathLst>
              <a:path w="696" h="916" extrusionOk="0">
                <a:moveTo>
                  <a:pt x="348" y="217"/>
                </a:moveTo>
                <a:cubicBezTo>
                  <a:pt x="407" y="217"/>
                  <a:pt x="455" y="169"/>
                  <a:pt x="455" y="110"/>
                </a:cubicBezTo>
                <a:cubicBezTo>
                  <a:pt x="455" y="50"/>
                  <a:pt x="408" y="0"/>
                  <a:pt x="348" y="0"/>
                </a:cubicBezTo>
                <a:cubicBezTo>
                  <a:pt x="289" y="0"/>
                  <a:pt x="240" y="50"/>
                  <a:pt x="240" y="110"/>
                </a:cubicBezTo>
                <a:cubicBezTo>
                  <a:pt x="240" y="169"/>
                  <a:pt x="288" y="217"/>
                  <a:pt x="348" y="217"/>
                </a:cubicBezTo>
                <a:moveTo>
                  <a:pt x="348" y="83"/>
                </a:moveTo>
                <a:cubicBezTo>
                  <a:pt x="362" y="83"/>
                  <a:pt x="374" y="95"/>
                  <a:pt x="374" y="110"/>
                </a:cubicBezTo>
                <a:cubicBezTo>
                  <a:pt x="374" y="124"/>
                  <a:pt x="362" y="136"/>
                  <a:pt x="348" y="136"/>
                </a:cubicBezTo>
                <a:cubicBezTo>
                  <a:pt x="333" y="136"/>
                  <a:pt x="321" y="124"/>
                  <a:pt x="321" y="110"/>
                </a:cubicBezTo>
                <a:cubicBezTo>
                  <a:pt x="321" y="95"/>
                  <a:pt x="333" y="83"/>
                  <a:pt x="348" y="83"/>
                </a:cubicBezTo>
                <a:moveTo>
                  <a:pt x="348" y="916"/>
                </a:moveTo>
                <a:cubicBezTo>
                  <a:pt x="391" y="916"/>
                  <a:pt x="430" y="895"/>
                  <a:pt x="454" y="862"/>
                </a:cubicBezTo>
                <a:lnTo>
                  <a:pt x="241" y="862"/>
                </a:lnTo>
                <a:cubicBezTo>
                  <a:pt x="266" y="895"/>
                  <a:pt x="304" y="916"/>
                  <a:pt x="348" y="916"/>
                </a:cubicBezTo>
                <a:moveTo>
                  <a:pt x="643" y="545"/>
                </a:moveTo>
                <a:lnTo>
                  <a:pt x="643" y="372"/>
                </a:lnTo>
                <a:cubicBezTo>
                  <a:pt x="676" y="361"/>
                  <a:pt x="699" y="328"/>
                  <a:pt x="696" y="291"/>
                </a:cubicBezTo>
                <a:cubicBezTo>
                  <a:pt x="694" y="252"/>
                  <a:pt x="662" y="220"/>
                  <a:pt x="622" y="217"/>
                </a:cubicBezTo>
                <a:cubicBezTo>
                  <a:pt x="585" y="214"/>
                  <a:pt x="552" y="237"/>
                  <a:pt x="541" y="270"/>
                </a:cubicBezTo>
                <a:lnTo>
                  <a:pt x="478" y="270"/>
                </a:lnTo>
                <a:cubicBezTo>
                  <a:pt x="467" y="259"/>
                  <a:pt x="454" y="249"/>
                  <a:pt x="439" y="241"/>
                </a:cubicBezTo>
                <a:cubicBezTo>
                  <a:pt x="413" y="259"/>
                  <a:pt x="382" y="270"/>
                  <a:pt x="348" y="270"/>
                </a:cubicBezTo>
                <a:cubicBezTo>
                  <a:pt x="314" y="270"/>
                  <a:pt x="283" y="259"/>
                  <a:pt x="257" y="241"/>
                </a:cubicBezTo>
                <a:cubicBezTo>
                  <a:pt x="243" y="249"/>
                  <a:pt x="230" y="259"/>
                  <a:pt x="218" y="270"/>
                </a:cubicBezTo>
                <a:lnTo>
                  <a:pt x="155" y="270"/>
                </a:lnTo>
                <a:cubicBezTo>
                  <a:pt x="144" y="237"/>
                  <a:pt x="111" y="214"/>
                  <a:pt x="74" y="217"/>
                </a:cubicBezTo>
                <a:cubicBezTo>
                  <a:pt x="35" y="220"/>
                  <a:pt x="3" y="252"/>
                  <a:pt x="0" y="291"/>
                </a:cubicBezTo>
                <a:cubicBezTo>
                  <a:pt x="-3" y="328"/>
                  <a:pt x="20" y="361"/>
                  <a:pt x="53" y="372"/>
                </a:cubicBezTo>
                <a:lnTo>
                  <a:pt x="53" y="545"/>
                </a:lnTo>
                <a:cubicBezTo>
                  <a:pt x="42" y="549"/>
                  <a:pt x="32" y="555"/>
                  <a:pt x="23" y="564"/>
                </a:cubicBezTo>
                <a:cubicBezTo>
                  <a:pt x="-8" y="595"/>
                  <a:pt x="-8" y="646"/>
                  <a:pt x="23" y="677"/>
                </a:cubicBezTo>
                <a:cubicBezTo>
                  <a:pt x="34" y="688"/>
                  <a:pt x="51" y="687"/>
                  <a:pt x="61" y="677"/>
                </a:cubicBezTo>
                <a:cubicBezTo>
                  <a:pt x="71" y="666"/>
                  <a:pt x="71" y="650"/>
                  <a:pt x="61" y="640"/>
                </a:cubicBezTo>
                <a:cubicBezTo>
                  <a:pt x="51" y="629"/>
                  <a:pt x="51" y="612"/>
                  <a:pt x="61" y="602"/>
                </a:cubicBezTo>
                <a:cubicBezTo>
                  <a:pt x="71" y="591"/>
                  <a:pt x="89" y="591"/>
                  <a:pt x="99" y="602"/>
                </a:cubicBezTo>
                <a:cubicBezTo>
                  <a:pt x="110" y="612"/>
                  <a:pt x="110" y="629"/>
                  <a:pt x="99" y="640"/>
                </a:cubicBezTo>
                <a:cubicBezTo>
                  <a:pt x="89" y="650"/>
                  <a:pt x="89" y="666"/>
                  <a:pt x="99" y="677"/>
                </a:cubicBezTo>
                <a:cubicBezTo>
                  <a:pt x="110" y="687"/>
                  <a:pt x="126" y="688"/>
                  <a:pt x="137" y="677"/>
                </a:cubicBezTo>
                <a:cubicBezTo>
                  <a:pt x="168" y="646"/>
                  <a:pt x="168" y="595"/>
                  <a:pt x="137" y="564"/>
                </a:cubicBezTo>
                <a:cubicBezTo>
                  <a:pt x="128" y="555"/>
                  <a:pt x="118" y="549"/>
                  <a:pt x="107" y="545"/>
                </a:cubicBezTo>
                <a:lnTo>
                  <a:pt x="107" y="373"/>
                </a:lnTo>
                <a:cubicBezTo>
                  <a:pt x="129" y="365"/>
                  <a:pt x="147" y="347"/>
                  <a:pt x="155" y="324"/>
                </a:cubicBezTo>
                <a:lnTo>
                  <a:pt x="179" y="324"/>
                </a:lnTo>
                <a:cubicBezTo>
                  <a:pt x="167" y="348"/>
                  <a:pt x="160" y="376"/>
                  <a:pt x="160" y="405"/>
                </a:cubicBezTo>
                <a:lnTo>
                  <a:pt x="160" y="514"/>
                </a:lnTo>
                <a:cubicBezTo>
                  <a:pt x="160" y="529"/>
                  <a:pt x="172" y="541"/>
                  <a:pt x="187" y="541"/>
                </a:cubicBezTo>
                <a:lnTo>
                  <a:pt x="321" y="541"/>
                </a:lnTo>
                <a:lnTo>
                  <a:pt x="321" y="597"/>
                </a:lnTo>
                <a:cubicBezTo>
                  <a:pt x="230" y="610"/>
                  <a:pt x="160" y="688"/>
                  <a:pt x="160" y="782"/>
                </a:cubicBezTo>
                <a:cubicBezTo>
                  <a:pt x="160" y="797"/>
                  <a:pt x="172" y="809"/>
                  <a:pt x="187" y="809"/>
                </a:cubicBezTo>
                <a:lnTo>
                  <a:pt x="509" y="809"/>
                </a:lnTo>
                <a:cubicBezTo>
                  <a:pt x="524" y="809"/>
                  <a:pt x="536" y="797"/>
                  <a:pt x="536" y="782"/>
                </a:cubicBezTo>
                <a:cubicBezTo>
                  <a:pt x="536" y="688"/>
                  <a:pt x="466" y="610"/>
                  <a:pt x="375" y="597"/>
                </a:cubicBezTo>
                <a:lnTo>
                  <a:pt x="375" y="541"/>
                </a:lnTo>
                <a:lnTo>
                  <a:pt x="509" y="541"/>
                </a:lnTo>
                <a:cubicBezTo>
                  <a:pt x="523" y="541"/>
                  <a:pt x="535" y="529"/>
                  <a:pt x="535" y="514"/>
                </a:cubicBezTo>
                <a:lnTo>
                  <a:pt x="535" y="404"/>
                </a:lnTo>
                <a:cubicBezTo>
                  <a:pt x="535" y="375"/>
                  <a:pt x="528" y="348"/>
                  <a:pt x="517" y="324"/>
                </a:cubicBezTo>
                <a:lnTo>
                  <a:pt x="540" y="324"/>
                </a:lnTo>
                <a:cubicBezTo>
                  <a:pt x="548" y="347"/>
                  <a:pt x="566" y="364"/>
                  <a:pt x="589" y="373"/>
                </a:cubicBezTo>
                <a:lnTo>
                  <a:pt x="589" y="545"/>
                </a:lnTo>
                <a:cubicBezTo>
                  <a:pt x="578" y="549"/>
                  <a:pt x="568" y="555"/>
                  <a:pt x="559" y="564"/>
                </a:cubicBezTo>
                <a:cubicBezTo>
                  <a:pt x="528" y="595"/>
                  <a:pt x="528" y="646"/>
                  <a:pt x="559" y="677"/>
                </a:cubicBezTo>
                <a:cubicBezTo>
                  <a:pt x="570" y="688"/>
                  <a:pt x="587" y="687"/>
                  <a:pt x="597" y="677"/>
                </a:cubicBezTo>
                <a:cubicBezTo>
                  <a:pt x="607" y="666"/>
                  <a:pt x="607" y="650"/>
                  <a:pt x="597" y="640"/>
                </a:cubicBezTo>
                <a:cubicBezTo>
                  <a:pt x="587" y="629"/>
                  <a:pt x="587" y="612"/>
                  <a:pt x="597" y="602"/>
                </a:cubicBezTo>
                <a:cubicBezTo>
                  <a:pt x="607" y="591"/>
                  <a:pt x="625" y="591"/>
                  <a:pt x="635" y="602"/>
                </a:cubicBezTo>
                <a:cubicBezTo>
                  <a:pt x="646" y="612"/>
                  <a:pt x="646" y="629"/>
                  <a:pt x="635" y="640"/>
                </a:cubicBezTo>
                <a:cubicBezTo>
                  <a:pt x="625" y="650"/>
                  <a:pt x="625" y="666"/>
                  <a:pt x="635" y="677"/>
                </a:cubicBezTo>
                <a:cubicBezTo>
                  <a:pt x="646" y="687"/>
                  <a:pt x="662" y="688"/>
                  <a:pt x="673" y="677"/>
                </a:cubicBezTo>
                <a:cubicBezTo>
                  <a:pt x="704" y="646"/>
                  <a:pt x="704" y="595"/>
                  <a:pt x="673" y="564"/>
                </a:cubicBezTo>
                <a:cubicBezTo>
                  <a:pt x="664" y="555"/>
                  <a:pt x="654" y="549"/>
                  <a:pt x="643" y="5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4ABA452B-4B40-291F-44C1-C36463B9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rázek 12">
            <a:extLst>
              <a:ext uri="{FF2B5EF4-FFF2-40B4-BE49-F238E27FC236}">
                <a16:creationId xmlns:a16="http://schemas.microsoft.com/office/drawing/2014/main" id="{59289047-58DC-A840-188F-FBE04BE2D5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"/>
          <a:stretch>
            <a:fillRect/>
          </a:stretch>
        </p:blipFill>
        <p:spPr bwMode="auto">
          <a:xfrm>
            <a:off x="883842" y="893618"/>
            <a:ext cx="3688157" cy="1678132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227D96C8-892F-59FE-D396-0E1B7C4C0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855" y="2585604"/>
            <a:ext cx="3688157" cy="1670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Google Shape;463;p47">
            <a:extLst>
              <a:ext uri="{FF2B5EF4-FFF2-40B4-BE49-F238E27FC236}">
                <a16:creationId xmlns:a16="http://schemas.microsoft.com/office/drawing/2014/main" id="{E891301E-499A-B3E4-943A-34C1CB07E1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9" y="2012904"/>
            <a:ext cx="27006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cs-CZ" dirty="0"/>
              <a:t>Referenční</a:t>
            </a:r>
          </a:p>
        </p:txBody>
      </p:sp>
      <p:sp>
        <p:nvSpPr>
          <p:cNvPr id="16" name="Google Shape;463;p47">
            <a:extLst>
              <a:ext uri="{FF2B5EF4-FFF2-40B4-BE49-F238E27FC236}">
                <a16:creationId xmlns:a16="http://schemas.microsoft.com/office/drawing/2014/main" id="{1472480A-6D74-36EB-62CC-433102D980DA}"/>
              </a:ext>
            </a:extLst>
          </p:cNvPr>
          <p:cNvSpPr txBox="1">
            <a:spLocks/>
          </p:cNvSpPr>
          <p:nvPr/>
        </p:nvSpPr>
        <p:spPr>
          <a:xfrm>
            <a:off x="1973837" y="2499299"/>
            <a:ext cx="261201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algn="r"/>
            <a:r>
              <a:rPr lang="cs-CZ" dirty="0"/>
              <a:t>datové typy</a:t>
            </a:r>
          </a:p>
        </p:txBody>
      </p:sp>
    </p:spTree>
    <p:extLst>
      <p:ext uri="{BB962C8B-B14F-4D97-AF65-F5344CB8AC3E}">
        <p14:creationId xmlns:p14="http://schemas.microsoft.com/office/powerpoint/2010/main" val="59403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2D19A558-0209-35C7-FFE9-288E585C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7">
            <a:extLst>
              <a:ext uri="{FF2B5EF4-FFF2-40B4-BE49-F238E27FC236}">
                <a16:creationId xmlns:a16="http://schemas.microsoft.com/office/drawing/2014/main" id="{6C239FE2-85C7-6277-194E-2A04A6162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445025"/>
            <a:ext cx="78074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cs-CZ" sz="2750" dirty="0"/>
              <a:t>DATOVÉ TYPY A SPRÁVA PAMĚTI - </a:t>
            </a:r>
            <a:r>
              <a:rPr lang="en-US" sz="2750" dirty="0"/>
              <a:t>Python</a:t>
            </a:r>
            <a:endParaRPr lang="cs-CZ" sz="2750" dirty="0"/>
          </a:p>
        </p:txBody>
      </p:sp>
      <p:sp>
        <p:nvSpPr>
          <p:cNvPr id="464" name="Google Shape;464;p47">
            <a:extLst>
              <a:ext uri="{FF2B5EF4-FFF2-40B4-BE49-F238E27FC236}">
                <a16:creationId xmlns:a16="http://schemas.microsoft.com/office/drawing/2014/main" id="{59FB1A2A-D24F-9396-C939-028DC8156D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32257" y="2319479"/>
            <a:ext cx="2613300" cy="2058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s-CZ" dirty="0"/>
              <a:t>-</a:t>
            </a:r>
            <a:r>
              <a:rPr lang="cs-CZ" b="1" dirty="0"/>
              <a:t> Typy:</a:t>
            </a:r>
            <a:r>
              <a:rPr lang="cs-CZ" dirty="0"/>
              <a:t> list, </a:t>
            </a:r>
            <a:r>
              <a:rPr lang="cs-CZ" dirty="0" err="1"/>
              <a:t>dict</a:t>
            </a:r>
            <a:r>
              <a:rPr lang="cs-CZ" dirty="0"/>
              <a:t>, set</a:t>
            </a:r>
          </a:p>
          <a:p>
            <a:pPr marL="0" lvl="0" indent="0"/>
            <a:endParaRPr lang="cs-CZ" sz="400" dirty="0"/>
          </a:p>
          <a:p>
            <a:pPr marL="0" indent="0"/>
            <a:r>
              <a:rPr lang="cs-CZ" dirty="0"/>
              <a:t>- </a:t>
            </a:r>
            <a:r>
              <a:rPr lang="cs-CZ" b="1" dirty="0"/>
              <a:t>Změna: </a:t>
            </a:r>
            <a:r>
              <a:rPr lang="cs-CZ" dirty="0"/>
              <a:t>Je možné např. daný seznam upravit, aniž by se změnila adresa</a:t>
            </a:r>
          </a:p>
        </p:txBody>
      </p:sp>
      <p:sp>
        <p:nvSpPr>
          <p:cNvPr id="465" name="Google Shape;465;p47">
            <a:extLst>
              <a:ext uri="{FF2B5EF4-FFF2-40B4-BE49-F238E27FC236}">
                <a16:creationId xmlns:a16="http://schemas.microsoft.com/office/drawing/2014/main" id="{4A0A3EA4-020F-0C56-5D6A-CF53AFF9C3A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510887" y="2319480"/>
            <a:ext cx="2613075" cy="19823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cs-CZ" dirty="0"/>
              <a:t>-</a:t>
            </a:r>
            <a:r>
              <a:rPr lang="cs-CZ" b="1" dirty="0"/>
              <a:t> Typy:</a:t>
            </a:r>
            <a:r>
              <a:rPr lang="cs-CZ" dirty="0"/>
              <a:t> </a:t>
            </a:r>
            <a:r>
              <a:rPr lang="cs-CZ" dirty="0" err="1"/>
              <a:t>int</a:t>
            </a:r>
            <a:r>
              <a:rPr lang="cs-CZ" dirty="0"/>
              <a:t>, </a:t>
            </a:r>
            <a:r>
              <a:rPr lang="cs-CZ" dirty="0" err="1"/>
              <a:t>float</a:t>
            </a:r>
            <a:r>
              <a:rPr lang="cs-CZ" dirty="0"/>
              <a:t>, str, </a:t>
            </a:r>
            <a:r>
              <a:rPr lang="cs-CZ" dirty="0" err="1"/>
              <a:t>tuple</a:t>
            </a:r>
            <a:endParaRPr lang="cs-CZ" dirty="0"/>
          </a:p>
          <a:p>
            <a:pPr marL="0" lvl="0" indent="0"/>
            <a:endParaRPr lang="cs-CZ" sz="400" dirty="0"/>
          </a:p>
          <a:p>
            <a:pPr marL="0" indent="0"/>
            <a:r>
              <a:rPr lang="cs-CZ" dirty="0"/>
              <a:t>- </a:t>
            </a:r>
            <a:r>
              <a:rPr lang="cs-CZ" b="1" dirty="0"/>
              <a:t>Změna:</a:t>
            </a:r>
            <a:r>
              <a:rPr lang="cs-CZ" dirty="0"/>
              <a:t> při změně se v paměti předchozí objekt a vytvoří se úplně nový (původní objekt již nejde upravit)</a:t>
            </a:r>
          </a:p>
        </p:txBody>
      </p:sp>
      <p:sp>
        <p:nvSpPr>
          <p:cNvPr id="466" name="Google Shape;466;p47">
            <a:extLst>
              <a:ext uri="{FF2B5EF4-FFF2-40B4-BE49-F238E27FC236}">
                <a16:creationId xmlns:a16="http://schemas.microsoft.com/office/drawing/2014/main" id="{51D11920-8DD3-5212-187E-5B71ED082DE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510662" y="1984080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Imutabiln</a:t>
            </a:r>
            <a:r>
              <a:rPr lang="cs-CZ" dirty="0"/>
              <a:t>í </a:t>
            </a:r>
            <a:endParaRPr lang="en-US" dirty="0"/>
          </a:p>
        </p:txBody>
      </p:sp>
      <p:sp>
        <p:nvSpPr>
          <p:cNvPr id="467" name="Google Shape;467;p47">
            <a:extLst>
              <a:ext uri="{FF2B5EF4-FFF2-40B4-BE49-F238E27FC236}">
                <a16:creationId xmlns:a16="http://schemas.microsoft.com/office/drawing/2014/main" id="{06EDC13B-B58B-2AB2-9C51-14B8A2D5BB5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132251" y="1984080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Mutabiln</a:t>
            </a:r>
            <a:r>
              <a:rPr lang="cs-CZ" dirty="0"/>
              <a:t>í</a:t>
            </a:r>
            <a:endParaRPr dirty="0"/>
          </a:p>
        </p:txBody>
      </p:sp>
      <p:sp>
        <p:nvSpPr>
          <p:cNvPr id="468" name="Google Shape;468;p47">
            <a:extLst>
              <a:ext uri="{FF2B5EF4-FFF2-40B4-BE49-F238E27FC236}">
                <a16:creationId xmlns:a16="http://schemas.microsoft.com/office/drawing/2014/main" id="{18F43B89-7248-66E4-39D9-2A6C2F031E66}"/>
              </a:ext>
            </a:extLst>
          </p:cNvPr>
          <p:cNvSpPr/>
          <p:nvPr/>
        </p:nvSpPr>
        <p:spPr>
          <a:xfrm>
            <a:off x="5238954" y="1549700"/>
            <a:ext cx="281975" cy="281972"/>
          </a:xfrm>
          <a:custGeom>
            <a:avLst/>
            <a:gdLst/>
            <a:ahLst/>
            <a:cxnLst/>
            <a:rect l="l" t="t" r="r" b="b"/>
            <a:pathLst>
              <a:path w="916" h="916" extrusionOk="0">
                <a:moveTo>
                  <a:pt x="53" y="351"/>
                </a:moveTo>
                <a:cubicBezTo>
                  <a:pt x="53" y="343"/>
                  <a:pt x="54" y="336"/>
                  <a:pt x="54" y="328"/>
                </a:cubicBezTo>
                <a:cubicBezTo>
                  <a:pt x="23" y="339"/>
                  <a:pt x="0" y="369"/>
                  <a:pt x="0" y="404"/>
                </a:cubicBezTo>
                <a:lnTo>
                  <a:pt x="0" y="565"/>
                </a:lnTo>
                <a:cubicBezTo>
                  <a:pt x="0" y="603"/>
                  <a:pt x="26" y="634"/>
                  <a:pt x="61" y="643"/>
                </a:cubicBezTo>
                <a:cubicBezTo>
                  <a:pt x="56" y="618"/>
                  <a:pt x="53" y="592"/>
                  <a:pt x="53" y="565"/>
                </a:cubicBezTo>
                <a:lnTo>
                  <a:pt x="53" y="351"/>
                </a:lnTo>
                <a:moveTo>
                  <a:pt x="458" y="0"/>
                </a:moveTo>
                <a:cubicBezTo>
                  <a:pt x="266" y="0"/>
                  <a:pt x="107" y="158"/>
                  <a:pt x="107" y="351"/>
                </a:cubicBezTo>
                <a:lnTo>
                  <a:pt x="107" y="565"/>
                </a:lnTo>
                <a:cubicBezTo>
                  <a:pt x="107" y="758"/>
                  <a:pt x="266" y="916"/>
                  <a:pt x="458" y="916"/>
                </a:cubicBezTo>
                <a:cubicBezTo>
                  <a:pt x="651" y="916"/>
                  <a:pt x="809" y="758"/>
                  <a:pt x="809" y="565"/>
                </a:cubicBezTo>
                <a:lnTo>
                  <a:pt x="809" y="351"/>
                </a:lnTo>
                <a:cubicBezTo>
                  <a:pt x="809" y="158"/>
                  <a:pt x="651" y="0"/>
                  <a:pt x="458" y="0"/>
                </a:cubicBezTo>
                <a:moveTo>
                  <a:pt x="565" y="163"/>
                </a:moveTo>
                <a:cubicBezTo>
                  <a:pt x="579" y="163"/>
                  <a:pt x="591" y="175"/>
                  <a:pt x="591" y="190"/>
                </a:cubicBezTo>
                <a:cubicBezTo>
                  <a:pt x="591" y="205"/>
                  <a:pt x="579" y="217"/>
                  <a:pt x="565" y="217"/>
                </a:cubicBezTo>
                <a:cubicBezTo>
                  <a:pt x="550" y="217"/>
                  <a:pt x="538" y="205"/>
                  <a:pt x="538" y="190"/>
                </a:cubicBezTo>
                <a:cubicBezTo>
                  <a:pt x="538" y="175"/>
                  <a:pt x="550" y="163"/>
                  <a:pt x="565" y="163"/>
                </a:cubicBezTo>
                <a:moveTo>
                  <a:pt x="457" y="163"/>
                </a:moveTo>
                <a:cubicBezTo>
                  <a:pt x="472" y="163"/>
                  <a:pt x="484" y="175"/>
                  <a:pt x="484" y="190"/>
                </a:cubicBezTo>
                <a:cubicBezTo>
                  <a:pt x="484" y="205"/>
                  <a:pt x="472" y="217"/>
                  <a:pt x="457" y="217"/>
                </a:cubicBezTo>
                <a:cubicBezTo>
                  <a:pt x="443" y="217"/>
                  <a:pt x="431" y="205"/>
                  <a:pt x="431" y="190"/>
                </a:cubicBezTo>
                <a:cubicBezTo>
                  <a:pt x="431" y="175"/>
                  <a:pt x="443" y="163"/>
                  <a:pt x="457" y="163"/>
                </a:cubicBezTo>
                <a:moveTo>
                  <a:pt x="350" y="163"/>
                </a:moveTo>
                <a:cubicBezTo>
                  <a:pt x="365" y="163"/>
                  <a:pt x="377" y="175"/>
                  <a:pt x="377" y="190"/>
                </a:cubicBezTo>
                <a:cubicBezTo>
                  <a:pt x="377" y="205"/>
                  <a:pt x="365" y="217"/>
                  <a:pt x="350" y="217"/>
                </a:cubicBezTo>
                <a:cubicBezTo>
                  <a:pt x="335" y="217"/>
                  <a:pt x="323" y="205"/>
                  <a:pt x="323" y="190"/>
                </a:cubicBezTo>
                <a:cubicBezTo>
                  <a:pt x="323" y="175"/>
                  <a:pt x="335" y="163"/>
                  <a:pt x="350" y="163"/>
                </a:cubicBezTo>
                <a:moveTo>
                  <a:pt x="439" y="808"/>
                </a:moveTo>
                <a:cubicBezTo>
                  <a:pt x="313" y="799"/>
                  <a:pt x="217" y="691"/>
                  <a:pt x="217" y="565"/>
                </a:cubicBezTo>
                <a:lnTo>
                  <a:pt x="217" y="298"/>
                </a:lnTo>
                <a:cubicBezTo>
                  <a:pt x="217" y="283"/>
                  <a:pt x="229" y="271"/>
                  <a:pt x="243" y="271"/>
                </a:cubicBezTo>
                <a:lnTo>
                  <a:pt x="672" y="271"/>
                </a:lnTo>
                <a:cubicBezTo>
                  <a:pt x="687" y="271"/>
                  <a:pt x="699" y="283"/>
                  <a:pt x="699" y="298"/>
                </a:cubicBezTo>
                <a:lnTo>
                  <a:pt x="699" y="566"/>
                </a:lnTo>
                <a:cubicBezTo>
                  <a:pt x="699" y="705"/>
                  <a:pt x="581" y="819"/>
                  <a:pt x="439" y="808"/>
                </a:cubicBezTo>
                <a:moveTo>
                  <a:pt x="861" y="329"/>
                </a:moveTo>
                <a:cubicBezTo>
                  <a:pt x="862" y="336"/>
                  <a:pt x="862" y="343"/>
                  <a:pt x="862" y="351"/>
                </a:cubicBezTo>
                <a:lnTo>
                  <a:pt x="862" y="565"/>
                </a:lnTo>
                <a:cubicBezTo>
                  <a:pt x="862" y="592"/>
                  <a:pt x="859" y="618"/>
                  <a:pt x="855" y="643"/>
                </a:cubicBezTo>
                <a:cubicBezTo>
                  <a:pt x="890" y="635"/>
                  <a:pt x="916" y="603"/>
                  <a:pt x="916" y="565"/>
                </a:cubicBezTo>
                <a:lnTo>
                  <a:pt x="916" y="404"/>
                </a:lnTo>
                <a:cubicBezTo>
                  <a:pt x="916" y="369"/>
                  <a:pt x="893" y="339"/>
                  <a:pt x="861" y="329"/>
                </a:cubicBezTo>
                <a:moveTo>
                  <a:pt x="270" y="565"/>
                </a:moveTo>
                <a:cubicBezTo>
                  <a:pt x="270" y="660"/>
                  <a:pt x="341" y="742"/>
                  <a:pt x="435" y="754"/>
                </a:cubicBezTo>
                <a:cubicBezTo>
                  <a:pt x="549" y="767"/>
                  <a:pt x="645" y="677"/>
                  <a:pt x="645" y="566"/>
                </a:cubicBezTo>
                <a:lnTo>
                  <a:pt x="645" y="324"/>
                </a:lnTo>
                <a:lnTo>
                  <a:pt x="270" y="324"/>
                </a:lnTo>
                <a:lnTo>
                  <a:pt x="270" y="565"/>
                </a:lnTo>
                <a:moveTo>
                  <a:pt x="391" y="390"/>
                </a:moveTo>
                <a:cubicBezTo>
                  <a:pt x="420" y="390"/>
                  <a:pt x="442" y="404"/>
                  <a:pt x="457" y="421"/>
                </a:cubicBezTo>
                <a:cubicBezTo>
                  <a:pt x="473" y="404"/>
                  <a:pt x="495" y="390"/>
                  <a:pt x="524" y="390"/>
                </a:cubicBezTo>
                <a:cubicBezTo>
                  <a:pt x="576" y="390"/>
                  <a:pt x="617" y="434"/>
                  <a:pt x="617" y="489"/>
                </a:cubicBezTo>
                <a:cubicBezTo>
                  <a:pt x="617" y="553"/>
                  <a:pt x="559" y="597"/>
                  <a:pt x="510" y="638"/>
                </a:cubicBezTo>
                <a:cubicBezTo>
                  <a:pt x="499" y="647"/>
                  <a:pt x="487" y="657"/>
                  <a:pt x="475" y="668"/>
                </a:cubicBezTo>
                <a:cubicBezTo>
                  <a:pt x="470" y="672"/>
                  <a:pt x="464" y="674"/>
                  <a:pt x="457" y="674"/>
                </a:cubicBezTo>
                <a:cubicBezTo>
                  <a:pt x="451" y="674"/>
                  <a:pt x="445" y="672"/>
                  <a:pt x="440" y="668"/>
                </a:cubicBezTo>
                <a:cubicBezTo>
                  <a:pt x="428" y="657"/>
                  <a:pt x="416" y="648"/>
                  <a:pt x="405" y="639"/>
                </a:cubicBezTo>
                <a:cubicBezTo>
                  <a:pt x="343" y="586"/>
                  <a:pt x="298" y="547"/>
                  <a:pt x="298" y="489"/>
                </a:cubicBezTo>
                <a:cubicBezTo>
                  <a:pt x="298" y="434"/>
                  <a:pt x="339" y="390"/>
                  <a:pt x="391" y="390"/>
                </a:cubicBezTo>
                <a:moveTo>
                  <a:pt x="440" y="598"/>
                </a:moveTo>
                <a:cubicBezTo>
                  <a:pt x="446" y="602"/>
                  <a:pt x="451" y="607"/>
                  <a:pt x="457" y="612"/>
                </a:cubicBezTo>
                <a:cubicBezTo>
                  <a:pt x="463" y="607"/>
                  <a:pt x="469" y="602"/>
                  <a:pt x="475" y="597"/>
                </a:cubicBezTo>
                <a:cubicBezTo>
                  <a:pt x="505" y="572"/>
                  <a:pt x="564" y="528"/>
                  <a:pt x="564" y="489"/>
                </a:cubicBezTo>
                <a:cubicBezTo>
                  <a:pt x="564" y="467"/>
                  <a:pt x="550" y="444"/>
                  <a:pt x="524" y="444"/>
                </a:cubicBezTo>
                <a:cubicBezTo>
                  <a:pt x="495" y="444"/>
                  <a:pt x="484" y="480"/>
                  <a:pt x="483" y="482"/>
                </a:cubicBezTo>
                <a:cubicBezTo>
                  <a:pt x="480" y="493"/>
                  <a:pt x="470" y="500"/>
                  <a:pt x="457" y="501"/>
                </a:cubicBezTo>
                <a:cubicBezTo>
                  <a:pt x="445" y="501"/>
                  <a:pt x="435" y="493"/>
                  <a:pt x="431" y="482"/>
                </a:cubicBezTo>
                <a:cubicBezTo>
                  <a:pt x="431" y="480"/>
                  <a:pt x="420" y="444"/>
                  <a:pt x="391" y="444"/>
                </a:cubicBezTo>
                <a:cubicBezTo>
                  <a:pt x="365" y="444"/>
                  <a:pt x="351" y="467"/>
                  <a:pt x="351" y="489"/>
                </a:cubicBezTo>
                <a:cubicBezTo>
                  <a:pt x="351" y="521"/>
                  <a:pt x="380" y="547"/>
                  <a:pt x="440" y="59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7">
            <a:extLst>
              <a:ext uri="{FF2B5EF4-FFF2-40B4-BE49-F238E27FC236}">
                <a16:creationId xmlns:a16="http://schemas.microsoft.com/office/drawing/2014/main" id="{EAA92AC0-F86A-34C2-A9A2-A9D6D952B9C5}"/>
              </a:ext>
            </a:extLst>
          </p:cNvPr>
          <p:cNvSpPr/>
          <p:nvPr/>
        </p:nvSpPr>
        <p:spPr>
          <a:xfrm>
            <a:off x="1617559" y="1549393"/>
            <a:ext cx="214251" cy="281972"/>
          </a:xfrm>
          <a:custGeom>
            <a:avLst/>
            <a:gdLst/>
            <a:ahLst/>
            <a:cxnLst/>
            <a:rect l="l" t="t" r="r" b="b"/>
            <a:pathLst>
              <a:path w="696" h="916" extrusionOk="0">
                <a:moveTo>
                  <a:pt x="348" y="217"/>
                </a:moveTo>
                <a:cubicBezTo>
                  <a:pt x="407" y="217"/>
                  <a:pt x="455" y="169"/>
                  <a:pt x="455" y="110"/>
                </a:cubicBezTo>
                <a:cubicBezTo>
                  <a:pt x="455" y="50"/>
                  <a:pt x="408" y="0"/>
                  <a:pt x="348" y="0"/>
                </a:cubicBezTo>
                <a:cubicBezTo>
                  <a:pt x="289" y="0"/>
                  <a:pt x="240" y="50"/>
                  <a:pt x="240" y="110"/>
                </a:cubicBezTo>
                <a:cubicBezTo>
                  <a:pt x="240" y="169"/>
                  <a:pt x="288" y="217"/>
                  <a:pt x="348" y="217"/>
                </a:cubicBezTo>
                <a:moveTo>
                  <a:pt x="348" y="83"/>
                </a:moveTo>
                <a:cubicBezTo>
                  <a:pt x="362" y="83"/>
                  <a:pt x="374" y="95"/>
                  <a:pt x="374" y="110"/>
                </a:cubicBezTo>
                <a:cubicBezTo>
                  <a:pt x="374" y="124"/>
                  <a:pt x="362" y="136"/>
                  <a:pt x="348" y="136"/>
                </a:cubicBezTo>
                <a:cubicBezTo>
                  <a:pt x="333" y="136"/>
                  <a:pt x="321" y="124"/>
                  <a:pt x="321" y="110"/>
                </a:cubicBezTo>
                <a:cubicBezTo>
                  <a:pt x="321" y="95"/>
                  <a:pt x="333" y="83"/>
                  <a:pt x="348" y="83"/>
                </a:cubicBezTo>
                <a:moveTo>
                  <a:pt x="348" y="916"/>
                </a:moveTo>
                <a:cubicBezTo>
                  <a:pt x="391" y="916"/>
                  <a:pt x="430" y="895"/>
                  <a:pt x="454" y="862"/>
                </a:cubicBezTo>
                <a:lnTo>
                  <a:pt x="241" y="862"/>
                </a:lnTo>
                <a:cubicBezTo>
                  <a:pt x="266" y="895"/>
                  <a:pt x="304" y="916"/>
                  <a:pt x="348" y="916"/>
                </a:cubicBezTo>
                <a:moveTo>
                  <a:pt x="643" y="545"/>
                </a:moveTo>
                <a:lnTo>
                  <a:pt x="643" y="372"/>
                </a:lnTo>
                <a:cubicBezTo>
                  <a:pt x="676" y="361"/>
                  <a:pt x="699" y="328"/>
                  <a:pt x="696" y="291"/>
                </a:cubicBezTo>
                <a:cubicBezTo>
                  <a:pt x="694" y="252"/>
                  <a:pt x="662" y="220"/>
                  <a:pt x="622" y="217"/>
                </a:cubicBezTo>
                <a:cubicBezTo>
                  <a:pt x="585" y="214"/>
                  <a:pt x="552" y="237"/>
                  <a:pt x="541" y="270"/>
                </a:cubicBezTo>
                <a:lnTo>
                  <a:pt x="478" y="270"/>
                </a:lnTo>
                <a:cubicBezTo>
                  <a:pt x="467" y="259"/>
                  <a:pt x="454" y="249"/>
                  <a:pt x="439" y="241"/>
                </a:cubicBezTo>
                <a:cubicBezTo>
                  <a:pt x="413" y="259"/>
                  <a:pt x="382" y="270"/>
                  <a:pt x="348" y="270"/>
                </a:cubicBezTo>
                <a:cubicBezTo>
                  <a:pt x="314" y="270"/>
                  <a:pt x="283" y="259"/>
                  <a:pt x="257" y="241"/>
                </a:cubicBezTo>
                <a:cubicBezTo>
                  <a:pt x="243" y="249"/>
                  <a:pt x="230" y="259"/>
                  <a:pt x="218" y="270"/>
                </a:cubicBezTo>
                <a:lnTo>
                  <a:pt x="155" y="270"/>
                </a:lnTo>
                <a:cubicBezTo>
                  <a:pt x="144" y="237"/>
                  <a:pt x="111" y="214"/>
                  <a:pt x="74" y="217"/>
                </a:cubicBezTo>
                <a:cubicBezTo>
                  <a:pt x="35" y="220"/>
                  <a:pt x="3" y="252"/>
                  <a:pt x="0" y="291"/>
                </a:cubicBezTo>
                <a:cubicBezTo>
                  <a:pt x="-3" y="328"/>
                  <a:pt x="20" y="361"/>
                  <a:pt x="53" y="372"/>
                </a:cubicBezTo>
                <a:lnTo>
                  <a:pt x="53" y="545"/>
                </a:lnTo>
                <a:cubicBezTo>
                  <a:pt x="42" y="549"/>
                  <a:pt x="32" y="555"/>
                  <a:pt x="23" y="564"/>
                </a:cubicBezTo>
                <a:cubicBezTo>
                  <a:pt x="-8" y="595"/>
                  <a:pt x="-8" y="646"/>
                  <a:pt x="23" y="677"/>
                </a:cubicBezTo>
                <a:cubicBezTo>
                  <a:pt x="34" y="688"/>
                  <a:pt x="51" y="687"/>
                  <a:pt x="61" y="677"/>
                </a:cubicBezTo>
                <a:cubicBezTo>
                  <a:pt x="71" y="666"/>
                  <a:pt x="71" y="650"/>
                  <a:pt x="61" y="640"/>
                </a:cubicBezTo>
                <a:cubicBezTo>
                  <a:pt x="51" y="629"/>
                  <a:pt x="51" y="612"/>
                  <a:pt x="61" y="602"/>
                </a:cubicBezTo>
                <a:cubicBezTo>
                  <a:pt x="71" y="591"/>
                  <a:pt x="89" y="591"/>
                  <a:pt x="99" y="602"/>
                </a:cubicBezTo>
                <a:cubicBezTo>
                  <a:pt x="110" y="612"/>
                  <a:pt x="110" y="629"/>
                  <a:pt x="99" y="640"/>
                </a:cubicBezTo>
                <a:cubicBezTo>
                  <a:pt x="89" y="650"/>
                  <a:pt x="89" y="666"/>
                  <a:pt x="99" y="677"/>
                </a:cubicBezTo>
                <a:cubicBezTo>
                  <a:pt x="110" y="687"/>
                  <a:pt x="126" y="688"/>
                  <a:pt x="137" y="677"/>
                </a:cubicBezTo>
                <a:cubicBezTo>
                  <a:pt x="168" y="646"/>
                  <a:pt x="168" y="595"/>
                  <a:pt x="137" y="564"/>
                </a:cubicBezTo>
                <a:cubicBezTo>
                  <a:pt x="128" y="555"/>
                  <a:pt x="118" y="549"/>
                  <a:pt x="107" y="545"/>
                </a:cubicBezTo>
                <a:lnTo>
                  <a:pt x="107" y="373"/>
                </a:lnTo>
                <a:cubicBezTo>
                  <a:pt x="129" y="365"/>
                  <a:pt x="147" y="347"/>
                  <a:pt x="155" y="324"/>
                </a:cubicBezTo>
                <a:lnTo>
                  <a:pt x="179" y="324"/>
                </a:lnTo>
                <a:cubicBezTo>
                  <a:pt x="167" y="348"/>
                  <a:pt x="160" y="376"/>
                  <a:pt x="160" y="405"/>
                </a:cubicBezTo>
                <a:lnTo>
                  <a:pt x="160" y="514"/>
                </a:lnTo>
                <a:cubicBezTo>
                  <a:pt x="160" y="529"/>
                  <a:pt x="172" y="541"/>
                  <a:pt x="187" y="541"/>
                </a:cubicBezTo>
                <a:lnTo>
                  <a:pt x="321" y="541"/>
                </a:lnTo>
                <a:lnTo>
                  <a:pt x="321" y="597"/>
                </a:lnTo>
                <a:cubicBezTo>
                  <a:pt x="230" y="610"/>
                  <a:pt x="160" y="688"/>
                  <a:pt x="160" y="782"/>
                </a:cubicBezTo>
                <a:cubicBezTo>
                  <a:pt x="160" y="797"/>
                  <a:pt x="172" y="809"/>
                  <a:pt x="187" y="809"/>
                </a:cubicBezTo>
                <a:lnTo>
                  <a:pt x="509" y="809"/>
                </a:lnTo>
                <a:cubicBezTo>
                  <a:pt x="524" y="809"/>
                  <a:pt x="536" y="797"/>
                  <a:pt x="536" y="782"/>
                </a:cubicBezTo>
                <a:cubicBezTo>
                  <a:pt x="536" y="688"/>
                  <a:pt x="466" y="610"/>
                  <a:pt x="375" y="597"/>
                </a:cubicBezTo>
                <a:lnTo>
                  <a:pt x="375" y="541"/>
                </a:lnTo>
                <a:lnTo>
                  <a:pt x="509" y="541"/>
                </a:lnTo>
                <a:cubicBezTo>
                  <a:pt x="523" y="541"/>
                  <a:pt x="535" y="529"/>
                  <a:pt x="535" y="514"/>
                </a:cubicBezTo>
                <a:lnTo>
                  <a:pt x="535" y="404"/>
                </a:lnTo>
                <a:cubicBezTo>
                  <a:pt x="535" y="375"/>
                  <a:pt x="528" y="348"/>
                  <a:pt x="517" y="324"/>
                </a:cubicBezTo>
                <a:lnTo>
                  <a:pt x="540" y="324"/>
                </a:lnTo>
                <a:cubicBezTo>
                  <a:pt x="548" y="347"/>
                  <a:pt x="566" y="364"/>
                  <a:pt x="589" y="373"/>
                </a:cubicBezTo>
                <a:lnTo>
                  <a:pt x="589" y="545"/>
                </a:lnTo>
                <a:cubicBezTo>
                  <a:pt x="578" y="549"/>
                  <a:pt x="568" y="555"/>
                  <a:pt x="559" y="564"/>
                </a:cubicBezTo>
                <a:cubicBezTo>
                  <a:pt x="528" y="595"/>
                  <a:pt x="528" y="646"/>
                  <a:pt x="559" y="677"/>
                </a:cubicBezTo>
                <a:cubicBezTo>
                  <a:pt x="570" y="688"/>
                  <a:pt x="587" y="687"/>
                  <a:pt x="597" y="677"/>
                </a:cubicBezTo>
                <a:cubicBezTo>
                  <a:pt x="607" y="666"/>
                  <a:pt x="607" y="650"/>
                  <a:pt x="597" y="640"/>
                </a:cubicBezTo>
                <a:cubicBezTo>
                  <a:pt x="587" y="629"/>
                  <a:pt x="587" y="612"/>
                  <a:pt x="597" y="602"/>
                </a:cubicBezTo>
                <a:cubicBezTo>
                  <a:pt x="607" y="591"/>
                  <a:pt x="625" y="591"/>
                  <a:pt x="635" y="602"/>
                </a:cubicBezTo>
                <a:cubicBezTo>
                  <a:pt x="646" y="612"/>
                  <a:pt x="646" y="629"/>
                  <a:pt x="635" y="640"/>
                </a:cubicBezTo>
                <a:cubicBezTo>
                  <a:pt x="625" y="650"/>
                  <a:pt x="625" y="666"/>
                  <a:pt x="635" y="677"/>
                </a:cubicBezTo>
                <a:cubicBezTo>
                  <a:pt x="646" y="687"/>
                  <a:pt x="662" y="688"/>
                  <a:pt x="673" y="677"/>
                </a:cubicBezTo>
                <a:cubicBezTo>
                  <a:pt x="704" y="646"/>
                  <a:pt x="704" y="595"/>
                  <a:pt x="673" y="564"/>
                </a:cubicBezTo>
                <a:cubicBezTo>
                  <a:pt x="664" y="555"/>
                  <a:pt x="654" y="549"/>
                  <a:pt x="643" y="54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214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>
          <a:extLst>
            <a:ext uri="{FF2B5EF4-FFF2-40B4-BE49-F238E27FC236}">
              <a16:creationId xmlns:a16="http://schemas.microsoft.com/office/drawing/2014/main" id="{AB1E6473-4FD3-9339-3C17-7A9A3D71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4">
            <a:extLst>
              <a:ext uri="{FF2B5EF4-FFF2-40B4-BE49-F238E27FC236}">
                <a16:creationId xmlns:a16="http://schemas.microsoft.com/office/drawing/2014/main" id="{4E5D4F6D-B50D-E079-A866-2BB57F3A33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100" dirty="0"/>
              <a:t>Celkové srovnání datových typů</a:t>
            </a:r>
          </a:p>
        </p:txBody>
      </p:sp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FBC9B28C-8718-0B90-5BA0-1D3ED2F1D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814218"/>
              </p:ext>
            </p:extLst>
          </p:nvPr>
        </p:nvGraphicFramePr>
        <p:xfrm>
          <a:off x="1382023" y="1208225"/>
          <a:ext cx="6379904" cy="3264410"/>
        </p:xfrm>
        <a:graphic>
          <a:graphicData uri="http://schemas.openxmlformats.org/drawingml/2006/table">
            <a:tbl>
              <a:tblPr firstRow="1" firstCol="1" bandRow="1"/>
              <a:tblGrid>
                <a:gridCol w="1828545">
                  <a:extLst>
                    <a:ext uri="{9D8B030D-6E8A-4147-A177-3AD203B41FA5}">
                      <a16:colId xmlns:a16="http://schemas.microsoft.com/office/drawing/2014/main" val="1755154581"/>
                    </a:ext>
                  </a:extLst>
                </a:gridCol>
                <a:gridCol w="2278765">
                  <a:extLst>
                    <a:ext uri="{9D8B030D-6E8A-4147-A177-3AD203B41FA5}">
                      <a16:colId xmlns:a16="http://schemas.microsoft.com/office/drawing/2014/main" val="44115021"/>
                    </a:ext>
                  </a:extLst>
                </a:gridCol>
                <a:gridCol w="2272594">
                  <a:extLst>
                    <a:ext uri="{9D8B030D-6E8A-4147-A177-3AD203B41FA5}">
                      <a16:colId xmlns:a16="http://schemas.microsoft.com/office/drawing/2014/main" val="3662729118"/>
                    </a:ext>
                  </a:extLst>
                </a:gridCol>
              </a:tblGrid>
              <a:tr h="283096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TYP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C#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solidFill>
                            <a:srgbClr val="000000"/>
                          </a:solidFill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PYTHON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709831"/>
                  </a:ext>
                </a:extLst>
              </a:tr>
              <a:tr h="777348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String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 err="1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Immutable</a:t>
                      </a: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(skládání textů vytváří nové objekty (lépe použít </a:t>
                      </a:r>
                      <a:r>
                        <a:rPr lang="cs-CZ" sz="1100" b="0" i="0" u="none" strike="noStrike" kern="100" dirty="0" err="1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StringBuilder</a:t>
                      </a: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))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 err="1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Immutable</a:t>
                      </a: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(velmi silné vestavěné funkce pro práci s textem)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746001"/>
                  </a:ext>
                </a:extLst>
              </a:tr>
              <a:tr h="51156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Pole (Array)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0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Pevná délka, stejný typ prvků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0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 základu se nepoužívá, nahrazeno Listem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251272"/>
                  </a:ext>
                </a:extLst>
              </a:tr>
              <a:tr h="59042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List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Dynamická velikost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(v C++ jako vektor (přístup O(1))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Základní stavební kámen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(může být heterogenní – mix typů)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912971"/>
                  </a:ext>
                </a:extLst>
              </a:tr>
              <a:tr h="590423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Slovník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 err="1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Dictionary</a:t>
                      </a: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&lt;K,V&gt;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(rychlé hledání podle klíče)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 dirty="0" err="1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Dict</a:t>
                      </a:r>
                      <a:r>
                        <a:rPr lang="cs-CZ" sz="1300" b="1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{K: V}</a:t>
                      </a:r>
                      <a:br>
                        <a:rPr lang="cs-CZ" sz="2100" b="0" i="0" u="none" strike="noStrike" kern="0" dirty="0"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cs-CZ" sz="11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(klíčové pro Python, velmi rychlé)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53414"/>
                  </a:ext>
                </a:extLst>
              </a:tr>
              <a:tr h="51156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N-tice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1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Tuple</a:t>
                      </a:r>
                      <a:r>
                        <a:rPr lang="cs-CZ" sz="1300" b="0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 </a:t>
                      </a:r>
                      <a:br>
                        <a:rPr lang="cs-CZ" sz="1300" b="0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</a:br>
                      <a:r>
                        <a:rPr lang="cs-CZ" sz="1100" b="0" i="0" u="none" strike="noStrike" kern="10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(sdružení růcných hodnot)</a:t>
                      </a:r>
                      <a:endParaRPr lang="cs-CZ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300" b="0" i="0" u="none" strike="noStrike" kern="100" dirty="0">
                          <a:effectLst/>
                          <a:latin typeface="Corbel" panose="020B0503020204020204" pitchFamily="34" charset="0"/>
                          <a:ea typeface="Aptos" panose="020B0004020202020204" pitchFamily="34" charset="0"/>
                          <a:cs typeface="Segoe UI" panose="020B0502040204020203" pitchFamily="34" charset="0"/>
                        </a:rPr>
                        <a:t>Velmi časté pro vracení více hodnot z funkce</a:t>
                      </a:r>
                      <a:endParaRPr lang="cs-CZ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272" marR="81272" marT="11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68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73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Srovnání syntaxe – C</a:t>
            </a:r>
            <a:r>
              <a:rPr lang="en-US" dirty="0"/>
              <a:t>#</a:t>
            </a:r>
            <a:endParaRPr dirty="0"/>
          </a:p>
        </p:txBody>
      </p:sp>
      <p:grpSp>
        <p:nvGrpSpPr>
          <p:cNvPr id="868" name="Google Shape;868;p71"/>
          <p:cNvGrpSpPr/>
          <p:nvPr/>
        </p:nvGrpSpPr>
        <p:grpSpPr>
          <a:xfrm>
            <a:off x="4398666" y="1393372"/>
            <a:ext cx="4038884" cy="2559901"/>
            <a:chOff x="4944475" y="1543250"/>
            <a:chExt cx="3486300" cy="2789100"/>
          </a:xfrm>
        </p:grpSpPr>
        <p:sp>
          <p:nvSpPr>
            <p:cNvPr id="869" name="Google Shape;869;p71"/>
            <p:cNvSpPr/>
            <p:nvPr/>
          </p:nvSpPr>
          <p:spPr>
            <a:xfrm>
              <a:off x="4944475" y="1543250"/>
              <a:ext cx="3486300" cy="2789100"/>
            </a:xfrm>
            <a:prstGeom prst="roundRect">
              <a:avLst>
                <a:gd name="adj" fmla="val 623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0" name="Google Shape;870;p71"/>
            <p:cNvSpPr/>
            <p:nvPr/>
          </p:nvSpPr>
          <p:spPr>
            <a:xfrm>
              <a:off x="4944475" y="1543254"/>
              <a:ext cx="3486300" cy="330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871" name="Google Shape;871;p71"/>
          <p:cNvSpPr txBox="1"/>
          <p:nvPr/>
        </p:nvSpPr>
        <p:spPr>
          <a:xfrm>
            <a:off x="4488720" y="1753075"/>
            <a:ext cx="3869380" cy="25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class 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Program</a:t>
            </a: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{</a:t>
            </a:r>
            <a:endParaRPr sz="1000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static </a:t>
            </a:r>
            <a:r>
              <a:rPr lang="cs-CZ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void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cs-CZ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Main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() {</a:t>
            </a:r>
            <a:endParaRPr sz="1000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</a:t>
            </a:r>
            <a:r>
              <a:rPr lang="cs-CZ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vek = 20;</a:t>
            </a:r>
            <a:endParaRPr lang="en-US" sz="1000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</a:t>
            </a:r>
            <a:r>
              <a:rPr lang="cs-CZ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if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(vek &gt;= 18)</a:t>
            </a: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	</a:t>
            </a:r>
            <a:r>
              <a:rPr lang="cs-CZ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Console.WriteLine</a:t>
            </a:r>
            <a:r>
              <a:rPr lang="cs-CZ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("Jsi dospělý.");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}</a:t>
            </a:r>
            <a:endParaRPr lang="cs-CZ" sz="1000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else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    </a:t>
            </a:r>
            <a:r>
              <a:rPr lang="en-US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Console.WriteLine</a:t>
            </a: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("</a:t>
            </a:r>
            <a:r>
              <a:rPr lang="en-US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Jsi</a:t>
            </a: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-US" sz="1000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nezletilý</a:t>
            </a: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.");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}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id="872" name="Google Shape;872;p71"/>
          <p:cNvSpPr txBox="1"/>
          <p:nvPr/>
        </p:nvSpPr>
        <p:spPr>
          <a:xfrm>
            <a:off x="720000" y="1275175"/>
            <a:ext cx="38589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Složené závorky 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(blok musí být otevřen a uzavřen)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Každý příkaz je nutné ukončit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(středníkem)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C# musí vědět, co je v proměnné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za typ</a:t>
            </a:r>
            <a:endParaRPr lang="cs-CZ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Kompilátor dokáže najít chybu před spuštěním</a:t>
            </a:r>
          </a:p>
        </p:txBody>
      </p:sp>
      <p:sp>
        <p:nvSpPr>
          <p:cNvPr id="873" name="Google Shape;873;p71"/>
          <p:cNvSpPr txBox="1"/>
          <p:nvPr/>
        </p:nvSpPr>
        <p:spPr>
          <a:xfrm>
            <a:off x="4488720" y="1419482"/>
            <a:ext cx="3270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</a:t>
            </a:r>
            <a:r>
              <a:rPr lang="en-US" sz="11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#</a:t>
            </a:r>
            <a:endParaRPr sz="11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>
          <a:extLst>
            <a:ext uri="{FF2B5EF4-FFF2-40B4-BE49-F238E27FC236}">
              <a16:creationId xmlns:a16="http://schemas.microsoft.com/office/drawing/2014/main" id="{A83A5603-485D-166D-4E26-3E4A1578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1">
            <a:extLst>
              <a:ext uri="{FF2B5EF4-FFF2-40B4-BE49-F238E27FC236}">
                <a16:creationId xmlns:a16="http://schemas.microsoft.com/office/drawing/2014/main" id="{7E9BED97-1688-A966-29C9-DFC801818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cs-CZ" dirty="0"/>
              <a:t>Srovnání syntaxe – Python</a:t>
            </a:r>
            <a:endParaRPr dirty="0"/>
          </a:p>
        </p:txBody>
      </p:sp>
      <p:grpSp>
        <p:nvGrpSpPr>
          <p:cNvPr id="868" name="Google Shape;868;p71">
            <a:extLst>
              <a:ext uri="{FF2B5EF4-FFF2-40B4-BE49-F238E27FC236}">
                <a16:creationId xmlns:a16="http://schemas.microsoft.com/office/drawing/2014/main" id="{6FD964EE-2584-1F98-1E33-7AD16E282347}"/>
              </a:ext>
            </a:extLst>
          </p:cNvPr>
          <p:cNvGrpSpPr/>
          <p:nvPr/>
        </p:nvGrpSpPr>
        <p:grpSpPr>
          <a:xfrm>
            <a:off x="4398666" y="1393372"/>
            <a:ext cx="4038884" cy="2559901"/>
            <a:chOff x="4944475" y="1543250"/>
            <a:chExt cx="3486300" cy="2789100"/>
          </a:xfrm>
        </p:grpSpPr>
        <p:sp>
          <p:nvSpPr>
            <p:cNvPr id="869" name="Google Shape;869;p71">
              <a:extLst>
                <a:ext uri="{FF2B5EF4-FFF2-40B4-BE49-F238E27FC236}">
                  <a16:creationId xmlns:a16="http://schemas.microsoft.com/office/drawing/2014/main" id="{E032BBF5-F9A6-119D-107A-42CC676A8427}"/>
                </a:ext>
              </a:extLst>
            </p:cNvPr>
            <p:cNvSpPr/>
            <p:nvPr/>
          </p:nvSpPr>
          <p:spPr>
            <a:xfrm>
              <a:off x="4944475" y="1543250"/>
              <a:ext cx="3486300" cy="2789100"/>
            </a:xfrm>
            <a:prstGeom prst="roundRect">
              <a:avLst>
                <a:gd name="adj" fmla="val 623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870" name="Google Shape;870;p71">
              <a:extLst>
                <a:ext uri="{FF2B5EF4-FFF2-40B4-BE49-F238E27FC236}">
                  <a16:creationId xmlns:a16="http://schemas.microsoft.com/office/drawing/2014/main" id="{6A4284D1-E8A8-64D8-E989-89DB9062C3BC}"/>
                </a:ext>
              </a:extLst>
            </p:cNvPr>
            <p:cNvSpPr/>
            <p:nvPr/>
          </p:nvSpPr>
          <p:spPr>
            <a:xfrm>
              <a:off x="4944475" y="1543254"/>
              <a:ext cx="3486300" cy="3306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871" name="Google Shape;871;p71">
            <a:extLst>
              <a:ext uri="{FF2B5EF4-FFF2-40B4-BE49-F238E27FC236}">
                <a16:creationId xmlns:a16="http://schemas.microsoft.com/office/drawing/2014/main" id="{3258C675-A946-D42C-CBEA-3771456E371C}"/>
              </a:ext>
            </a:extLst>
          </p:cNvPr>
          <p:cNvSpPr txBox="1"/>
          <p:nvPr/>
        </p:nvSpPr>
        <p:spPr>
          <a:xfrm>
            <a:off x="4488720" y="1753074"/>
            <a:ext cx="3869380" cy="208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vek = 20  </a:t>
            </a: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if </a:t>
            </a:r>
            <a:r>
              <a:rPr lang="cs-CZ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vek &gt;= 18: </a:t>
            </a: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</a:t>
            </a:r>
            <a:r>
              <a:rPr lang="cs-CZ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print</a:t>
            </a:r>
            <a:r>
              <a:rPr lang="cs-CZ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("Jsi dospělý.")  </a:t>
            </a: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else</a:t>
            </a:r>
            <a:r>
              <a:rPr lang="cs-CZ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:</a:t>
            </a: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</a:t>
            </a:r>
            <a:r>
              <a:rPr lang="cs-CZ" dirty="0" err="1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print</a:t>
            </a:r>
            <a:r>
              <a:rPr lang="cs-CZ" dirty="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rPr>
              <a:t>("Jsi nezletilý.")</a:t>
            </a:r>
            <a:endParaRPr lang="en-US" dirty="0">
              <a:solidFill>
                <a:schemeClr val="lt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2" name="Google Shape;872;p71">
            <a:extLst>
              <a:ext uri="{FF2B5EF4-FFF2-40B4-BE49-F238E27FC236}">
                <a16:creationId xmlns:a16="http://schemas.microsoft.com/office/drawing/2014/main" id="{35B4E774-F1EE-C079-F6E4-C743350FCD50}"/>
              </a:ext>
            </a:extLst>
          </p:cNvPr>
          <p:cNvSpPr txBox="1"/>
          <p:nvPr/>
        </p:nvSpPr>
        <p:spPr>
          <a:xfrm>
            <a:off x="720000" y="1275175"/>
            <a:ext cx="3858900" cy="3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Bloky jsou oddělený odsazením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Není třeba ukončovat řádek 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středníkem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Není třeba specifikovat typ 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proměnné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Typ se může během programu </a:t>
            </a:r>
            <a:b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r>
              <a:rPr lang="cs-CZ" b="1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změnit</a:t>
            </a: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endParaRPr lang="cs-CZ" b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285750" lvl="2" indent="-285750">
              <a:lnSpc>
                <a:spcPct val="115000"/>
              </a:lnSpc>
              <a:buFontTx/>
              <a:buChar char="-"/>
            </a:pPr>
            <a:endParaRPr lang="cs-CZ" i="1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3" name="Google Shape;873;p71">
            <a:extLst>
              <a:ext uri="{FF2B5EF4-FFF2-40B4-BE49-F238E27FC236}">
                <a16:creationId xmlns:a16="http://schemas.microsoft.com/office/drawing/2014/main" id="{564418C7-F6E6-62C1-B1C7-DA5A5AB5F921}"/>
              </a:ext>
            </a:extLst>
          </p:cNvPr>
          <p:cNvSpPr txBox="1"/>
          <p:nvPr/>
        </p:nvSpPr>
        <p:spPr>
          <a:xfrm>
            <a:off x="4488720" y="1419242"/>
            <a:ext cx="3270900" cy="2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 b="1" dirty="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Python</a:t>
            </a:r>
            <a:endParaRPr sz="1100" b="1" dirty="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34662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4"/>
          <p:cNvSpPr txBox="1">
            <a:spLocks noGrp="1"/>
          </p:cNvSpPr>
          <p:nvPr>
            <p:ph type="title"/>
          </p:nvPr>
        </p:nvSpPr>
        <p:spPr>
          <a:xfrm>
            <a:off x="762142" y="1444301"/>
            <a:ext cx="8116633" cy="27188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5000" dirty="0"/>
              <a:t>Děkuji za pozornost!</a:t>
            </a:r>
            <a:endParaRPr sz="5000" dirty="0"/>
          </a:p>
        </p:txBody>
      </p:sp>
      <p:grpSp>
        <p:nvGrpSpPr>
          <p:cNvPr id="931" name="Google Shape;931;p74"/>
          <p:cNvGrpSpPr/>
          <p:nvPr/>
        </p:nvGrpSpPr>
        <p:grpSpPr>
          <a:xfrm>
            <a:off x="3327936" y="147724"/>
            <a:ext cx="5550839" cy="1296576"/>
            <a:chOff x="3327936" y="147724"/>
            <a:chExt cx="5550839" cy="1296576"/>
          </a:xfrm>
        </p:grpSpPr>
        <p:pic>
          <p:nvPicPr>
            <p:cNvPr id="932" name="Google Shape;932;p74"/>
            <p:cNvPicPr preferRelativeResize="0"/>
            <p:nvPr/>
          </p:nvPicPr>
          <p:blipFill rotWithShape="1">
            <a:blip r:embed="rId3">
              <a:alphaModFix/>
            </a:blip>
            <a:srcRect b="23354"/>
            <a:stretch/>
          </p:blipFill>
          <p:spPr>
            <a:xfrm rot="10800000">
              <a:off x="3327936" y="147725"/>
              <a:ext cx="4763251" cy="75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74"/>
            <p:cNvPicPr preferRelativeResize="0"/>
            <p:nvPr/>
          </p:nvPicPr>
          <p:blipFill rotWithShape="1">
            <a:blip r:embed="rId4">
              <a:alphaModFix amt="86000"/>
            </a:blip>
            <a:srcRect b="5918"/>
            <a:stretch/>
          </p:blipFill>
          <p:spPr>
            <a:xfrm rot="10800000">
              <a:off x="6138400" y="147724"/>
              <a:ext cx="2740375" cy="129657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74" name="Picture 2" descr="Python &gt; C# : r/ProgrammerHumor">
            <a:extLst>
              <a:ext uri="{FF2B5EF4-FFF2-40B4-BE49-F238E27FC236}">
                <a16:creationId xmlns:a16="http://schemas.microsoft.com/office/drawing/2014/main" id="{61864D7C-E52D-37A2-75A7-1B3DA0E58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80" y="2571750"/>
            <a:ext cx="2204582" cy="220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765</Words>
  <Application>Microsoft Office PowerPoint</Application>
  <PresentationFormat>Předvádění na obrazovce (16:9)</PresentationFormat>
  <Paragraphs>114</Paragraphs>
  <Slides>9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Aptos</vt:lpstr>
      <vt:lpstr>Archivo</vt:lpstr>
      <vt:lpstr>IBM Plex Mono</vt:lpstr>
      <vt:lpstr>Corbel</vt:lpstr>
      <vt:lpstr>Arial</vt:lpstr>
      <vt:lpstr>Bachelor in Robotics Engineering by Slidesgo</vt:lpstr>
      <vt:lpstr>SROVNÁNÍ PROGRAMOVACÍCH JAZYKŮ PYTHON A C#</vt:lpstr>
      <vt:lpstr>Porovnání C # a Python</vt:lpstr>
      <vt:lpstr>DATOVÉ TYPY A SPRÁVA PAMĚTI  - C#</vt:lpstr>
      <vt:lpstr>Referenční</vt:lpstr>
      <vt:lpstr>DATOVÉ TYPY A SPRÁVA PAMĚTI - Python</vt:lpstr>
      <vt:lpstr>Celkové srovnání datových typů</vt:lpstr>
      <vt:lpstr>Srovnání syntaxe – C#</vt:lpstr>
      <vt:lpstr>Srovnání syntaxe – Python</vt:lpstr>
      <vt:lpstr>Děkuji za pozornost!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Tereza Štancl</cp:lastModifiedBy>
  <cp:revision>36</cp:revision>
  <dcterms:modified xsi:type="dcterms:W3CDTF">2026-04-13T07:28:49Z</dcterms:modified>
</cp:coreProperties>
</file>