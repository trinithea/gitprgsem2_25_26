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3" r:id="rId16"/>
    <p:sldId id="274" r:id="rId17"/>
    <p:sldId id="275" r:id="rId18"/>
    <p:sldId id="269" r:id="rId19"/>
    <p:sldId id="272" r:id="rId20"/>
    <p:sldId id="278" r:id="rId21"/>
    <p:sldId id="279" r:id="rId22"/>
    <p:sldId id="276" r:id="rId23"/>
    <p:sldId id="277" r:id="rId2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05FF1D"/>
    <a:srgbClr val="9CF4BE"/>
    <a:srgbClr val="9EF2EA"/>
    <a:srgbClr val="91D0FF"/>
    <a:srgbClr val="0000FF"/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95DE-4420-1351-D4A2-4CDD93E2E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07D85-9D15-E0C5-9AF9-54497F625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CA4E7-5017-A959-A9A1-CA9AB0238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10C36-B56F-457B-BC4A-72B1919F16B6}" type="datetimeFigureOut">
              <a:rPr lang="cs-CZ" smtClean="0"/>
              <a:t>13.04.2026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CC3DA-D747-7785-24BA-97EB3B99B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D88E9-E3FC-E50E-BA06-99989BA3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F8CC-4805-4297-812A-16E1F562541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0047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756DD-2D24-FC8F-41D2-9DB8B813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E2FBF-5EC8-D0FF-D3D8-78230F451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3FE0F-7417-E317-EB7D-1A200D97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10C36-B56F-457B-BC4A-72B1919F16B6}" type="datetimeFigureOut">
              <a:rPr lang="cs-CZ" smtClean="0"/>
              <a:t>13.04.2026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E51A-CCCC-7BAD-A877-84885770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7721D-DDFB-04FE-4083-9B66EDFC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F8CC-4805-4297-812A-16E1F562541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048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8FCC-62B9-B148-23FB-4EA0C1441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98A1D-58B5-20EA-F0D6-0C90EB440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17208-5DF8-E66B-707F-615042868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10C36-B56F-457B-BC4A-72B1919F16B6}" type="datetimeFigureOut">
              <a:rPr lang="cs-CZ" smtClean="0"/>
              <a:t>13.04.2026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3389C-27DC-5F9A-BAA2-C39582A9F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D4C4F-BC7B-EF89-CD89-58C4FBCD8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F8CC-4805-4297-812A-16E1F562541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08586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6DBBF-B23B-11F3-D2A1-2B654CFD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DDA29-885C-2E72-DC4C-8A9A02F106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BBC87-1F95-0C32-E2A1-AA8321707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7FC1D-3A09-0AA2-BB63-0E7CAD9D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10C36-B56F-457B-BC4A-72B1919F16B6}" type="datetimeFigureOut">
              <a:rPr lang="cs-CZ" smtClean="0"/>
              <a:t>13.04.2026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76CF4-6AF2-46D0-BC9A-F4E61906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EED1D-6175-2F12-8326-E1C608F69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F8CC-4805-4297-812A-16E1F562541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74682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73D5-FFB7-71C3-8720-41C02292C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54E8F-A8FD-904A-D808-76DB834E0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D4304-8A0E-FB47-376D-492CCA6A5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BA8E2A-E1AC-CBCE-E20B-71B330ED8F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6F53A0-7CCA-51A1-CAC8-6B31BDC5A4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EE81C6-3EBB-7E8A-A4DF-A9A13D3FD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10C36-B56F-457B-BC4A-72B1919F16B6}" type="datetimeFigureOut">
              <a:rPr lang="cs-CZ" smtClean="0"/>
              <a:t>13.04.2026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2B3FD1-A7C1-7F14-7FCE-F8C6B3604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47D0B7-DA39-6A16-7F9B-ED35514FC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F8CC-4805-4297-812A-16E1F562541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60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2A517-43EA-81D0-8026-93913C3ED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45255-2B3A-8150-2C07-B46C1541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10C36-B56F-457B-BC4A-72B1919F16B6}" type="datetimeFigureOut">
              <a:rPr lang="cs-CZ" smtClean="0"/>
              <a:t>13.04.2026</a:t>
            </a:fld>
            <a:endParaRPr lang="cs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E2473-AB8D-8868-BE76-B5054E473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97561-CA0A-86E7-712D-B5244C4DA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F8CC-4805-4297-812A-16E1F562541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4667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A34DF9-0DBA-422E-F6CA-AED550798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10C36-B56F-457B-BC4A-72B1919F16B6}" type="datetimeFigureOut">
              <a:rPr lang="cs-CZ" smtClean="0"/>
              <a:t>13.04.2026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7F266D-F760-0279-3737-96A82FE47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E648F-1804-DEEF-CA2C-DAAE30A23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F8CC-4805-4297-812A-16E1F562541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91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CF709-9188-6B85-14C0-76442E347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058AA-6408-5611-08EB-7D96E7894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2C26B-F7D6-9582-BF90-FFEA16B54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96F78-CAA5-BACD-067E-7BF3A30E0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10C36-B56F-457B-BC4A-72B1919F16B6}" type="datetimeFigureOut">
              <a:rPr lang="cs-CZ" smtClean="0"/>
              <a:t>13.04.2026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8B5B7-5F79-A2FA-707C-1CB856348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CA0E9-4311-75DF-0EB7-B7590D4E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F8CC-4805-4297-812A-16E1F562541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535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B02E-8579-858D-B997-0031563F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cs-C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921D76-5523-181F-172A-6D616B0822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F32B5-7FAB-34BC-F22F-DA7E62CBC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A6932-561D-5AEF-9B76-6C5DB899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10C36-B56F-457B-BC4A-72B1919F16B6}" type="datetimeFigureOut">
              <a:rPr lang="cs-CZ" smtClean="0"/>
              <a:t>13.04.2026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6EDE1-54AC-EF63-C18A-6D3521D62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8482D-989C-C44F-5C62-2EA23717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F8CC-4805-4297-812A-16E1F562541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38080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EA29A-4207-FC27-6CAF-E2A993C1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834FA-2A42-8CCA-7F71-4F9D70F17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31260-FEC3-F288-AEB8-9C4489FE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10C36-B56F-457B-BC4A-72B1919F16B6}" type="datetimeFigureOut">
              <a:rPr lang="cs-CZ" smtClean="0"/>
              <a:t>13.04.2026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FDE66-050A-1688-DA32-3132475D5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07236-A6E0-45E0-BF7A-B18D169D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F8CC-4805-4297-812A-16E1F562541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518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6B6974-E2F6-73F6-1601-4E52A9F2D1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A75C7-79C3-ABB2-19BA-63F06BE17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2F422-013D-4507-5FCD-F44C9169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10C36-B56F-457B-BC4A-72B1919F16B6}" type="datetimeFigureOut">
              <a:rPr lang="cs-CZ" smtClean="0"/>
              <a:t>13.04.2026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5674B-4953-1393-0ED9-72698F7F1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B6E6C-2F7C-38A2-D1D9-74EFC56A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F8CC-4805-4297-812A-16E1F562541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11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9464B8-073E-E398-EA23-EB90F0343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CECED-3ACC-B557-D1B0-91223F549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908C8-D5E9-8638-25C4-20CDAC0CA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10C36-B56F-457B-BC4A-72B1919F16B6}" type="datetimeFigureOut">
              <a:rPr lang="cs-CZ" smtClean="0"/>
              <a:t>13.04.2026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02608-E73D-C68C-A8A0-C5878B506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30DA5-F00F-56E5-8BCA-FC562BAFC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EF8CC-4805-4297-812A-16E1F562541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55599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34000">
              <a:srgbClr val="00B050"/>
            </a:gs>
            <a:gs pos="60352">
              <a:srgbClr val="00B0F0"/>
            </a:gs>
            <a:gs pos="82000">
              <a:srgbClr val="0070C0"/>
            </a:gs>
            <a:gs pos="95000">
              <a:srgbClr val="002060"/>
            </a:gs>
          </a:gsLst>
          <a:lin ang="13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45A10-7AA8-BEE2-A69E-356B834930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Bahnschrift SemiBold SemiConden" panose="020B0502040204020203" pitchFamily="34" charset="0"/>
              </a:rPr>
              <a:t>Časová a paměťová složitost.</a:t>
            </a:r>
            <a:endParaRPr lang="cs-CZ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99DEA-B8AF-5B78-2DED-24286D9C08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>
                <a:latin typeface="Bahnschrift Light" panose="020B0502040204020203" pitchFamily="34" charset="0"/>
              </a:rPr>
              <a:t>Hana Pluskalová 4.C</a:t>
            </a:r>
          </a:p>
        </p:txBody>
      </p:sp>
    </p:spTree>
    <p:extLst>
      <p:ext uri="{BB962C8B-B14F-4D97-AF65-F5344CB8AC3E}">
        <p14:creationId xmlns:p14="http://schemas.microsoft.com/office/powerpoint/2010/main" val="2407093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00">
              <a:srgbClr val="00B0F0"/>
            </a:gs>
            <a:gs pos="57000">
              <a:srgbClr val="0070C0"/>
            </a:gs>
            <a:gs pos="95000">
              <a:srgbClr val="002060"/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DB5D7-471C-FD13-C767-E45DBDC8B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Časová složitost.</a:t>
            </a:r>
            <a:endParaRPr lang="cs-CZ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8F987-862E-7E86-A268-14C622DB9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Bahnschrift Light" panose="020B0502040204020203" pitchFamily="34" charset="0"/>
              </a:rPr>
              <a:t>Co to je? Co určujeme?</a:t>
            </a:r>
          </a:p>
          <a:p>
            <a:pPr lvl="1"/>
            <a:r>
              <a:rPr lang="cs-CZ" dirty="0">
                <a:solidFill>
                  <a:schemeClr val="bg1"/>
                </a:solidFill>
                <a:latin typeface="Bahnschrift Light" panose="020B0502040204020203" pitchFamily="34" charset="0"/>
              </a:rPr>
              <a:t>Za jak dlouho v hodinách?</a:t>
            </a:r>
          </a:p>
          <a:p>
            <a:pPr lvl="1"/>
            <a:r>
              <a:rPr lang="cs-CZ" dirty="0">
                <a:solidFill>
                  <a:schemeClr val="bg1"/>
                </a:solidFill>
                <a:latin typeface="Bahnschrift Light" panose="020B0502040204020203" pitchFamily="34" charset="0"/>
              </a:rPr>
              <a:t>Za jak dlouho v minutách?</a:t>
            </a:r>
          </a:p>
          <a:p>
            <a:pPr lvl="1"/>
            <a:r>
              <a:rPr lang="cs-CZ" dirty="0">
                <a:solidFill>
                  <a:schemeClr val="bg1"/>
                </a:solidFill>
                <a:latin typeface="Bahnschrift Light" panose="020B0502040204020203" pitchFamily="34" charset="0"/>
              </a:rPr>
              <a:t>Za jak dlouho v sekundách?</a:t>
            </a:r>
          </a:p>
          <a:p>
            <a:pPr lvl="1"/>
            <a:r>
              <a:rPr lang="cs-CZ" dirty="0">
                <a:solidFill>
                  <a:schemeClr val="bg1"/>
                </a:solidFill>
                <a:latin typeface="Bahnschrift Light" panose="020B0502040204020203" pitchFamily="34" charset="0"/>
              </a:rPr>
              <a:t>Za jak dlouho v jakékoli jednotce času?</a:t>
            </a:r>
          </a:p>
          <a:p>
            <a:pPr lvl="1"/>
            <a:r>
              <a:rPr lang="cs-CZ" dirty="0">
                <a:solidFill>
                  <a:schemeClr val="bg1"/>
                </a:solidFill>
                <a:latin typeface="Bahnschrift Light" panose="020B0502040204020203" pitchFamily="34" charset="0"/>
              </a:rPr>
              <a:t>Za jak dlouho vyjádřeno matematickou funkcí?</a:t>
            </a:r>
          </a:p>
          <a:p>
            <a:r>
              <a:rPr lang="cs-CZ" dirty="0">
                <a:solidFill>
                  <a:schemeClr val="bg1"/>
                </a:solidFill>
                <a:latin typeface="Bahnschrift Light" panose="020B0502040204020203" pitchFamily="34" charset="0"/>
              </a:rPr>
              <a:t>Na čem je závislá?</a:t>
            </a:r>
          </a:p>
          <a:p>
            <a:pPr lvl="1"/>
            <a:r>
              <a:rPr lang="cs-CZ" dirty="0">
                <a:solidFill>
                  <a:schemeClr val="bg1"/>
                </a:solidFill>
                <a:latin typeface="Bahnschrift Light" panose="020B0502040204020203" pitchFamily="34" charset="0"/>
              </a:rPr>
              <a:t>Na počítači (RIP Apple)?</a:t>
            </a:r>
          </a:p>
          <a:p>
            <a:pPr lvl="1"/>
            <a:r>
              <a:rPr lang="cs-CZ" dirty="0">
                <a:solidFill>
                  <a:schemeClr val="bg1"/>
                </a:solidFill>
                <a:latin typeface="Bahnschrift Light" panose="020B0502040204020203" pitchFamily="34" charset="0"/>
              </a:rPr>
              <a:t>Na velikosti vstupu?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2F0143-9A14-93EC-715A-17B27E05B1A7}"/>
              </a:ext>
            </a:extLst>
          </p:cNvPr>
          <p:cNvSpPr txBox="1">
            <a:spLocks/>
          </p:cNvSpPr>
          <p:nvPr/>
        </p:nvSpPr>
        <p:spPr>
          <a:xfrm>
            <a:off x="12929282" y="1909061"/>
            <a:ext cx="9886521" cy="3039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sz="11300">
                <a:solidFill>
                  <a:schemeClr val="bg1"/>
                </a:solidFill>
                <a:latin typeface="Bahnschrift Light" panose="020B0502040204020203" pitchFamily="34" charset="0"/>
              </a:rPr>
              <a:t>Jak ji vyjádříme?</a:t>
            </a:r>
            <a:endParaRPr lang="cs-CZ" sz="11300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B8B0E104-4215-3098-6430-E19F864636E3}"/>
              </a:ext>
            </a:extLst>
          </p:cNvPr>
          <p:cNvSpPr/>
          <p:nvPr/>
        </p:nvSpPr>
        <p:spPr>
          <a:xfrm>
            <a:off x="5232679" y="2183087"/>
            <a:ext cx="494726" cy="568848"/>
          </a:xfrm>
          <a:prstGeom prst="mathMultiply">
            <a:avLst>
              <a:gd name="adj1" fmla="val 1724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EB10E144-5979-71E0-25B5-E513C3CD2DB0}"/>
              </a:ext>
            </a:extLst>
          </p:cNvPr>
          <p:cNvSpPr/>
          <p:nvPr/>
        </p:nvSpPr>
        <p:spPr>
          <a:xfrm>
            <a:off x="5136986" y="2602448"/>
            <a:ext cx="494726" cy="568848"/>
          </a:xfrm>
          <a:prstGeom prst="mathMultiply">
            <a:avLst>
              <a:gd name="adj1" fmla="val 1724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22E5721A-7FC5-665F-A784-0CEAC4561045}"/>
              </a:ext>
            </a:extLst>
          </p:cNvPr>
          <p:cNvSpPr/>
          <p:nvPr/>
        </p:nvSpPr>
        <p:spPr>
          <a:xfrm>
            <a:off x="5384349" y="3022824"/>
            <a:ext cx="494726" cy="568848"/>
          </a:xfrm>
          <a:prstGeom prst="mathMultiply">
            <a:avLst>
              <a:gd name="adj1" fmla="val 1724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F605FA35-5366-9010-2AAE-EE14751CECF7}"/>
              </a:ext>
            </a:extLst>
          </p:cNvPr>
          <p:cNvSpPr/>
          <p:nvPr/>
        </p:nvSpPr>
        <p:spPr>
          <a:xfrm>
            <a:off x="6959831" y="3366219"/>
            <a:ext cx="494726" cy="568848"/>
          </a:xfrm>
          <a:prstGeom prst="mathMultiply">
            <a:avLst>
              <a:gd name="adj1" fmla="val 1724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4715365B-3255-C015-3488-9ABC58A5AB80}"/>
              </a:ext>
            </a:extLst>
          </p:cNvPr>
          <p:cNvSpPr/>
          <p:nvPr/>
        </p:nvSpPr>
        <p:spPr>
          <a:xfrm>
            <a:off x="4889623" y="4664514"/>
            <a:ext cx="494726" cy="568848"/>
          </a:xfrm>
          <a:prstGeom prst="mathMultiply">
            <a:avLst>
              <a:gd name="adj1" fmla="val 1724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Smiley Face 10">
            <a:extLst>
              <a:ext uri="{FF2B5EF4-FFF2-40B4-BE49-F238E27FC236}">
                <a16:creationId xmlns:a16="http://schemas.microsoft.com/office/drawing/2014/main" id="{BAA5F850-8E19-7EB7-941D-F0D76347D8DD}"/>
              </a:ext>
            </a:extLst>
          </p:cNvPr>
          <p:cNvSpPr/>
          <p:nvPr/>
        </p:nvSpPr>
        <p:spPr>
          <a:xfrm>
            <a:off x="7992886" y="3859055"/>
            <a:ext cx="355358" cy="355358"/>
          </a:xfrm>
          <a:prstGeom prst="smileyFac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B5352FBB-1026-B73B-D188-8E27529A3365}"/>
              </a:ext>
            </a:extLst>
          </p:cNvPr>
          <p:cNvSpPr/>
          <p:nvPr/>
        </p:nvSpPr>
        <p:spPr>
          <a:xfrm>
            <a:off x="4445156" y="5233362"/>
            <a:ext cx="355358" cy="355358"/>
          </a:xfrm>
          <a:prstGeom prst="smileyFac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2180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00">
              <a:srgbClr val="00B0F0"/>
            </a:gs>
            <a:gs pos="57000">
              <a:srgbClr val="0070C0"/>
            </a:gs>
            <a:gs pos="95000">
              <a:srgbClr val="002060"/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774AF84-0115-E2FE-02F3-ADFAF613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739" y="1909061"/>
            <a:ext cx="9886521" cy="3039877"/>
          </a:xfrm>
        </p:spPr>
        <p:txBody>
          <a:bodyPr>
            <a:noAutofit/>
          </a:bodyPr>
          <a:lstStyle/>
          <a:p>
            <a:r>
              <a:rPr lang="cs-CZ" sz="113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Jak ji vyjádříme?</a:t>
            </a:r>
          </a:p>
        </p:txBody>
      </p:sp>
    </p:spTree>
    <p:extLst>
      <p:ext uri="{BB962C8B-B14F-4D97-AF65-F5344CB8AC3E}">
        <p14:creationId xmlns:p14="http://schemas.microsoft.com/office/powerpoint/2010/main" val="229890662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00">
              <a:srgbClr val="00B0F0"/>
            </a:gs>
            <a:gs pos="57000">
              <a:srgbClr val="0070C0"/>
            </a:gs>
            <a:gs pos="95000">
              <a:srgbClr val="002060"/>
            </a:gs>
          </a:gsLst>
          <a:lin ang="13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32595-20B1-C789-BC5A-013E2DAB3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A8DEFFA-9974-AEF2-CE48-2AEADA3F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277912" y="1909061"/>
            <a:ext cx="9886521" cy="3039877"/>
          </a:xfrm>
        </p:spPr>
        <p:txBody>
          <a:bodyPr>
            <a:noAutofit/>
          </a:bodyPr>
          <a:lstStyle/>
          <a:p>
            <a:r>
              <a:rPr lang="cs-CZ" sz="113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Jak ji vyjádříme?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708D6D-DAD6-234C-FFB9-D091698E3F9E}"/>
              </a:ext>
            </a:extLst>
          </p:cNvPr>
          <p:cNvSpPr txBox="1">
            <a:spLocks/>
          </p:cNvSpPr>
          <p:nvPr/>
        </p:nvSpPr>
        <p:spPr>
          <a:xfrm>
            <a:off x="1152739" y="1909061"/>
            <a:ext cx="9886521" cy="3039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sz="6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Asymptotická notace (O-notace) </a:t>
            </a:r>
          </a:p>
          <a:p>
            <a:pPr algn="ctr"/>
            <a:r>
              <a:rPr lang="cs-CZ" sz="6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nejrychleji rostoucího členu</a:t>
            </a:r>
            <a:endParaRPr lang="cs-CZ" sz="196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3" name="Star: 4 Points 2">
            <a:extLst>
              <a:ext uri="{FF2B5EF4-FFF2-40B4-BE49-F238E27FC236}">
                <a16:creationId xmlns:a16="http://schemas.microsoft.com/office/drawing/2014/main" id="{1DB78416-80CB-D5FE-22CC-3C6AE1D9734E}"/>
              </a:ext>
            </a:extLst>
          </p:cNvPr>
          <p:cNvSpPr/>
          <p:nvPr/>
        </p:nvSpPr>
        <p:spPr>
          <a:xfrm>
            <a:off x="68218" y="2218660"/>
            <a:ext cx="1084521" cy="1999842"/>
          </a:xfrm>
          <a:prstGeom prst="star4">
            <a:avLst>
              <a:gd name="adj" fmla="val 10590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4" name="Star: 4 Points 3">
            <a:extLst>
              <a:ext uri="{FF2B5EF4-FFF2-40B4-BE49-F238E27FC236}">
                <a16:creationId xmlns:a16="http://schemas.microsoft.com/office/drawing/2014/main" id="{C2A0C2EE-BF4A-02F2-FDDC-3858E756E591}"/>
              </a:ext>
            </a:extLst>
          </p:cNvPr>
          <p:cNvSpPr/>
          <p:nvPr/>
        </p:nvSpPr>
        <p:spPr>
          <a:xfrm>
            <a:off x="11002079" y="2200940"/>
            <a:ext cx="1084521" cy="1999842"/>
          </a:xfrm>
          <a:prstGeom prst="star4">
            <a:avLst>
              <a:gd name="adj" fmla="val 10590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827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0F7DEE-5536-7DF5-6D34-BE3EC670F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5D4AE8D-A7D7-47B2-3ED2-223455791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505322F-2C49-1605-D7AF-6F86BB532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66" y="928338"/>
            <a:ext cx="10336067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953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00">
              <a:srgbClr val="00B0F0"/>
            </a:gs>
            <a:gs pos="57000">
              <a:srgbClr val="0070C0"/>
            </a:gs>
            <a:gs pos="95000">
              <a:srgbClr val="002060"/>
            </a:gs>
          </a:gsLst>
          <a:lin ang="13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D3CC5-2142-8F71-C086-AAF9C9D16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17DCF-8468-F1D7-1F24-249F905FAD81}"/>
              </a:ext>
            </a:extLst>
          </p:cNvPr>
          <p:cNvSpPr txBox="1">
            <a:spLocks/>
          </p:cNvSpPr>
          <p:nvPr/>
        </p:nvSpPr>
        <p:spPr>
          <a:xfrm>
            <a:off x="1152739" y="-3632350"/>
            <a:ext cx="9886521" cy="3039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sz="6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Asymptotická notace (O-notace) </a:t>
            </a:r>
          </a:p>
          <a:p>
            <a:pPr algn="ctr"/>
            <a:r>
              <a:rPr lang="cs-CZ" sz="6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nejrychleji rostoucího členu</a:t>
            </a:r>
            <a:endParaRPr lang="cs-CZ" sz="196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3" name="Star: 4 Points 2">
            <a:extLst>
              <a:ext uri="{FF2B5EF4-FFF2-40B4-BE49-F238E27FC236}">
                <a16:creationId xmlns:a16="http://schemas.microsoft.com/office/drawing/2014/main" id="{A2F66208-23FE-B9DC-A614-0AAE2B5A1444}"/>
              </a:ext>
            </a:extLst>
          </p:cNvPr>
          <p:cNvSpPr/>
          <p:nvPr/>
        </p:nvSpPr>
        <p:spPr>
          <a:xfrm>
            <a:off x="68218" y="-3322751"/>
            <a:ext cx="1084521" cy="1999842"/>
          </a:xfrm>
          <a:prstGeom prst="star4">
            <a:avLst>
              <a:gd name="adj" fmla="val 10590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4" name="Star: 4 Points 3">
            <a:extLst>
              <a:ext uri="{FF2B5EF4-FFF2-40B4-BE49-F238E27FC236}">
                <a16:creationId xmlns:a16="http://schemas.microsoft.com/office/drawing/2014/main" id="{828CABCA-394E-5F2D-6C5B-A10C12EC4657}"/>
              </a:ext>
            </a:extLst>
          </p:cNvPr>
          <p:cNvSpPr/>
          <p:nvPr/>
        </p:nvSpPr>
        <p:spPr>
          <a:xfrm>
            <a:off x="11002079" y="-3340471"/>
            <a:ext cx="1084521" cy="1999842"/>
          </a:xfrm>
          <a:prstGeom prst="star4">
            <a:avLst>
              <a:gd name="adj" fmla="val 10590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7538D88-AD9B-19B7-C55E-8368F1BF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99" y="1909061"/>
            <a:ext cx="10308199" cy="3039877"/>
          </a:xfrm>
        </p:spPr>
        <p:txBody>
          <a:bodyPr>
            <a:noAutofit/>
          </a:bodyPr>
          <a:lstStyle/>
          <a:p>
            <a:pPr algn="ctr"/>
            <a:r>
              <a:rPr lang="cs-CZ" sz="8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Jaké známe typy </a:t>
            </a:r>
            <a:r>
              <a:rPr lang="cs-CZ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(a který je nejlepší)</a:t>
            </a:r>
            <a:r>
              <a:rPr lang="cs-CZ" sz="8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33628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64A04A-735C-A6D1-787E-DD0D07E8E0E3}"/>
              </a:ext>
            </a:extLst>
          </p:cNvPr>
          <p:cNvSpPr/>
          <p:nvPr/>
        </p:nvSpPr>
        <p:spPr>
          <a:xfrm>
            <a:off x="230350" y="4928482"/>
            <a:ext cx="2346260" cy="118459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DE5AC8-C14E-A2E0-D18F-A687FF99B6A4}"/>
              </a:ext>
            </a:extLst>
          </p:cNvPr>
          <p:cNvSpPr/>
          <p:nvPr/>
        </p:nvSpPr>
        <p:spPr>
          <a:xfrm>
            <a:off x="9615390" y="4928482"/>
            <a:ext cx="2346260" cy="118459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6378227-D0CF-E640-6804-CF3F0C56A69B}"/>
              </a:ext>
            </a:extLst>
          </p:cNvPr>
          <p:cNvSpPr/>
          <p:nvPr/>
        </p:nvSpPr>
        <p:spPr>
          <a:xfrm>
            <a:off x="4922870" y="988881"/>
            <a:ext cx="2346260" cy="118459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C0AB126-5C0B-AAB6-7C78-3F2D664E0464}"/>
              </a:ext>
            </a:extLst>
          </p:cNvPr>
          <p:cNvSpPr/>
          <p:nvPr/>
        </p:nvSpPr>
        <p:spPr>
          <a:xfrm>
            <a:off x="2576610" y="2836703"/>
            <a:ext cx="2346260" cy="118459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E586E92-437C-7597-AEFA-BFB73E0EAE41}"/>
              </a:ext>
            </a:extLst>
          </p:cNvPr>
          <p:cNvSpPr/>
          <p:nvPr/>
        </p:nvSpPr>
        <p:spPr>
          <a:xfrm>
            <a:off x="7269130" y="2836703"/>
            <a:ext cx="2346260" cy="118459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D1CE823-8A58-3148-5ED2-209C00866598}"/>
              </a:ext>
            </a:extLst>
          </p:cNvPr>
          <p:cNvSpPr/>
          <p:nvPr/>
        </p:nvSpPr>
        <p:spPr>
          <a:xfrm>
            <a:off x="4922870" y="4928482"/>
            <a:ext cx="2346260" cy="118459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77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4EBA7-318C-F799-22D9-4D0110AF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2267CC-21FC-0499-5748-FAD0078C5384}"/>
              </a:ext>
            </a:extLst>
          </p:cNvPr>
          <p:cNvSpPr/>
          <p:nvPr/>
        </p:nvSpPr>
        <p:spPr>
          <a:xfrm>
            <a:off x="876413" y="832906"/>
            <a:ext cx="10474522" cy="52884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8DC773-78AB-0D96-8AC7-96F443D50525}"/>
              </a:ext>
            </a:extLst>
          </p:cNvPr>
          <p:cNvSpPr/>
          <p:nvPr/>
        </p:nvSpPr>
        <p:spPr>
          <a:xfrm>
            <a:off x="734986" y="728770"/>
            <a:ext cx="10887034" cy="5496712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4800" b="1" dirty="0"/>
              <a:t>Exponenciální složitost – O(aⁿ)</a:t>
            </a:r>
          </a:p>
          <a:p>
            <a:pPr algn="ctr"/>
            <a:r>
              <a:rPr lang="cs-CZ" sz="2000" dirty="0"/>
              <a:t>Výpočet trvá aⁿ kroků (nejčastěji 2ⁿ ), kde a je konstanta</a:t>
            </a:r>
            <a:endParaRPr lang="cs-CZ" sz="4400" b="1" dirty="0"/>
          </a:p>
          <a:p>
            <a:pPr algn="ctr"/>
            <a:endParaRPr lang="cs-CZ" sz="4000" b="1" dirty="0"/>
          </a:p>
          <a:p>
            <a:pPr algn="ctr"/>
            <a:endParaRPr lang="cs-CZ" sz="4000" b="1" dirty="0"/>
          </a:p>
          <a:p>
            <a:pPr algn="ctr"/>
            <a:endParaRPr lang="cs-CZ" sz="4000" b="1" dirty="0"/>
          </a:p>
          <a:p>
            <a:pPr algn="ctr"/>
            <a:endParaRPr lang="cs-CZ" sz="4000" b="1" dirty="0"/>
          </a:p>
          <a:p>
            <a:pPr algn="ctr"/>
            <a:endParaRPr lang="cs-CZ" sz="4000" b="1" dirty="0"/>
          </a:p>
          <a:p>
            <a:pPr algn="ctr"/>
            <a:endParaRPr lang="cs-CZ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71AE7C-5BF0-6811-E867-90F4B702A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472" y="2626321"/>
            <a:ext cx="5752062" cy="33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8424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4E4EC-27F8-85BA-B287-BA62A0328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999087-2351-A9BB-93D4-C10B42E25BE8}"/>
              </a:ext>
            </a:extLst>
          </p:cNvPr>
          <p:cNvSpPr/>
          <p:nvPr/>
        </p:nvSpPr>
        <p:spPr>
          <a:xfrm>
            <a:off x="734986" y="728770"/>
            <a:ext cx="10887034" cy="549671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4800" b="1" dirty="0"/>
              <a:t>Polynomiální složitost – O(nᵃ)</a:t>
            </a:r>
          </a:p>
          <a:p>
            <a:pPr algn="ctr"/>
            <a:r>
              <a:rPr lang="cs-CZ" sz="2000" dirty="0"/>
              <a:t>Kvadratická O(n²), kubická O(n³), …</a:t>
            </a:r>
          </a:p>
          <a:p>
            <a:pPr algn="ctr"/>
            <a:endParaRPr lang="cs-CZ" sz="4000" b="1" dirty="0"/>
          </a:p>
          <a:p>
            <a:pPr algn="ctr"/>
            <a:endParaRPr lang="cs-CZ" sz="4000" b="1" dirty="0"/>
          </a:p>
          <a:p>
            <a:pPr algn="ctr"/>
            <a:endParaRPr lang="cs-CZ" sz="4000" b="1" dirty="0"/>
          </a:p>
          <a:p>
            <a:pPr algn="ctr"/>
            <a:endParaRPr lang="cs-CZ" sz="4000" b="1" dirty="0"/>
          </a:p>
          <a:p>
            <a:pPr algn="ctr"/>
            <a:endParaRPr lang="cs-CZ" sz="4000" b="1" dirty="0"/>
          </a:p>
          <a:p>
            <a:pPr algn="ctr"/>
            <a:endParaRPr lang="cs-CZ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887369-B17D-1B4A-6608-35B223EE3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04" y="2503618"/>
            <a:ext cx="8534398" cy="352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7684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3105A-3F14-31DE-AB62-287F4C86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2D9C78-A39F-BEBC-4DF1-D53DDA81C9A3}"/>
              </a:ext>
            </a:extLst>
          </p:cNvPr>
          <p:cNvSpPr/>
          <p:nvPr/>
        </p:nvSpPr>
        <p:spPr>
          <a:xfrm>
            <a:off x="783847" y="728770"/>
            <a:ext cx="10887034" cy="549671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b="1" dirty="0">
                <a:solidFill>
                  <a:schemeClr val="tx1"/>
                </a:solidFill>
              </a:rPr>
              <a:t>Kvazilineární složitost – O(n log n)</a:t>
            </a:r>
            <a:endParaRPr lang="cs-CZ" sz="4800" b="1" dirty="0">
              <a:solidFill>
                <a:schemeClr val="tx1"/>
              </a:solidFill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Kombinace lineární a logaritmické složitosti. </a:t>
            </a: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317D35-D7FA-3655-80AD-60D604B2D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212" y="2401220"/>
            <a:ext cx="5990582" cy="372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154474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FD6D8-97FA-A79F-A7DF-CD30D864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B3C65B-D978-0AC8-90BA-F167128DE572}"/>
              </a:ext>
            </a:extLst>
          </p:cNvPr>
          <p:cNvSpPr/>
          <p:nvPr/>
        </p:nvSpPr>
        <p:spPr>
          <a:xfrm>
            <a:off x="734986" y="728770"/>
            <a:ext cx="10887034" cy="549671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4800" b="1" dirty="0">
                <a:solidFill>
                  <a:schemeClr val="tx1"/>
                </a:solidFill>
              </a:rPr>
              <a:t>Lineární složitost – O(n)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Každý prvek se zpracuje jednou </a:t>
            </a: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B31BCB-AF98-E527-7A42-F6767AA57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816" y="2640073"/>
            <a:ext cx="6529374" cy="288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819817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15A80-6B54-CEB5-98A2-08CAC3C19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6B85A6-2BFD-6D52-8EC8-CAD210461460}"/>
              </a:ext>
            </a:extLst>
          </p:cNvPr>
          <p:cNvSpPr/>
          <p:nvPr/>
        </p:nvSpPr>
        <p:spPr>
          <a:xfrm>
            <a:off x="734986" y="728770"/>
            <a:ext cx="10887034" cy="549671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b="1" dirty="0">
                <a:solidFill>
                  <a:schemeClr val="tx1"/>
                </a:solidFill>
              </a:rPr>
              <a:t>Logaritmická složitost – O(log n)</a:t>
            </a:r>
            <a:endParaRPr lang="cs-CZ" sz="4800" b="1" dirty="0">
              <a:solidFill>
                <a:schemeClr val="tx1"/>
              </a:solidFill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Typicky se problém </a:t>
            </a:r>
            <a:r>
              <a:rPr kumimoji="0" lang="cs-CZ" altLang="cs-C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dělí na poloviny </a:t>
            </a:r>
            <a:r>
              <a:rPr kumimoji="0" lang="cs-CZ" altLang="cs-CZ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(např. </a:t>
            </a:r>
            <a:r>
              <a:rPr lang="cs-CZ" sz="2000" dirty="0">
                <a:solidFill>
                  <a:schemeClr val="tx1"/>
                </a:solidFill>
              </a:rPr>
              <a:t>binární vyhledávání</a:t>
            </a:r>
            <a:r>
              <a:rPr kumimoji="0" lang="cs-CZ" altLang="cs-CZ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</a:t>
            </a: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B966DE-C439-045A-8355-4CE1D0468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CE308-EAA4-DC8B-31C5-ECB6F1917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218" y="2493390"/>
            <a:ext cx="5660570" cy="353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716454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FAB28-1845-24E1-244B-8CBD6F76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4F0854-EC30-BB56-CDD0-91A612937C55}"/>
              </a:ext>
            </a:extLst>
          </p:cNvPr>
          <p:cNvSpPr/>
          <p:nvPr/>
        </p:nvSpPr>
        <p:spPr>
          <a:xfrm>
            <a:off x="734986" y="728770"/>
            <a:ext cx="10887034" cy="549671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4800" b="1" dirty="0">
                <a:solidFill>
                  <a:schemeClr val="tx1"/>
                </a:solidFill>
              </a:rPr>
              <a:t>Konstantní složitost – O(1)</a:t>
            </a:r>
          </a:p>
          <a:p>
            <a:pPr algn="ctr"/>
            <a:r>
              <a:rPr lang="cs-CZ" sz="2000" dirty="0">
                <a:solidFill>
                  <a:schemeClr val="tx1"/>
                </a:solidFill>
              </a:rPr>
              <a:t>Algoritmus vždy provede </a:t>
            </a:r>
            <a:r>
              <a:rPr lang="cs-CZ" sz="2000" b="1" dirty="0">
                <a:solidFill>
                  <a:schemeClr val="tx1"/>
                </a:solidFill>
              </a:rPr>
              <a:t>stejný počet kroků</a:t>
            </a:r>
            <a:r>
              <a:rPr lang="cs-CZ" sz="2000" dirty="0">
                <a:solidFill>
                  <a:schemeClr val="tx1"/>
                </a:solidFill>
              </a:rPr>
              <a:t>, nezávisle na velikosti vstupu.</a:t>
            </a:r>
          </a:p>
          <a:p>
            <a:pPr algn="ctr"/>
            <a:endParaRPr lang="cs-CZ" sz="2000" dirty="0">
              <a:solidFill>
                <a:schemeClr val="tx1"/>
              </a:solidFill>
            </a:endParaRPr>
          </a:p>
          <a:p>
            <a:pPr algn="ctr"/>
            <a:r>
              <a:rPr lang="cs-CZ" sz="2000" dirty="0">
                <a:solidFill>
                  <a:schemeClr val="tx1"/>
                </a:solidFill>
              </a:rPr>
              <a:t>.</a:t>
            </a:r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sz="4000" b="1" dirty="0">
              <a:solidFill>
                <a:schemeClr val="tx1"/>
              </a:solidFill>
            </a:endParaRPr>
          </a:p>
          <a:p>
            <a:pPr algn="ctr"/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0674AB-7EA7-DEC2-1250-6F18F6E98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881F85-4DF1-7DDB-88A4-BD18D2D70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055" y="2763825"/>
            <a:ext cx="8150896" cy="200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70746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0512F9-9049-1933-27D2-327DA92E8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65EC27-DD0D-DA21-F759-5CA480AA7387}"/>
              </a:ext>
            </a:extLst>
          </p:cNvPr>
          <p:cNvSpPr/>
          <p:nvPr/>
        </p:nvSpPr>
        <p:spPr>
          <a:xfrm>
            <a:off x="230350" y="4928482"/>
            <a:ext cx="2346260" cy="118459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Kvazilineární složitost – O(n log n)</a:t>
            </a:r>
            <a:endParaRPr lang="cs-CZ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2FC6B7-D4C4-0365-BEBD-68DA9EF94154}"/>
              </a:ext>
            </a:extLst>
          </p:cNvPr>
          <p:cNvSpPr/>
          <p:nvPr/>
        </p:nvSpPr>
        <p:spPr>
          <a:xfrm>
            <a:off x="9615390" y="4928482"/>
            <a:ext cx="2346260" cy="118459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/>
              <a:t>Exponenciální složitost – O(aⁿ)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2C69B2D-7B42-17DD-F651-D99B7E3F929A}"/>
              </a:ext>
            </a:extLst>
          </p:cNvPr>
          <p:cNvSpPr/>
          <p:nvPr/>
        </p:nvSpPr>
        <p:spPr>
          <a:xfrm>
            <a:off x="4922870" y="988881"/>
            <a:ext cx="2346260" cy="118459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>
                <a:solidFill>
                  <a:schemeClr val="tx1"/>
                </a:solidFill>
              </a:rPr>
              <a:t>Konstantní složitost – O(1)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522454B-33B0-8A74-144B-FC50FC0A74E2}"/>
              </a:ext>
            </a:extLst>
          </p:cNvPr>
          <p:cNvSpPr/>
          <p:nvPr/>
        </p:nvSpPr>
        <p:spPr>
          <a:xfrm>
            <a:off x="2576610" y="2836703"/>
            <a:ext cx="2346260" cy="118459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Logaritmická složitost – O(log n)</a:t>
            </a:r>
            <a:endParaRPr lang="cs-CZ" b="1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A7648D-D006-1672-197F-A752EF73E3C7}"/>
              </a:ext>
            </a:extLst>
          </p:cNvPr>
          <p:cNvSpPr/>
          <p:nvPr/>
        </p:nvSpPr>
        <p:spPr>
          <a:xfrm>
            <a:off x="7269130" y="2836703"/>
            <a:ext cx="2346260" cy="118459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>
                <a:solidFill>
                  <a:schemeClr val="tx1"/>
                </a:solidFill>
              </a:rPr>
              <a:t>Lineární složitost</a:t>
            </a:r>
          </a:p>
          <a:p>
            <a:pPr algn="ctr"/>
            <a:r>
              <a:rPr lang="cs-CZ" b="1" dirty="0">
                <a:solidFill>
                  <a:schemeClr val="tx1"/>
                </a:solidFill>
              </a:rPr>
              <a:t> – O(n)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7110618-0CF5-7990-566D-1BABFC9A6E7F}"/>
              </a:ext>
            </a:extLst>
          </p:cNvPr>
          <p:cNvSpPr/>
          <p:nvPr/>
        </p:nvSpPr>
        <p:spPr>
          <a:xfrm>
            <a:off x="4922870" y="4928482"/>
            <a:ext cx="2346260" cy="118459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/>
              <a:t>Polynomiální složitost – O(nᵃ)</a:t>
            </a:r>
          </a:p>
        </p:txBody>
      </p:sp>
    </p:spTree>
    <p:extLst>
      <p:ext uri="{BB962C8B-B14F-4D97-AF65-F5344CB8AC3E}">
        <p14:creationId xmlns:p14="http://schemas.microsoft.com/office/powerpoint/2010/main" val="887443999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00">
              <a:srgbClr val="00B0F0"/>
            </a:gs>
            <a:gs pos="57000">
              <a:srgbClr val="0070C0"/>
            </a:gs>
            <a:gs pos="95000">
              <a:srgbClr val="002060"/>
            </a:gs>
          </a:gsLst>
          <a:lin ang="13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7444D-5AF0-7D65-E63E-CE22C69AD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469B4D-94D3-893F-C55C-73DA2575C0C8}"/>
              </a:ext>
            </a:extLst>
          </p:cNvPr>
          <p:cNvSpPr/>
          <p:nvPr/>
        </p:nvSpPr>
        <p:spPr>
          <a:xfrm>
            <a:off x="-12413857" y="4928482"/>
            <a:ext cx="2346260" cy="118459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Kvazilineární složitost – O(n log n)</a:t>
            </a:r>
            <a:endParaRPr lang="cs-CZ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4A2B29-F405-8BE8-F05E-20C36268DC42}"/>
              </a:ext>
            </a:extLst>
          </p:cNvPr>
          <p:cNvSpPr/>
          <p:nvPr/>
        </p:nvSpPr>
        <p:spPr>
          <a:xfrm>
            <a:off x="-3028817" y="4928482"/>
            <a:ext cx="2346260" cy="118459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/>
              <a:t>Exponenciální složitost – O(aⁿ)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B13E83A-3722-3574-06B2-0A89842DB82D}"/>
              </a:ext>
            </a:extLst>
          </p:cNvPr>
          <p:cNvSpPr/>
          <p:nvPr/>
        </p:nvSpPr>
        <p:spPr>
          <a:xfrm>
            <a:off x="-7721337" y="988881"/>
            <a:ext cx="2346260" cy="118459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>
                <a:solidFill>
                  <a:schemeClr val="tx1"/>
                </a:solidFill>
              </a:rPr>
              <a:t>Konstantní složitost – O(1)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0F8E3D1-B916-A873-0162-BEB744A0E350}"/>
              </a:ext>
            </a:extLst>
          </p:cNvPr>
          <p:cNvSpPr/>
          <p:nvPr/>
        </p:nvSpPr>
        <p:spPr>
          <a:xfrm>
            <a:off x="-10067597" y="2836703"/>
            <a:ext cx="2346260" cy="118459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Logaritmická složitost – O(log n)</a:t>
            </a:r>
            <a:endParaRPr lang="cs-CZ" b="1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A619F6D-AA12-1784-D480-7F45483EC53F}"/>
              </a:ext>
            </a:extLst>
          </p:cNvPr>
          <p:cNvSpPr/>
          <p:nvPr/>
        </p:nvSpPr>
        <p:spPr>
          <a:xfrm>
            <a:off x="-5375077" y="2836703"/>
            <a:ext cx="2346260" cy="118459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>
                <a:solidFill>
                  <a:schemeClr val="tx1"/>
                </a:solidFill>
              </a:rPr>
              <a:t>Lineární složitost</a:t>
            </a:r>
          </a:p>
          <a:p>
            <a:pPr algn="ctr"/>
            <a:r>
              <a:rPr lang="cs-CZ" b="1" dirty="0">
                <a:solidFill>
                  <a:schemeClr val="tx1"/>
                </a:solidFill>
              </a:rPr>
              <a:t> – O(n)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BFAA70-1EB5-5FF8-2DC2-45F5EC75535A}"/>
              </a:ext>
            </a:extLst>
          </p:cNvPr>
          <p:cNvSpPr/>
          <p:nvPr/>
        </p:nvSpPr>
        <p:spPr>
          <a:xfrm>
            <a:off x="-7721337" y="4928482"/>
            <a:ext cx="2346260" cy="118459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/>
              <a:t>Polynomiální složitost – O(nᵃ)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4749A-23F0-583E-9A00-8B4E1A4B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3" y="1909061"/>
            <a:ext cx="9886521" cy="3039877"/>
          </a:xfrm>
        </p:spPr>
        <p:txBody>
          <a:bodyPr>
            <a:noAutofit/>
          </a:bodyPr>
          <a:lstStyle/>
          <a:p>
            <a:r>
              <a:rPr lang="cs-CZ" sz="113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Proč se to řeší?</a:t>
            </a:r>
          </a:p>
        </p:txBody>
      </p:sp>
    </p:spTree>
    <p:extLst>
      <p:ext uri="{BB962C8B-B14F-4D97-AF65-F5344CB8AC3E}">
        <p14:creationId xmlns:p14="http://schemas.microsoft.com/office/powerpoint/2010/main" val="34758514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B3BD2E-5B45-6D3C-84C5-A103A37C8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22" y="364386"/>
            <a:ext cx="11945556" cy="612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88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00">
              <a:srgbClr val="00B0F0"/>
            </a:gs>
            <a:gs pos="57000">
              <a:srgbClr val="0070C0"/>
            </a:gs>
            <a:gs pos="95000">
              <a:srgbClr val="002060"/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F08B7-0F8E-AB8F-C5BC-446B42DCD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Co všechno bych stihla než dojede kód s exponenciální složitostí?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9F316-2EE8-7554-A6EB-54BC8D67F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511" y="1825625"/>
            <a:ext cx="10941289" cy="4891434"/>
          </a:xfrm>
        </p:spPr>
        <p:txBody>
          <a:bodyPr numCol="1"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Natočit a zhlédnout reakci na reakci na reakci na reakci na reakci </a:t>
            </a:r>
            <a:r>
              <a:rPr lang="cs-CZ" sz="3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na reakci na reakci </a:t>
            </a:r>
            <a:r>
              <a:rPr lang="cs-CZ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na reakci na reakci </a:t>
            </a:r>
            <a:r>
              <a:rPr lang="cs-CZ" sz="24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na reakci na reakci </a:t>
            </a:r>
            <a:r>
              <a:rPr lang="cs-CZ" sz="20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na reakci na reakci na reakci na </a:t>
            </a:r>
            <a:r>
              <a:rPr lang="cs-CZ" sz="1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reakci na reakci na reakci </a:t>
            </a:r>
            <a:r>
              <a:rPr lang="cs-CZ" sz="1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na reakci na reakci </a:t>
            </a:r>
            <a:r>
              <a:rPr lang="cs-CZ" sz="14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na reakci na reakci na reakci na </a:t>
            </a:r>
            <a:r>
              <a:rPr lang="cs-CZ" sz="1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reakci na reakci na reakci na reakci…</a:t>
            </a:r>
          </a:p>
          <a:p>
            <a:pPr>
              <a:lnSpc>
                <a:spcPct val="100000"/>
              </a:lnSpc>
            </a:pPr>
            <a:r>
              <a:rPr lang="cs-CZ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Přesvědčit </a:t>
            </a:r>
            <a:r>
              <a:rPr lang="cs-CZ" sz="32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Kopejsku</a:t>
            </a:r>
            <a:r>
              <a:rPr lang="cs-CZ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, že </a:t>
            </a:r>
            <a:r>
              <a:rPr lang="cs-CZ" sz="32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Lua</a:t>
            </a:r>
            <a:r>
              <a:rPr lang="cs-CZ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za nic nestojí</a:t>
            </a:r>
          </a:p>
          <a:p>
            <a:pPr>
              <a:lnSpc>
                <a:spcPct val="100000"/>
              </a:lnSpc>
            </a:pPr>
            <a:r>
              <a:rPr lang="cs-CZ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Naučit se Vladaře z paměti</a:t>
            </a:r>
          </a:p>
          <a:p>
            <a:pPr>
              <a:lnSpc>
                <a:spcPct val="100000"/>
              </a:lnSpc>
            </a:pPr>
            <a:r>
              <a:rPr lang="cs-CZ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Naučit třídu M používat deodorant</a:t>
            </a:r>
          </a:p>
          <a:p>
            <a:pPr>
              <a:lnSpc>
                <a:spcPct val="100000"/>
              </a:lnSpc>
            </a:pPr>
            <a:r>
              <a:rPr lang="cs-CZ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Možná jednou udělat maturitu</a:t>
            </a:r>
          </a:p>
          <a:p>
            <a:pPr>
              <a:lnSpc>
                <a:spcPct val="100000"/>
              </a:lnSpc>
            </a:pPr>
            <a:r>
              <a:rPr lang="cs-CZ" sz="3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Přestat se bát s Borovičkou v autě</a:t>
            </a:r>
          </a:p>
        </p:txBody>
      </p:sp>
    </p:spTree>
    <p:extLst>
      <p:ext uri="{BB962C8B-B14F-4D97-AF65-F5344CB8AC3E}">
        <p14:creationId xmlns:p14="http://schemas.microsoft.com/office/powerpoint/2010/main" val="302743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00">
              <a:srgbClr val="92D050"/>
            </a:gs>
            <a:gs pos="15000">
              <a:srgbClr val="00B050"/>
            </a:gs>
            <a:gs pos="95000">
              <a:schemeClr val="accent6">
                <a:lumMod val="40000"/>
                <a:lumOff val="60000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01AD-4796-8DE4-B554-7DE8248F7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Bahnschrift SemiBold SemiConden" panose="020B0502040204020203" pitchFamily="34" charset="0"/>
              </a:rPr>
              <a:t>P</a:t>
            </a:r>
            <a:r>
              <a:rPr lang="pt-BR" dirty="0">
                <a:latin typeface="Bahnschrift SemiBold SemiConden" panose="020B0502040204020203" pitchFamily="34" charset="0"/>
              </a:rPr>
              <a:t>aměťová složitost</a:t>
            </a:r>
            <a:endParaRPr lang="cs-CZ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40FFC-4A68-3DBC-CD9F-EEDAD4736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Bahnschrift Light" panose="020B0502040204020203" pitchFamily="34" charset="0"/>
              </a:rPr>
              <a:t>Co zkoumá?</a:t>
            </a:r>
          </a:p>
          <a:p>
            <a:pPr lvl="1"/>
            <a:r>
              <a:rPr lang="cs-CZ" altLang="cs-CZ" dirty="0">
                <a:latin typeface="Bahnschrift Light" panose="020B0502040204020203" pitchFamily="34" charset="0"/>
              </a:rPr>
              <a:t>Kolik paměti (RAM) algoritmus potřebuje</a:t>
            </a:r>
          </a:p>
          <a:p>
            <a:r>
              <a:rPr lang="cs-CZ" dirty="0">
                <a:latin typeface="Bahnschrift Light" panose="020B0502040204020203" pitchFamily="34" charset="0"/>
              </a:rPr>
              <a:t>Na čem záleží?</a:t>
            </a:r>
          </a:p>
          <a:p>
            <a:pPr lvl="1"/>
            <a:r>
              <a:rPr lang="cs-CZ" dirty="0">
                <a:latin typeface="Bahnschrift Light" panose="020B0502040204020203" pitchFamily="34" charset="0"/>
              </a:rPr>
              <a:t>Na vstupních datech?</a:t>
            </a:r>
          </a:p>
          <a:p>
            <a:pPr lvl="1"/>
            <a:r>
              <a:rPr lang="cs-CZ" dirty="0">
                <a:latin typeface="Bahnschrift Light" panose="020B0502040204020203" pitchFamily="34" charset="0"/>
              </a:rPr>
              <a:t>Na pomocných proměnných? </a:t>
            </a:r>
          </a:p>
          <a:p>
            <a:pPr marL="457200" lvl="1" indent="0">
              <a:buNone/>
            </a:pPr>
            <a:endParaRPr lang="cs-CZ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cs-CZ" dirty="0">
                <a:latin typeface="Bahnschrift SemiBold SemiConden" panose="020B0502040204020203" pitchFamily="34" charset="0"/>
              </a:rPr>
              <a:t>		</a:t>
            </a:r>
            <a:r>
              <a:rPr lang="cs-CZ" b="1" dirty="0">
                <a:latin typeface="Bahnschrift SemiBold SemiConden" panose="020B0502040204020203" pitchFamily="34" charset="0"/>
              </a:rPr>
              <a:t>In-place algoritmy (na místě)</a:t>
            </a:r>
            <a:endParaRPr lang="cs-CZ" dirty="0">
              <a:latin typeface="Bahnschrift SemiBold SemiConden" panose="020B0502040204020203" pitchFamily="34" charset="0"/>
            </a:endParaRPr>
          </a:p>
          <a:p>
            <a:pPr lvl="1"/>
            <a:endParaRPr lang="cs-CZ" dirty="0">
              <a:latin typeface="Arial" panose="020B0604020202020204" pitchFamily="34" charset="0"/>
            </a:endParaRPr>
          </a:p>
          <a:p>
            <a:pPr lvl="1"/>
            <a:endParaRPr lang="cs-CZ" dirty="0">
              <a:latin typeface="Arial" panose="020B0604020202020204" pitchFamily="34" charset="0"/>
            </a:endParaRPr>
          </a:p>
          <a:p>
            <a:pPr marL="1828800" lvl="4" indent="0">
              <a:buNone/>
            </a:pPr>
            <a:r>
              <a:rPr lang="cs-CZ" sz="2800" b="1" dirty="0">
                <a:latin typeface="Bahnschrift SemiBold SemiConden" panose="020B0502040204020203" pitchFamily="34" charset="0"/>
              </a:rPr>
              <a:t>Out-</a:t>
            </a:r>
            <a:r>
              <a:rPr lang="cs-CZ" sz="2800" b="1" dirty="0" err="1">
                <a:latin typeface="Bahnschrift SemiBold SemiConden" panose="020B0502040204020203" pitchFamily="34" charset="0"/>
              </a:rPr>
              <a:t>of</a:t>
            </a:r>
            <a:r>
              <a:rPr lang="cs-CZ" sz="2800" b="1" dirty="0">
                <a:latin typeface="Bahnschrift SemiBold SemiConden" panose="020B0502040204020203" pitchFamily="34" charset="0"/>
              </a:rPr>
              <a:t>-place</a:t>
            </a:r>
            <a:r>
              <a:rPr lang="cs-CZ" sz="2800" b="1" dirty="0"/>
              <a:t> algoritmy (mimo místo)</a:t>
            </a:r>
            <a:endParaRPr lang="cs-CZ" sz="2800" dirty="0"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D133B67-2EA9-7471-0A6B-93297740FD01}"/>
              </a:ext>
            </a:extLst>
          </p:cNvPr>
          <p:cNvCxnSpPr>
            <a:cxnSpLocks/>
          </p:cNvCxnSpPr>
          <p:nvPr/>
        </p:nvCxnSpPr>
        <p:spPr>
          <a:xfrm flipV="1">
            <a:off x="1200150" y="4661377"/>
            <a:ext cx="1419297" cy="55070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135529-B234-68B4-E8CD-9146A511D1C8}"/>
              </a:ext>
            </a:extLst>
          </p:cNvPr>
          <p:cNvCxnSpPr>
            <a:cxnSpLocks/>
          </p:cNvCxnSpPr>
          <p:nvPr/>
        </p:nvCxnSpPr>
        <p:spPr>
          <a:xfrm>
            <a:off x="1200150" y="5212080"/>
            <a:ext cx="1419297" cy="67308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BE8E78B4-DD30-1E24-6669-6CE63CCB5DCD}"/>
              </a:ext>
            </a:extLst>
          </p:cNvPr>
          <p:cNvSpPr/>
          <p:nvPr/>
        </p:nvSpPr>
        <p:spPr>
          <a:xfrm>
            <a:off x="4583524" y="3069566"/>
            <a:ext cx="494726" cy="568848"/>
          </a:xfrm>
          <a:prstGeom prst="mathMultiply">
            <a:avLst>
              <a:gd name="adj1" fmla="val 1724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5" name="Smiley Face 24">
            <a:extLst>
              <a:ext uri="{FF2B5EF4-FFF2-40B4-BE49-F238E27FC236}">
                <a16:creationId xmlns:a16="http://schemas.microsoft.com/office/drawing/2014/main" id="{93CF2ECE-38FC-82F3-7B28-B6FB3B171694}"/>
              </a:ext>
            </a:extLst>
          </p:cNvPr>
          <p:cNvSpPr/>
          <p:nvPr/>
        </p:nvSpPr>
        <p:spPr>
          <a:xfrm>
            <a:off x="5640575" y="3638414"/>
            <a:ext cx="355358" cy="355358"/>
          </a:xfrm>
          <a:prstGeom prst="smileyFac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4" name="Smiley Face 24">
            <a:extLst>
              <a:ext uri="{FF2B5EF4-FFF2-40B4-BE49-F238E27FC236}">
                <a16:creationId xmlns:a16="http://schemas.microsoft.com/office/drawing/2014/main" id="{944DE0FB-31CB-DBCD-4705-DD4C2F7DBAAB}"/>
              </a:ext>
            </a:extLst>
          </p:cNvPr>
          <p:cNvSpPr/>
          <p:nvPr/>
        </p:nvSpPr>
        <p:spPr>
          <a:xfrm>
            <a:off x="7228370" y="2291623"/>
            <a:ext cx="355358" cy="355358"/>
          </a:xfrm>
          <a:prstGeom prst="smileyFac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74949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00">
              <a:srgbClr val="92D050"/>
            </a:gs>
            <a:gs pos="15000">
              <a:srgbClr val="00B050"/>
            </a:gs>
            <a:gs pos="95000">
              <a:schemeClr val="accent6">
                <a:lumMod val="40000"/>
                <a:lumOff val="60000"/>
              </a:schemeClr>
            </a:gs>
          </a:gsLst>
          <a:lin ang="13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589088-2343-29A8-C2DD-22AF19330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ABB26F4-8CDD-4468-4057-BE8004506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362536"/>
              </p:ext>
            </p:extLst>
          </p:nvPr>
        </p:nvGraphicFramePr>
        <p:xfrm>
          <a:off x="1127531" y="791250"/>
          <a:ext cx="9936938" cy="527550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4968469">
                  <a:extLst>
                    <a:ext uri="{9D8B030D-6E8A-4147-A177-3AD203B41FA5}">
                      <a16:colId xmlns:a16="http://schemas.microsoft.com/office/drawing/2014/main" val="1574338445"/>
                    </a:ext>
                  </a:extLst>
                </a:gridCol>
                <a:gridCol w="4968469">
                  <a:extLst>
                    <a:ext uri="{9D8B030D-6E8A-4147-A177-3AD203B41FA5}">
                      <a16:colId xmlns:a16="http://schemas.microsoft.com/office/drawing/2014/main" val="1354707442"/>
                    </a:ext>
                  </a:extLst>
                </a:gridCol>
              </a:tblGrid>
              <a:tr h="879250">
                <a:tc>
                  <a:txBody>
                    <a:bodyPr/>
                    <a:lstStyle/>
                    <a:p>
                      <a:pPr algn="ctr"/>
                      <a:r>
                        <a:rPr lang="cs-CZ" sz="2800" b="1" kern="1200" dirty="0">
                          <a:solidFill>
                            <a:schemeClr val="lt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In-place</a:t>
                      </a:r>
                      <a:endParaRPr lang="cs-CZ" sz="2800" b="1" i="0" kern="1200" dirty="0">
                        <a:solidFill>
                          <a:schemeClr val="lt1"/>
                        </a:solidFill>
                        <a:effectLst/>
                        <a:latin typeface="Bahnschrift SemiBold SemiConden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800" b="1" dirty="0">
                          <a:latin typeface="Bahnschrift SemiBold SemiConden" panose="020B0502040204020203" pitchFamily="34" charset="0"/>
                        </a:rPr>
                        <a:t>Out-</a:t>
                      </a:r>
                      <a:r>
                        <a:rPr lang="cs-CZ" sz="2800" b="1" dirty="0" err="1">
                          <a:latin typeface="Bahnschrift SemiBold SemiConden" panose="020B0502040204020203" pitchFamily="34" charset="0"/>
                        </a:rPr>
                        <a:t>of</a:t>
                      </a:r>
                      <a:r>
                        <a:rPr lang="cs-CZ" sz="2800" b="1" dirty="0">
                          <a:latin typeface="Bahnschrift SemiBold SemiConden" panose="020B0502040204020203" pitchFamily="34" charset="0"/>
                        </a:rPr>
                        <a:t>-place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0177"/>
                  </a:ext>
                </a:extLst>
              </a:tr>
              <a:tr h="879250">
                <a:tc>
                  <a:txBody>
                    <a:bodyPr/>
                    <a:lstStyle/>
                    <a:p>
                      <a:pPr algn="ctr"/>
                      <a:r>
                        <a:rPr lang="cs-CZ" sz="1800" b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Mění vstupní datovou strukturu </a:t>
                      </a:r>
                      <a:r>
                        <a:rPr lang="cs-CZ" sz="1800" b="1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přímo</a:t>
                      </a:r>
                      <a:r>
                        <a:rPr lang="cs-CZ" sz="1800" b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 na místě</a:t>
                      </a:r>
                      <a:endParaRPr lang="cs-CZ" sz="1800" b="0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b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Vyžadují </a:t>
                      </a:r>
                      <a:r>
                        <a:rPr lang="cs-CZ" sz="1800" b="1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dodatečnou paměť </a:t>
                      </a:r>
                      <a:r>
                        <a:rPr lang="cs-CZ" sz="1800" b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k uložení pracovních dat</a:t>
                      </a:r>
                      <a:endParaRPr lang="cs-CZ" sz="1800" b="0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967539"/>
                  </a:ext>
                </a:extLst>
              </a:tr>
              <a:tr h="8792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800" b="1" dirty="0">
                          <a:solidFill>
                            <a:schemeClr val="tx1"/>
                          </a:solidFill>
                          <a:latin typeface="Bahnschrift SemiBold SemiConden" panose="020B0502040204020203" pitchFamily="34" charset="0"/>
                        </a:rPr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b="1" dirty="0">
                          <a:solidFill>
                            <a:schemeClr val="tx1"/>
                          </a:solidFill>
                          <a:latin typeface="Bahnschrift SemiBold SemiConden" panose="020B0502040204020203" pitchFamily="34" charset="0"/>
                        </a:rPr>
                        <a:t>O(n)</a:t>
                      </a:r>
                      <a:endParaRPr lang="cs-CZ" sz="1800" b="1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267636"/>
                  </a:ext>
                </a:extLst>
              </a:tr>
              <a:tr h="879250">
                <a:tc>
                  <a:txBody>
                    <a:bodyPr/>
                    <a:lstStyle/>
                    <a:p>
                      <a:pPr algn="ctr"/>
                      <a:r>
                        <a:rPr lang="cs-CZ" sz="1800" b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Vysoká efektivita paměti, úspora místa, vhodné pro omezené prostředí.</a:t>
                      </a:r>
                      <a:endParaRPr lang="cs-CZ" sz="1800" b="0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b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 Často jednodušší implementace, zachovávají původní vstupní data.</a:t>
                      </a:r>
                      <a:endParaRPr lang="cs-CZ" sz="1800" b="0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4593362"/>
                  </a:ext>
                </a:extLst>
              </a:tr>
              <a:tr h="879250">
                <a:tc>
                  <a:txBody>
                    <a:bodyPr/>
                    <a:lstStyle/>
                    <a:p>
                      <a:pPr algn="ctr"/>
                      <a:r>
                        <a:rPr lang="cs-CZ" sz="1800" b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Mohou být složitější na implementaci, destruktivní (přepisují původní data).</a:t>
                      </a:r>
                      <a:endParaRPr lang="cs-CZ" sz="1800" b="0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b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Vyšší spotřeba paměti -&gt; pomalejší</a:t>
                      </a:r>
                      <a:endParaRPr lang="cs-CZ" sz="1800" b="0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058983"/>
                  </a:ext>
                </a:extLst>
              </a:tr>
              <a:tr h="879250">
                <a:tc>
                  <a:txBody>
                    <a:bodyPr/>
                    <a:lstStyle/>
                    <a:p>
                      <a:pPr algn="ctr"/>
                      <a:r>
                        <a:rPr lang="cs-CZ" sz="1800" b="0" kern="1200" dirty="0" err="1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Bubble</a:t>
                      </a:r>
                      <a:r>
                        <a:rPr lang="cs-CZ" sz="1800" b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 Sort, </a:t>
                      </a:r>
                      <a:r>
                        <a:rPr lang="cs-CZ" sz="1800" b="0" kern="1200" dirty="0" err="1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Insertion</a:t>
                      </a:r>
                      <a:r>
                        <a:rPr lang="cs-CZ" sz="1800" b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 Sort, </a:t>
                      </a:r>
                      <a:r>
                        <a:rPr lang="cs-CZ" sz="1800" b="0" kern="1200" dirty="0" err="1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Selection</a:t>
                      </a:r>
                      <a:r>
                        <a:rPr lang="cs-CZ" sz="1800" b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 Sort, </a:t>
                      </a:r>
                      <a:r>
                        <a:rPr lang="cs-CZ" sz="1800" b="0" kern="1200" dirty="0" err="1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Heapsort</a:t>
                      </a:r>
                      <a:r>
                        <a:rPr lang="cs-CZ" sz="1800" b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…</a:t>
                      </a:r>
                      <a:endParaRPr lang="cs-CZ" sz="1800" b="0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b="0" kern="1200" dirty="0" err="1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Merge</a:t>
                      </a:r>
                      <a:r>
                        <a:rPr lang="cs-CZ" sz="1800" b="0" kern="1200" dirty="0">
                          <a:solidFill>
                            <a:schemeClr val="dk1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 Sort</a:t>
                      </a:r>
                      <a:endParaRPr lang="cs-CZ" sz="1800" b="0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926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429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00">
              <a:srgbClr val="00B050"/>
            </a:gs>
            <a:gs pos="57000">
              <a:srgbClr val="92D050"/>
            </a:gs>
            <a:gs pos="95000">
              <a:schemeClr val="accent6">
                <a:lumMod val="20000"/>
                <a:lumOff val="80000"/>
              </a:schemeClr>
            </a:gs>
          </a:gsLst>
          <a:lin ang="13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FB06DF-0197-058F-03CE-7AD161B1A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C16EE84-3922-9D20-C094-0DA15569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739" y="1909061"/>
            <a:ext cx="9886521" cy="3039877"/>
          </a:xfrm>
        </p:spPr>
        <p:txBody>
          <a:bodyPr>
            <a:noAutofit/>
          </a:bodyPr>
          <a:lstStyle/>
          <a:p>
            <a:r>
              <a:rPr lang="cs-CZ" sz="11300" dirty="0">
                <a:latin typeface="Bahnschrift SemiBold SemiConden" panose="020B0502040204020203" pitchFamily="34" charset="0"/>
              </a:rPr>
              <a:t>Jak ji vyjádříme?</a:t>
            </a:r>
          </a:p>
        </p:txBody>
      </p:sp>
    </p:spTree>
    <p:extLst>
      <p:ext uri="{BB962C8B-B14F-4D97-AF65-F5344CB8AC3E}">
        <p14:creationId xmlns:p14="http://schemas.microsoft.com/office/powerpoint/2010/main" val="2387671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00">
              <a:srgbClr val="00B050"/>
            </a:gs>
            <a:gs pos="57000">
              <a:schemeClr val="accent6"/>
            </a:gs>
            <a:gs pos="95000">
              <a:srgbClr val="92D050"/>
            </a:gs>
          </a:gsLst>
          <a:lin ang="13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96E96-98E4-8CF7-F14B-0DA305F2C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AF374DB-C4FA-4EA8-BC72-DD297264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277912" y="1909061"/>
            <a:ext cx="9886521" cy="3039877"/>
          </a:xfrm>
        </p:spPr>
        <p:txBody>
          <a:bodyPr>
            <a:noAutofit/>
          </a:bodyPr>
          <a:lstStyle/>
          <a:p>
            <a:r>
              <a:rPr lang="cs-CZ" sz="113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Jak ji vyjádříme?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4D87F5-5AEA-3486-9775-61EE4F46B7AC}"/>
              </a:ext>
            </a:extLst>
          </p:cNvPr>
          <p:cNvSpPr txBox="1">
            <a:spLocks/>
          </p:cNvSpPr>
          <p:nvPr/>
        </p:nvSpPr>
        <p:spPr>
          <a:xfrm>
            <a:off x="1152739" y="1909061"/>
            <a:ext cx="9886521" cy="3039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sz="6000" b="1" dirty="0">
                <a:latin typeface="Bahnschrift SemiBold SemiConden" panose="020B0502040204020203" pitchFamily="34" charset="0"/>
              </a:rPr>
              <a:t>Asymptotická notace (O-notace) </a:t>
            </a:r>
          </a:p>
          <a:p>
            <a:pPr algn="ctr"/>
            <a:r>
              <a:rPr lang="cs-CZ" sz="6000" b="1" dirty="0">
                <a:latin typeface="Bahnschrift SemiBold SemiConden" panose="020B0502040204020203" pitchFamily="34" charset="0"/>
              </a:rPr>
              <a:t>nejrychleji rostoucího členu</a:t>
            </a:r>
            <a:endParaRPr lang="cs-CZ" sz="196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Star: 4 Points 2">
            <a:extLst>
              <a:ext uri="{FF2B5EF4-FFF2-40B4-BE49-F238E27FC236}">
                <a16:creationId xmlns:a16="http://schemas.microsoft.com/office/drawing/2014/main" id="{CF9455E7-9674-8E0E-CC6B-1BF9027F9A45}"/>
              </a:ext>
            </a:extLst>
          </p:cNvPr>
          <p:cNvSpPr/>
          <p:nvPr/>
        </p:nvSpPr>
        <p:spPr>
          <a:xfrm>
            <a:off x="68218" y="2218660"/>
            <a:ext cx="1084521" cy="1999842"/>
          </a:xfrm>
          <a:prstGeom prst="star4">
            <a:avLst>
              <a:gd name="adj" fmla="val 10590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4" name="Star: 4 Points 3">
            <a:extLst>
              <a:ext uri="{FF2B5EF4-FFF2-40B4-BE49-F238E27FC236}">
                <a16:creationId xmlns:a16="http://schemas.microsoft.com/office/drawing/2014/main" id="{F73FEE4E-50DA-78B9-2341-1C3E4E636A69}"/>
              </a:ext>
            </a:extLst>
          </p:cNvPr>
          <p:cNvSpPr/>
          <p:nvPr/>
        </p:nvSpPr>
        <p:spPr>
          <a:xfrm>
            <a:off x="11002079" y="2200940"/>
            <a:ext cx="1084521" cy="1999842"/>
          </a:xfrm>
          <a:prstGeom prst="star4">
            <a:avLst>
              <a:gd name="adj" fmla="val 10590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596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2D050"/>
            </a:gs>
            <a:gs pos="34000">
              <a:srgbClr val="00B050"/>
            </a:gs>
            <a:gs pos="60352">
              <a:srgbClr val="00B0F0"/>
            </a:gs>
            <a:gs pos="82000">
              <a:srgbClr val="0070C0"/>
            </a:gs>
            <a:gs pos="95000">
              <a:srgbClr val="002060"/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EB977-58CB-BC7D-8812-A67C76DBE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Bahnschrift SemiBold SemiConden" panose="020B0502040204020203" pitchFamily="34" charset="0"/>
              </a:rPr>
              <a:t>Vztah mezi </a:t>
            </a:r>
            <a:r>
              <a:rPr lang="cs-CZ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časovou</a:t>
            </a:r>
            <a:r>
              <a:rPr lang="cs-CZ" dirty="0">
                <a:latin typeface="Bahnschrift SemiBold SemiConden" panose="020B0502040204020203" pitchFamily="34" charset="0"/>
              </a:rPr>
              <a:t> a </a:t>
            </a:r>
            <a:r>
              <a:rPr lang="pt-BR" dirty="0">
                <a:latin typeface="Bahnschrift SemiBold SemiConden" panose="020B0502040204020203" pitchFamily="34" charset="0"/>
              </a:rPr>
              <a:t>paměťov</a:t>
            </a:r>
            <a:r>
              <a:rPr lang="cs-CZ" dirty="0">
                <a:latin typeface="Bahnschrift SemiBold SemiConden" panose="020B0502040204020203" pitchFamily="34" charset="0"/>
              </a:rPr>
              <a:t>ou</a:t>
            </a:r>
            <a:r>
              <a:rPr lang="pt-BR" dirty="0">
                <a:latin typeface="Bahnschrift SemiBold SemiConden" panose="020B0502040204020203" pitchFamily="34" charset="0"/>
              </a:rPr>
              <a:t> složitost</a:t>
            </a:r>
            <a:r>
              <a:rPr lang="cs-CZ" dirty="0">
                <a:latin typeface="Bahnschrift SemiBold SemiConden" panose="020B0502040204020203" pitchFamily="34" charset="0"/>
              </a:rPr>
              <a:t>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CBAAF-73B0-AC7B-2DCA-8B73AE120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>
                <a:latin typeface="Bahnschrift Light" panose="020B0502040204020203" pitchFamily="34" charset="0"/>
              </a:rPr>
              <a:t>Trade-off</a:t>
            </a:r>
            <a:endParaRPr lang="cs-CZ" dirty="0">
              <a:latin typeface="Bahnschrift Light" panose="020B0502040204020203" pitchFamily="34" charset="0"/>
            </a:endParaRPr>
          </a:p>
          <a:p>
            <a:pPr lvl="1"/>
            <a:r>
              <a:rPr lang="cs-CZ" dirty="0">
                <a:latin typeface="Bahnschrift Light" panose="020B0502040204020203" pitchFamily="34" charset="0"/>
              </a:rPr>
              <a:t>rychlejší algoritmus = větší paměť</a:t>
            </a:r>
          </a:p>
          <a:p>
            <a:pPr lvl="1"/>
            <a:r>
              <a:rPr lang="cs-CZ" dirty="0">
                <a:latin typeface="Bahnschrift Light" panose="020B0502040204020203" pitchFamily="34" charset="0"/>
              </a:rPr>
              <a:t>menší paměť = pomalejší algoritmus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6BBDF2-9B10-7A93-C520-987323D35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511986"/>
              </p:ext>
            </p:extLst>
          </p:nvPr>
        </p:nvGraphicFramePr>
        <p:xfrm>
          <a:off x="838200" y="3269773"/>
          <a:ext cx="10515600" cy="2907188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760621">
                  <a:extLst>
                    <a:ext uri="{9D8B030D-6E8A-4147-A177-3AD203B41FA5}">
                      <a16:colId xmlns:a16="http://schemas.microsoft.com/office/drawing/2014/main" val="1004231998"/>
                    </a:ext>
                  </a:extLst>
                </a:gridCol>
                <a:gridCol w="3774478">
                  <a:extLst>
                    <a:ext uri="{9D8B030D-6E8A-4147-A177-3AD203B41FA5}">
                      <a16:colId xmlns:a16="http://schemas.microsoft.com/office/drawing/2014/main" val="3394196719"/>
                    </a:ext>
                  </a:extLst>
                </a:gridCol>
                <a:gridCol w="4980501">
                  <a:extLst>
                    <a:ext uri="{9D8B030D-6E8A-4147-A177-3AD203B41FA5}">
                      <a16:colId xmlns:a16="http://schemas.microsoft.com/office/drawing/2014/main" val="1755559356"/>
                    </a:ext>
                  </a:extLst>
                </a:gridCol>
              </a:tblGrid>
              <a:tr h="726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>
                          <a:latin typeface="Bahnschrift SemiBold SemiConden" panose="020B0502040204020203" pitchFamily="34" charset="0"/>
                        </a:rPr>
                        <a:t>Vlastnost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Bahnschrift SemiBold SemiConden" panose="020B0502040204020203" pitchFamily="34" charset="0"/>
                        </a:rPr>
                        <a:t>Časová složitost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Bahnschrift SemiBold SemiConden" panose="020B0502040204020203" pitchFamily="34" charset="0"/>
                        </a:rPr>
                        <a:t>Paměťová složitost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660862"/>
                  </a:ext>
                </a:extLst>
              </a:tr>
              <a:tr h="726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>
                          <a:latin typeface="Bahnschrift SemiBold SemiConden" panose="020B0502040204020203" pitchFamily="34" charset="0"/>
                        </a:rPr>
                        <a:t>Co měří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Bahnschrift SemiBold SemiConden" panose="020B0502040204020203" pitchFamily="34" charset="0"/>
                        </a:rPr>
                        <a:t>Rychlost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Bahnschrift SemiBold SemiConden" panose="020B0502040204020203" pitchFamily="34" charset="0"/>
                        </a:rPr>
                        <a:t>Spotřebu paměti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56535"/>
                  </a:ext>
                </a:extLst>
              </a:tr>
              <a:tr h="726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>
                          <a:latin typeface="Bahnschrift SemiBold SemiConden" panose="020B0502040204020203" pitchFamily="34" charset="0"/>
                        </a:rPr>
                        <a:t>Jednotka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Bahnschrift SemiBold SemiConden" panose="020B0502040204020203" pitchFamily="34" charset="0"/>
                        </a:rPr>
                        <a:t>počet operací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Bahnschrift SemiBold SemiConden" panose="020B0502040204020203" pitchFamily="34" charset="0"/>
                        </a:rPr>
                        <a:t>množství paměti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428572"/>
                  </a:ext>
                </a:extLst>
              </a:tr>
              <a:tr h="726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>
                          <a:latin typeface="Bahnschrift SemiBold SemiConden" panose="020B0502040204020203" pitchFamily="34" charset="0"/>
                        </a:rPr>
                        <a:t>Otázka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Bahnschrift SemiBold SemiConden" panose="020B0502040204020203" pitchFamily="34" charset="0"/>
                        </a:rPr>
                        <a:t>Jak dlouho?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Bahnschrift SemiBold SemiConden" panose="020B0502040204020203" pitchFamily="34" charset="0"/>
                        </a:rPr>
                        <a:t>Kolik místa?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530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106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F06505-8B30-942B-23DC-ADAD47A3D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40" y="313791"/>
            <a:ext cx="3121942" cy="11340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C17F32-131B-CCD4-28AF-AD7D9C21D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498" y="192974"/>
            <a:ext cx="3949000" cy="15556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408961-1CE7-1B2D-7009-08D89D8B3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64" y="2192068"/>
            <a:ext cx="2766786" cy="16328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384EBC-65F4-9190-99F9-0027525ED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588" y="2950405"/>
            <a:ext cx="3459380" cy="16182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E64A50-FC21-305F-5C77-5762C891E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1133" y="4967203"/>
            <a:ext cx="3439005" cy="12955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29A211-4B53-1867-FBA6-73EE165766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9450" y="5150783"/>
            <a:ext cx="3277057" cy="13241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700814F-810E-D6AF-D002-EDE1652B29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266" y="4504066"/>
            <a:ext cx="3210373" cy="15432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E20975D-A73C-9991-7E19-D0A72B1AED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8264" y="1368751"/>
            <a:ext cx="3440552" cy="11394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76E8C80-AB31-DA8C-4652-16C010755C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9124" y="2789427"/>
            <a:ext cx="4100993" cy="153370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1F659A6-FF0F-1C8E-DB46-26C42FB96178}"/>
              </a:ext>
            </a:extLst>
          </p:cNvPr>
          <p:cNvSpPr txBox="1"/>
          <p:nvPr/>
        </p:nvSpPr>
        <p:spPr>
          <a:xfrm>
            <a:off x="1774905" y="1368751"/>
            <a:ext cx="1507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solidFill>
                  <a:srgbClr val="FF0000"/>
                </a:solidFill>
                <a:latin typeface="Bahnschrift SemiBold SemiConden" panose="020B0502040204020203" pitchFamily="34" charset="0"/>
              </a:rPr>
              <a:t>O(n)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927616-351A-3D05-D980-116B7DD58F59}"/>
              </a:ext>
            </a:extLst>
          </p:cNvPr>
          <p:cNvSpPr txBox="1"/>
          <p:nvPr/>
        </p:nvSpPr>
        <p:spPr>
          <a:xfrm>
            <a:off x="8392811" y="1214550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solidFill>
                  <a:srgbClr val="FF0000"/>
                </a:solidFill>
                <a:latin typeface="Bahnschrift SemiBold SemiConden" panose="020B0502040204020203" pitchFamily="34" charset="0"/>
              </a:rPr>
              <a:t>O(n²)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FB60A0-1433-C470-A9D0-FEAC13F85FEC}"/>
              </a:ext>
            </a:extLst>
          </p:cNvPr>
          <p:cNvSpPr txBox="1"/>
          <p:nvPr/>
        </p:nvSpPr>
        <p:spPr>
          <a:xfrm>
            <a:off x="931296" y="3231369"/>
            <a:ext cx="7243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solidFill>
                  <a:srgbClr val="FF0000"/>
                </a:solidFill>
                <a:latin typeface="Bahnschrift SemiBold SemiConden" panose="020B0502040204020203" pitchFamily="34" charset="0"/>
              </a:rPr>
              <a:t>O(log n)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70E4DB-B2AB-41E5-0090-27C6CA7B968D}"/>
              </a:ext>
            </a:extLst>
          </p:cNvPr>
          <p:cNvSpPr txBox="1"/>
          <p:nvPr/>
        </p:nvSpPr>
        <p:spPr>
          <a:xfrm>
            <a:off x="6058275" y="3391378"/>
            <a:ext cx="7243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solidFill>
                  <a:srgbClr val="FF0000"/>
                </a:solidFill>
                <a:latin typeface="Bahnschrift SemiBold SemiConden" panose="020B0502040204020203" pitchFamily="34" charset="0"/>
              </a:rPr>
              <a:t>O(n log n)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D93936-121D-BAED-C30D-0A338651CE4E}"/>
              </a:ext>
            </a:extLst>
          </p:cNvPr>
          <p:cNvSpPr txBox="1"/>
          <p:nvPr/>
        </p:nvSpPr>
        <p:spPr>
          <a:xfrm>
            <a:off x="9680249" y="5314897"/>
            <a:ext cx="7243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solidFill>
                  <a:srgbClr val="FF0000"/>
                </a:solidFill>
                <a:latin typeface="Bahnschrift SemiBold SemiConden" panose="020B0502040204020203" pitchFamily="34" charset="0"/>
              </a:rPr>
              <a:t>O(2ⁿ)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8DA6B1-BF60-31B8-977A-6DFDC9CB0F28}"/>
              </a:ext>
            </a:extLst>
          </p:cNvPr>
          <p:cNvSpPr txBox="1"/>
          <p:nvPr/>
        </p:nvSpPr>
        <p:spPr>
          <a:xfrm>
            <a:off x="5713884" y="5429784"/>
            <a:ext cx="8360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solidFill>
                  <a:srgbClr val="FF0000"/>
                </a:solidFill>
                <a:latin typeface="Bahnschrift SemiBold SemiConden" panose="020B0502040204020203" pitchFamily="34" charset="0"/>
              </a:rPr>
              <a:t>O(log n)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1ABFA9-1EA6-DFE1-973E-B787802D32DE}"/>
              </a:ext>
            </a:extLst>
          </p:cNvPr>
          <p:cNvSpPr txBox="1"/>
          <p:nvPr/>
        </p:nvSpPr>
        <p:spPr>
          <a:xfrm>
            <a:off x="2406057" y="4966254"/>
            <a:ext cx="8360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solidFill>
                  <a:srgbClr val="FF0000"/>
                </a:solidFill>
                <a:latin typeface="Bahnschrift SemiBold SemiConden" panose="020B0502040204020203" pitchFamily="34" charset="0"/>
              </a:rPr>
              <a:t>O(n)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BBC178-9D3F-3849-1DED-E0FC5E993E0B}"/>
              </a:ext>
            </a:extLst>
          </p:cNvPr>
          <p:cNvSpPr txBox="1"/>
          <p:nvPr/>
        </p:nvSpPr>
        <p:spPr>
          <a:xfrm>
            <a:off x="6760024" y="2248888"/>
            <a:ext cx="8360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solidFill>
                  <a:srgbClr val="FF0000"/>
                </a:solidFill>
                <a:latin typeface="Bahnschrift SemiBold SemiConden" panose="020B0502040204020203" pitchFamily="34" charset="0"/>
              </a:rPr>
              <a:t>O(n)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6AE975-B836-A6AA-A008-E09892D688F9}"/>
              </a:ext>
            </a:extLst>
          </p:cNvPr>
          <p:cNvSpPr txBox="1"/>
          <p:nvPr/>
        </p:nvSpPr>
        <p:spPr>
          <a:xfrm>
            <a:off x="8949293" y="3799107"/>
            <a:ext cx="8360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solidFill>
                  <a:srgbClr val="FF0000"/>
                </a:solidFill>
                <a:latin typeface="Bahnschrift SemiBold SemiConden" panose="020B0502040204020203" pitchFamily="34" charset="0"/>
              </a:rPr>
              <a:t>O(n³)</a:t>
            </a:r>
          </a:p>
        </p:txBody>
      </p:sp>
    </p:spTree>
    <p:extLst>
      <p:ext uri="{BB962C8B-B14F-4D97-AF65-F5344CB8AC3E}">
        <p14:creationId xmlns:p14="http://schemas.microsoft.com/office/powerpoint/2010/main" val="2057329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9" grpId="0"/>
      <p:bldP spid="31" grpId="0"/>
      <p:bldP spid="33" grpId="0"/>
      <p:bldP spid="35" grpId="0"/>
      <p:bldP spid="37" grpId="0"/>
      <p:bldP spid="39" grpId="0"/>
      <p:bldP spid="4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613</Words>
  <Application>Microsoft Office PowerPoint</Application>
  <PresentationFormat>Širokoúhlá obrazovka</PresentationFormat>
  <Paragraphs>131</Paragraphs>
  <Slides>23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23</vt:i4>
      </vt:variant>
    </vt:vector>
  </HeadingPairs>
  <TitlesOfParts>
    <vt:vector size="29" baseType="lpstr">
      <vt:lpstr>Arial</vt:lpstr>
      <vt:lpstr>Bahnschrift Light</vt:lpstr>
      <vt:lpstr>Bahnschrift SemiBold SemiConden</vt:lpstr>
      <vt:lpstr>Calibri</vt:lpstr>
      <vt:lpstr>Calibri Light</vt:lpstr>
      <vt:lpstr>Office Theme</vt:lpstr>
      <vt:lpstr>Časová a paměťová složitost.</vt:lpstr>
      <vt:lpstr>Časová složitost.</vt:lpstr>
      <vt:lpstr>Jak ji vyjádříme?</vt:lpstr>
      <vt:lpstr>Jak ji vyjádříme?</vt:lpstr>
      <vt:lpstr>Prezentace aplikace PowerPoint</vt:lpstr>
      <vt:lpstr>Jaké známe typy (a který je nejlepší)?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Proč se to řeší?</vt:lpstr>
      <vt:lpstr>Prezentace aplikace PowerPoint</vt:lpstr>
      <vt:lpstr>Co všechno bych stihla než dojede kód s exponenciální složitostí?</vt:lpstr>
      <vt:lpstr>Paměťová složitost</vt:lpstr>
      <vt:lpstr>Prezentace aplikace PowerPoint</vt:lpstr>
      <vt:lpstr>Jak ji vyjádříme?</vt:lpstr>
      <vt:lpstr>Jak ji vyjádříme?</vt:lpstr>
      <vt:lpstr>Vztah mezi časovou a paměťovou složitostí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Hana Pluskalová</dc:creator>
  <cp:lastModifiedBy>Mazná Michaela</cp:lastModifiedBy>
  <cp:revision>2</cp:revision>
  <dcterms:created xsi:type="dcterms:W3CDTF">2026-03-22T18:29:46Z</dcterms:created>
  <dcterms:modified xsi:type="dcterms:W3CDTF">2026-04-13T08:28:24Z</dcterms:modified>
</cp:coreProperties>
</file>