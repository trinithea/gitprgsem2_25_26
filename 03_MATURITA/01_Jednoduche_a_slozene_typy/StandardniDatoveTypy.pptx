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79" r:id="rId3"/>
    <p:sldId id="262" r:id="rId4"/>
    <p:sldId id="273" r:id="rId5"/>
    <p:sldId id="276" r:id="rId6"/>
    <p:sldId id="257" r:id="rId7"/>
    <p:sldId id="258" r:id="rId8"/>
    <p:sldId id="263" r:id="rId9"/>
    <p:sldId id="259" r:id="rId10"/>
    <p:sldId id="260" r:id="rId11"/>
    <p:sldId id="261" r:id="rId12"/>
    <p:sldId id="264" r:id="rId13"/>
    <p:sldId id="265" r:id="rId14"/>
    <p:sldId id="267" r:id="rId15"/>
    <p:sldId id="266" r:id="rId16"/>
    <p:sldId id="268" r:id="rId17"/>
    <p:sldId id="269" r:id="rId18"/>
    <p:sldId id="270" r:id="rId19"/>
    <p:sldId id="272" r:id="rId20"/>
    <p:sldId id="277" r:id="rId21"/>
    <p:sldId id="271" r:id="rId22"/>
    <p:sldId id="275" r:id="rId23"/>
    <p:sldId id="278" r:id="rId24"/>
    <p:sldId id="274" r:id="rId25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Střední styl 1 – zvýraznění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ED083AE6-46FA-4A59-8FB0-9F97EB10719F}" styleName="Světlý styl 3 – zvýraznění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1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9BCDDF-1090-47BB-B397-2C6C235DF3C4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14EFDE-C67E-4B46-B5A2-5FE0F82A80D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60552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14EFDE-C67E-4B46-B5A2-5FE0F82A80D0}" type="slidenum">
              <a:rPr lang="cs-CZ" smtClean="0"/>
              <a:t>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1037137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14EFDE-C67E-4B46-B5A2-5FE0F82A80D0}" type="slidenum">
              <a:rPr lang="cs-CZ" smtClean="0"/>
              <a:t>12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310564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14EFDE-C67E-4B46-B5A2-5FE0F82A80D0}" type="slidenum">
              <a:rPr lang="cs-CZ" smtClean="0"/>
              <a:t>13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339836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1B5C7F8-B08F-78A0-C7D1-8D0D5E8C9C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3B66BC61-7866-FF46-A5F9-CE1D3707A4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6FF8FA04-285D-41A4-760E-83C126581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AA7548B9-20FC-9048-0EFD-8934B62F0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5F3164CE-EB29-387B-8444-FE10A87BF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99116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4E38934-5C73-A8E2-7598-DD0A61C5F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7C950B7-93AD-4AC3-45C4-BB89B809B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5401243D-C73E-5C9E-B562-2939194F2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CD130A21-93C9-DAD5-D314-2B69C47AC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33FE4342-5E9B-2209-C1BF-60384CF77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555076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5BE99A0-6C18-8F61-EA20-5E53DE37E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35AEF221-0B82-B6E7-AAE2-92809A3CAE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96358726-EB5C-811E-A106-1689D9BCE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A5B99296-6F9E-70CB-65AB-11E0D13D2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343A033-6221-E1B5-4AED-728DE96BA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26473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D283D0C-0CB1-F30F-A25F-21FCB7DEB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7F925E0F-8C46-46F2-6CDE-4E6E30F15E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9E37A6A1-3CE8-E8F0-7051-B26276C74F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C0FBD05C-E359-751F-2E27-DE2BBBFB6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FECD73EF-E8D5-1C79-AEFA-F3E439482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DE1941E3-7D00-A4F9-C88F-E91D9480A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39713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91B589D-FC3A-C5B8-6478-5BB2A86CB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3F15DC02-FBA1-C4C6-91B3-936770C51A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44755751-8DB3-4597-0321-AAED28C6C2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0923B615-38A1-C1D9-8317-DB8B27CCCF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2EE7D5F4-1A8D-457E-1176-53DA0B6425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B391DB06-F3F7-96DB-D052-B6990075F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D54C2877-B412-09A0-3634-D55AF8F44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44337A73-E5A2-7E5C-7D49-49FACED02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388270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59F5BFC-D2E4-B219-D267-EB7357830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CDB5F3F8-1B03-3B47-5444-0C5C82D91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AD751F14-DE5B-C4CD-A940-2BE62647D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A46988AA-0FFD-0CF7-CC18-346C3E3F6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41898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7FDA85CA-78EF-B056-A7CF-AC77677D5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4073423D-BEB9-789C-EFEE-18DBA2DE4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210019BC-8B40-A570-C9EA-EF5FDBBE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58319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4C3C83A-FEB0-1CCE-F942-5952A8520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D022E4E-10A5-2ACE-A79B-BE4FCCB9C8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6B3AA3FB-B3EB-00D9-CB13-58B269165B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AC0EFA3E-8C2D-530A-A5A2-20C4B812E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93526CBE-44E0-3C06-F2A0-839570D8D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ECBBA28-CFE1-DE0D-EA80-42AB94AA3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775070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9A0562A-7138-DAA6-F0FC-CF6B158AE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E5BE7AE5-6A19-7542-27B4-855EB1FCE1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C642B1A4-18D8-6F75-8F9C-C46DFEF13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8DB12F0C-2CDD-3E3E-6853-9FB0C4138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1150F2FC-77F1-D7FF-A144-9645E2D64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89F55766-35A9-21B1-717F-815E80843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7832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13868B4-902D-DD0E-8B62-B6A1127E1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EF58D46B-EC74-AFC8-40C5-794FE161B9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73E4BB0C-45F8-DF73-FA6C-A9EF8F249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FB83703C-86C9-2F1F-4DCE-248554163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188512D-155F-2D51-AB53-93774F6F3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263552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FE3268D6-0BA7-5A06-4746-37E2BF4AB6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091F6A67-666B-CD19-8584-5430A04BD8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DB4ECF9B-D87A-AD30-2A60-23CF90F52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3EF08BE3-E41A-31E2-F60E-A29BB5C7F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F6690FAB-33CE-5FF5-88A5-45597E9B1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25356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4A0DF9A9-AD39-BC51-E24E-D8FD2196D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3B936167-598B-5507-CB94-49AD931BDD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BA049214-19CC-A6B5-2030-4DAFBD3423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0766EEDB-B799-1133-DE81-7B86A96F6C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2AFC1D8-80E9-99A0-2D37-4FD01D2E6A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22554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27948B0-E90C-1034-86E1-5049A0825D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3521" y="2216900"/>
            <a:ext cx="9644958" cy="2424199"/>
          </a:xfrm>
        </p:spPr>
        <p:txBody>
          <a:bodyPr>
            <a:normAutofit fontScale="90000"/>
          </a:bodyPr>
          <a:lstStyle/>
          <a:p>
            <a:r>
              <a:rPr lang="cs-CZ" dirty="0"/>
              <a:t>1. Jednoduché a složené (strukturované) datové typy. Standardní datové typy jazyka C#.</a:t>
            </a:r>
          </a:p>
        </p:txBody>
      </p:sp>
    </p:spTree>
    <p:extLst>
      <p:ext uri="{BB962C8B-B14F-4D97-AF65-F5344CB8AC3E}">
        <p14:creationId xmlns:p14="http://schemas.microsoft.com/office/powerpoint/2010/main" val="29767352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7B8E1416-38FB-7FA7-C2B9-F180292699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200400"/>
            <a:ext cx="10515600" cy="457200"/>
          </a:xfrm>
          <a:solidFill>
            <a:schemeClr val="accent6">
              <a:lumMod val="20000"/>
              <a:lumOff val="80000"/>
            </a:schemeClr>
          </a:solidFill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cs-CZ" dirty="0"/>
              <a:t>Zeleně jsou označeny věci navíc (nepožadované u maturity).</a:t>
            </a:r>
          </a:p>
        </p:txBody>
      </p:sp>
    </p:spTree>
    <p:extLst>
      <p:ext uri="{BB962C8B-B14F-4D97-AF65-F5344CB8AC3E}">
        <p14:creationId xmlns:p14="http://schemas.microsoft.com/office/powerpoint/2010/main" val="9446815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00BCEF9-B5B7-A7B2-652C-EC88D0C24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5296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cs-CZ" sz="6600" dirty="0"/>
              <a:t>Co je to </a:t>
            </a:r>
            <a:r>
              <a:rPr lang="cs-CZ" sz="6600" b="1" dirty="0"/>
              <a:t>proměnná</a:t>
            </a:r>
            <a:r>
              <a:rPr lang="cs-CZ" sz="6600" dirty="0"/>
              <a:t>?</a:t>
            </a:r>
          </a:p>
        </p:txBody>
      </p:sp>
      <p:sp>
        <p:nvSpPr>
          <p:cNvPr id="6" name="Zástupný obsah 2">
            <a:extLst>
              <a:ext uri="{FF2B5EF4-FFF2-40B4-BE49-F238E27FC236}">
                <a16:creationId xmlns:a16="http://schemas.microsoft.com/office/drawing/2014/main" id="{215216EB-B9F2-6454-B463-AFED31114BA9}"/>
              </a:ext>
            </a:extLst>
          </p:cNvPr>
          <p:cNvSpPr txBox="1">
            <a:spLocks/>
          </p:cNvSpPr>
          <p:nvPr/>
        </p:nvSpPr>
        <p:spPr>
          <a:xfrm>
            <a:off x="838200" y="3091601"/>
            <a:ext cx="10515600" cy="149850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cs-CZ" sz="1800" dirty="0"/>
              <a:t>= pojmenované místo v operační paměti</a:t>
            </a:r>
          </a:p>
          <a:p>
            <a:pPr marL="0" indent="0" algn="ctr">
              <a:buNone/>
            </a:pPr>
            <a:r>
              <a:rPr lang="cs-CZ" sz="1800" dirty="0"/>
              <a:t>Má </a:t>
            </a:r>
            <a:r>
              <a:rPr lang="cs-CZ" sz="1800" b="1" dirty="0"/>
              <a:t>jméno, typ, obsah.</a:t>
            </a:r>
            <a:endParaRPr lang="cs-CZ" sz="1800" dirty="0"/>
          </a:p>
          <a:p>
            <a:pPr marL="0" indent="0" algn="ctr">
              <a:buNone/>
            </a:pPr>
            <a:r>
              <a:rPr lang="cs-CZ" sz="1800" dirty="0"/>
              <a:t>Obsah se může měnit -&gt; proměnná</a:t>
            </a:r>
          </a:p>
          <a:p>
            <a:pPr marL="0" indent="0" algn="ctr">
              <a:buNone/>
            </a:pPr>
            <a:r>
              <a:rPr lang="cs-CZ" sz="1800" dirty="0"/>
              <a:t>V C# je její životnost omezena { … }</a:t>
            </a:r>
          </a:p>
          <a:p>
            <a:pPr marL="0" indent="0" algn="ctr">
              <a:buNone/>
            </a:pPr>
            <a:r>
              <a:rPr lang="cs-CZ" sz="1800" dirty="0"/>
              <a:t>V C# je statické typování – typ každé proměnné musí být znám už za kompilace a pak se nemění</a:t>
            </a:r>
          </a:p>
        </p:txBody>
      </p:sp>
    </p:spTree>
    <p:extLst>
      <p:ext uri="{BB962C8B-B14F-4D97-AF65-F5344CB8AC3E}">
        <p14:creationId xmlns:p14="http://schemas.microsoft.com/office/powerpoint/2010/main" val="433613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FBB0B70-1465-A335-7D19-72BE31A47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Ne každá proměnná je </a:t>
            </a:r>
            <a:r>
              <a:rPr lang="cs-CZ" i="1" dirty="0"/>
              <a:t>proměnná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2355AEF-0F5E-E491-8BFC-CD161BDB35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31899"/>
          </a:xfrm>
        </p:spPr>
        <p:txBody>
          <a:bodyPr>
            <a:normAutofit fontScale="92500" lnSpcReduction="10000"/>
          </a:bodyPr>
          <a:lstStyle/>
          <a:p>
            <a:r>
              <a:rPr lang="cs-CZ" dirty="0"/>
              <a:t>Máme konstanty (</a:t>
            </a:r>
            <a:r>
              <a:rPr lang="cs-CZ" dirty="0" err="1">
                <a:latin typeface="Consolas" panose="020B0609020204030204" pitchFamily="49" charset="0"/>
              </a:rPr>
              <a:t>const</a:t>
            </a:r>
            <a:r>
              <a:rPr lang="cs-CZ" dirty="0"/>
              <a:t>), { </a:t>
            </a:r>
            <a:r>
              <a:rPr lang="cs-CZ" dirty="0" err="1"/>
              <a:t>get</a:t>
            </a:r>
            <a:r>
              <a:rPr lang="cs-CZ" dirty="0"/>
              <a:t>; }, </a:t>
            </a:r>
            <a:r>
              <a:rPr lang="cs-CZ" dirty="0" err="1">
                <a:latin typeface="Consolas" panose="020B0609020204030204" pitchFamily="49" charset="0"/>
              </a:rPr>
              <a:t>readonly</a:t>
            </a:r>
            <a:r>
              <a:rPr lang="cs-CZ" dirty="0"/>
              <a:t>..</a:t>
            </a:r>
          </a:p>
          <a:p>
            <a:r>
              <a:rPr lang="cs-CZ" dirty="0"/>
              <a:t>Konstanty pojmenováváme </a:t>
            </a:r>
            <a:r>
              <a:rPr lang="cs-CZ" dirty="0" err="1"/>
              <a:t>PascalCase</a:t>
            </a:r>
            <a:endParaRPr lang="cs-CZ" dirty="0"/>
          </a:p>
          <a:p>
            <a:pPr lvl="1"/>
            <a:r>
              <a:rPr lang="cs-CZ" dirty="0"/>
              <a:t>Obyčejné proměnné </a:t>
            </a:r>
            <a:r>
              <a:rPr lang="cs-CZ" dirty="0" err="1"/>
              <a:t>camelCase</a:t>
            </a:r>
            <a:endParaRPr lang="cs-CZ" dirty="0"/>
          </a:p>
        </p:txBody>
      </p:sp>
      <p:graphicFrame>
        <p:nvGraphicFramePr>
          <p:cNvPr id="4" name="Tabulka 3">
            <a:extLst>
              <a:ext uri="{FF2B5EF4-FFF2-40B4-BE49-F238E27FC236}">
                <a16:creationId xmlns:a16="http://schemas.microsoft.com/office/drawing/2014/main" id="{2BC495CF-D2FC-425F-ED63-3B84E82C96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1529217"/>
              </p:ext>
            </p:extLst>
          </p:nvPr>
        </p:nvGraphicFramePr>
        <p:xfrm>
          <a:off x="838200" y="3675122"/>
          <a:ext cx="10515600" cy="2560320"/>
        </p:xfrm>
        <a:graphic>
          <a:graphicData uri="http://schemas.openxmlformats.org/drawingml/2006/table">
            <a:tbl>
              <a:tblPr/>
              <a:tblGrid>
                <a:gridCol w="1807369">
                  <a:extLst>
                    <a:ext uri="{9D8B030D-6E8A-4147-A177-3AD203B41FA5}">
                      <a16:colId xmlns:a16="http://schemas.microsoft.com/office/drawing/2014/main" val="3256120353"/>
                    </a:ext>
                  </a:extLst>
                </a:gridCol>
                <a:gridCol w="3450431">
                  <a:extLst>
                    <a:ext uri="{9D8B030D-6E8A-4147-A177-3AD203B41FA5}">
                      <a16:colId xmlns:a16="http://schemas.microsoft.com/office/drawing/2014/main" val="357704086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2537665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098497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 dirty="0">
                          <a:effectLst/>
                          <a:latin typeface="Google Sans Text"/>
                        </a:rPr>
                        <a:t>Klíčové slovo</a:t>
                      </a:r>
                      <a:endParaRPr lang="cs-CZ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 dirty="0">
                          <a:effectLst/>
                          <a:latin typeface="Google Sans Text"/>
                        </a:rPr>
                        <a:t>Kdy se určuje hodnota?</a:t>
                      </a:r>
                      <a:endParaRPr lang="cs-CZ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 dirty="0">
                          <a:effectLst/>
                          <a:latin typeface="Google Sans Text"/>
                        </a:rPr>
                        <a:t>Lze změnit?</a:t>
                      </a:r>
                      <a:endParaRPr lang="cs-CZ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 dirty="0">
                          <a:effectLst/>
                          <a:latin typeface="Google Sans Text"/>
                        </a:rPr>
                        <a:t>Kdy to použít?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17465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 dirty="0" err="1"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endParaRPr lang="cs-CZ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Při kompilaci (musí být známá hned).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Nikdy.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Neměnné číselné či </a:t>
                      </a:r>
                      <a:r>
                        <a:rPr lang="cs-CZ" dirty="0" err="1">
                          <a:effectLst/>
                          <a:latin typeface="Google Sans Text"/>
                        </a:rPr>
                        <a:t>stringové</a:t>
                      </a:r>
                      <a:r>
                        <a:rPr lang="cs-CZ" dirty="0">
                          <a:effectLst/>
                          <a:latin typeface="Google Sans Text"/>
                        </a:rPr>
                        <a:t> hodnoty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1506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 dirty="0" err="1">
                          <a:effectLst/>
                          <a:latin typeface="Consolas" panose="020B0609020204030204" pitchFamily="49" charset="0"/>
                        </a:rPr>
                        <a:t>readonly</a:t>
                      </a:r>
                      <a:endParaRPr lang="cs-CZ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Při běhu (v konstruktoru).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Po inicializaci už ne.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Privátní položky třídy, důraz na rychlý přístup k datům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53401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 dirty="0">
                          <a:effectLst/>
                          <a:latin typeface="Consolas" panose="020B0609020204030204" pitchFamily="49" charset="0"/>
                        </a:rPr>
                        <a:t>{ </a:t>
                      </a:r>
                      <a:r>
                        <a:rPr lang="cs-CZ" b="1" dirty="0" err="1">
                          <a:effectLst/>
                          <a:latin typeface="Consolas" panose="020B0609020204030204" pitchFamily="49" charset="0"/>
                        </a:rPr>
                        <a:t>get</a:t>
                      </a:r>
                      <a:r>
                        <a:rPr lang="cs-CZ" b="1" dirty="0">
                          <a:effectLst/>
                          <a:latin typeface="Consolas" panose="020B0609020204030204" pitchFamily="49" charset="0"/>
                        </a:rPr>
                        <a:t>; }</a:t>
                      </a:r>
                      <a:endParaRPr lang="cs-CZ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V konstruktoru nebo </a:t>
                      </a:r>
                      <a:r>
                        <a:rPr lang="cs-CZ" dirty="0" err="1">
                          <a:effectLst/>
                          <a:latin typeface="Google Sans Text"/>
                        </a:rPr>
                        <a:t>inicializátoru</a:t>
                      </a:r>
                      <a:r>
                        <a:rPr lang="cs-CZ" dirty="0"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Jen přes reflexi (v podstatě ne).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Public položky třídy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4980168"/>
                  </a:ext>
                </a:extLst>
              </a:tr>
            </a:tbl>
          </a:graphicData>
        </a:graphic>
      </p:graphicFrame>
      <p:sp>
        <p:nvSpPr>
          <p:cNvPr id="7" name="TextovéPole 6">
            <a:extLst>
              <a:ext uri="{FF2B5EF4-FFF2-40B4-BE49-F238E27FC236}">
                <a16:creationId xmlns:a16="http://schemas.microsoft.com/office/drawing/2014/main" id="{210B0088-28C2-D85E-F9C1-F991737CAB73}"/>
              </a:ext>
            </a:extLst>
          </p:cNvPr>
          <p:cNvSpPr txBox="1"/>
          <p:nvPr/>
        </p:nvSpPr>
        <p:spPr>
          <a:xfrm>
            <a:off x="6421925" y="6235442"/>
            <a:ext cx="39208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1400" dirty="0"/>
              <a:t>Reflexe – Kód se dívá sám na sebe, nebezpečné.</a:t>
            </a:r>
          </a:p>
        </p:txBody>
      </p:sp>
    </p:spTree>
    <p:extLst>
      <p:ext uri="{BB962C8B-B14F-4D97-AF65-F5344CB8AC3E}">
        <p14:creationId xmlns:p14="http://schemas.microsoft.com/office/powerpoint/2010/main" val="2723494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7F671E3-6537-FF6A-00C5-A268ECE11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BB19B28-8917-2E6F-ADF4-7267986C92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EA9DFF9A-F2C8-2CB3-56D7-261BB66246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110" y="1395289"/>
            <a:ext cx="8233779" cy="4067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946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42FBD64-7204-AF1B-9837-F3B15C4D6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Hierarchie typů v C#</a:t>
            </a:r>
          </a:p>
        </p:txBody>
      </p:sp>
      <p:pic>
        <p:nvPicPr>
          <p:cNvPr id="1026" name="Picture 2" descr="enter image description here">
            <a:extLst>
              <a:ext uri="{FF2B5EF4-FFF2-40B4-BE49-F238E27FC236}">
                <a16:creationId xmlns:a16="http://schemas.microsoft.com/office/drawing/2014/main" id="{B1A5325D-7CF9-6722-B88E-A2AFE465FB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1412" y="2121057"/>
            <a:ext cx="4829175" cy="3829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ovéPole 3">
            <a:extLst>
              <a:ext uri="{FF2B5EF4-FFF2-40B4-BE49-F238E27FC236}">
                <a16:creationId xmlns:a16="http://schemas.microsoft.com/office/drawing/2014/main" id="{E149662B-AD25-7E9D-DAD9-F6BC87BA1276}"/>
              </a:ext>
            </a:extLst>
          </p:cNvPr>
          <p:cNvSpPr txBox="1"/>
          <p:nvPr/>
        </p:nvSpPr>
        <p:spPr>
          <a:xfrm>
            <a:off x="6853237" y="1153258"/>
            <a:ext cx="35262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dirty="0"/>
              <a:t>Vše dědí od typu </a:t>
            </a:r>
            <a:r>
              <a:rPr lang="cs-CZ" dirty="0" err="1">
                <a:latin typeface="Consolas" panose="020B0609020204030204" pitchFamily="49" charset="0"/>
              </a:rPr>
              <a:t>object</a:t>
            </a:r>
            <a:r>
              <a:rPr lang="cs-CZ" dirty="0"/>
              <a:t>,</a:t>
            </a:r>
          </a:p>
          <a:p>
            <a:r>
              <a:rPr lang="cs-CZ" dirty="0"/>
              <a:t>Který nabízí tyto základní 4 funkce</a:t>
            </a:r>
          </a:p>
        </p:txBody>
      </p:sp>
      <p:pic>
        <p:nvPicPr>
          <p:cNvPr id="6" name="Obrázek 5">
            <a:extLst>
              <a:ext uri="{FF2B5EF4-FFF2-40B4-BE49-F238E27FC236}">
                <a16:creationId xmlns:a16="http://schemas.microsoft.com/office/drawing/2014/main" id="{30DCA978-4ED8-F113-C612-CD7956D6F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6348" y="1799589"/>
            <a:ext cx="1171739" cy="1428949"/>
          </a:xfrm>
          <a:prstGeom prst="rect">
            <a:avLst/>
          </a:prstGeom>
        </p:spPr>
      </p:pic>
      <p:sp>
        <p:nvSpPr>
          <p:cNvPr id="7" name="TextovéPole 6">
            <a:extLst>
              <a:ext uri="{FF2B5EF4-FFF2-40B4-BE49-F238E27FC236}">
                <a16:creationId xmlns:a16="http://schemas.microsoft.com/office/drawing/2014/main" id="{1F181A76-F84B-F4B2-A465-77213CBD8908}"/>
              </a:ext>
            </a:extLst>
          </p:cNvPr>
          <p:cNvSpPr txBox="1"/>
          <p:nvPr/>
        </p:nvSpPr>
        <p:spPr>
          <a:xfrm>
            <a:off x="8557794" y="3914775"/>
            <a:ext cx="27823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2400" b="1" dirty="0"/>
              <a:t>REFERENČNÍ TYPY</a:t>
            </a:r>
          </a:p>
        </p:txBody>
      </p:sp>
      <p:sp>
        <p:nvSpPr>
          <p:cNvPr id="8" name="TextovéPole 7">
            <a:extLst>
              <a:ext uri="{FF2B5EF4-FFF2-40B4-BE49-F238E27FC236}">
                <a16:creationId xmlns:a16="http://schemas.microsoft.com/office/drawing/2014/main" id="{11545A9A-60E3-532E-BE8F-40237611A915}"/>
              </a:ext>
            </a:extLst>
          </p:cNvPr>
          <p:cNvSpPr txBox="1"/>
          <p:nvPr/>
        </p:nvSpPr>
        <p:spPr>
          <a:xfrm>
            <a:off x="899112" y="4376440"/>
            <a:ext cx="2793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2400" b="1" dirty="0"/>
              <a:t>HODNOTOVÉ TYPY</a:t>
            </a:r>
          </a:p>
        </p:txBody>
      </p:sp>
      <p:sp>
        <p:nvSpPr>
          <p:cNvPr id="9" name="TextovéPole 8">
            <a:extLst>
              <a:ext uri="{FF2B5EF4-FFF2-40B4-BE49-F238E27FC236}">
                <a16:creationId xmlns:a16="http://schemas.microsoft.com/office/drawing/2014/main" id="{33E101A1-F07B-49F6-594F-0F8BEF266822}"/>
              </a:ext>
            </a:extLst>
          </p:cNvPr>
          <p:cNvSpPr txBox="1"/>
          <p:nvPr/>
        </p:nvSpPr>
        <p:spPr>
          <a:xfrm>
            <a:off x="8616348" y="4354562"/>
            <a:ext cx="325180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cs-CZ" dirty="0"/>
              <a:t>ty složitější</a:t>
            </a:r>
          </a:p>
          <a:p>
            <a:pPr marL="285750" indent="-285750">
              <a:buFontTx/>
              <a:buChar char="-"/>
            </a:pPr>
            <a:r>
              <a:rPr lang="cs-CZ" dirty="0"/>
              <a:t>Uloženy na </a:t>
            </a:r>
            <a:r>
              <a:rPr lang="cs-CZ" i="1" dirty="0"/>
              <a:t>haldě</a:t>
            </a:r>
            <a:endParaRPr lang="cs-CZ" dirty="0"/>
          </a:p>
          <a:p>
            <a:pPr marL="285750" indent="-285750">
              <a:buFontTx/>
              <a:buChar char="-"/>
            </a:pPr>
            <a:r>
              <a:rPr lang="cs-CZ" dirty="0"/>
              <a:t>Reference na místo na haldě je uložena na </a:t>
            </a:r>
            <a:br>
              <a:rPr lang="cs-CZ" dirty="0"/>
            </a:br>
            <a:r>
              <a:rPr lang="cs-CZ" i="1" dirty="0"/>
              <a:t>volacím</a:t>
            </a:r>
            <a:r>
              <a:rPr lang="cs-CZ" dirty="0"/>
              <a:t> </a:t>
            </a:r>
            <a:r>
              <a:rPr lang="cs-CZ" i="1" dirty="0"/>
              <a:t>zásobníku</a:t>
            </a:r>
            <a:r>
              <a:rPr lang="cs-CZ" dirty="0"/>
              <a:t>  </a:t>
            </a:r>
          </a:p>
          <a:p>
            <a:pPr marL="285750" indent="-285750">
              <a:buFontTx/>
              <a:buChar char="-"/>
            </a:pPr>
            <a:r>
              <a:rPr lang="en-GB" dirty="0" err="1"/>
              <a:t>př</a:t>
            </a:r>
            <a:r>
              <a:rPr lang="en-GB" dirty="0"/>
              <a:t>. string, array, list, </a:t>
            </a:r>
            <a:r>
              <a:rPr lang="en-GB" dirty="0" err="1"/>
              <a:t>objekty</a:t>
            </a:r>
            <a:r>
              <a:rPr lang="en-GB" dirty="0"/>
              <a:t> </a:t>
            </a:r>
            <a:r>
              <a:rPr lang="en-GB" dirty="0" err="1"/>
              <a:t>tříd</a:t>
            </a:r>
            <a:endParaRPr lang="cs-CZ" dirty="0"/>
          </a:p>
        </p:txBody>
      </p:sp>
      <p:sp>
        <p:nvSpPr>
          <p:cNvPr id="10" name="TextovéPole 9">
            <a:extLst>
              <a:ext uri="{FF2B5EF4-FFF2-40B4-BE49-F238E27FC236}">
                <a16:creationId xmlns:a16="http://schemas.microsoft.com/office/drawing/2014/main" id="{1EFEF74E-FB36-EF69-AD86-79CB453E2AF7}"/>
              </a:ext>
            </a:extLst>
          </p:cNvPr>
          <p:cNvSpPr txBox="1"/>
          <p:nvPr/>
        </p:nvSpPr>
        <p:spPr>
          <a:xfrm>
            <a:off x="899112" y="4838105"/>
            <a:ext cx="325180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cs-CZ" dirty="0"/>
              <a:t>Ty </a:t>
            </a:r>
            <a:r>
              <a:rPr lang="cs-CZ" dirty="0" err="1"/>
              <a:t>jedodušší</a:t>
            </a:r>
            <a:endParaRPr lang="cs-CZ" dirty="0"/>
          </a:p>
          <a:p>
            <a:pPr marL="285750" indent="-285750">
              <a:buFontTx/>
              <a:buChar char="-"/>
            </a:pPr>
            <a:r>
              <a:rPr lang="cs-CZ" dirty="0"/>
              <a:t>Uloženy na </a:t>
            </a:r>
            <a:r>
              <a:rPr lang="cs-CZ" i="1" dirty="0"/>
              <a:t>volacím zásobníku</a:t>
            </a:r>
          </a:p>
          <a:p>
            <a:pPr marL="285750" indent="-285750">
              <a:buFontTx/>
              <a:buChar char="-"/>
            </a:pPr>
            <a:r>
              <a:rPr lang="en-GB" dirty="0" err="1"/>
              <a:t>př</a:t>
            </a:r>
            <a:r>
              <a:rPr lang="en-GB" dirty="0"/>
              <a:t>. bool, byte, int, long, float, double, char, </a:t>
            </a:r>
            <a:r>
              <a:rPr lang="en-GB" dirty="0" err="1"/>
              <a:t>struktury</a:t>
            </a:r>
            <a:r>
              <a:rPr lang="en-GB" dirty="0"/>
              <a:t> (struct)</a:t>
            </a:r>
            <a:endParaRPr lang="cs-CZ" dirty="0"/>
          </a:p>
        </p:txBody>
      </p:sp>
      <p:sp>
        <p:nvSpPr>
          <p:cNvPr id="11" name="TextovéPole 10">
            <a:extLst>
              <a:ext uri="{FF2B5EF4-FFF2-40B4-BE49-F238E27FC236}">
                <a16:creationId xmlns:a16="http://schemas.microsoft.com/office/drawing/2014/main" id="{49E2C55A-1C9C-7204-2CDE-669B8F924FD1}"/>
              </a:ext>
            </a:extLst>
          </p:cNvPr>
          <p:cNvSpPr txBox="1"/>
          <p:nvPr/>
        </p:nvSpPr>
        <p:spPr>
          <a:xfrm>
            <a:off x="9893848" y="1700005"/>
            <a:ext cx="21933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1200" b="1" dirty="0" err="1">
                <a:latin typeface="Consolas" panose="020B0609020204030204" pitchFamily="49" charset="0"/>
              </a:rPr>
              <a:t>Equals</a:t>
            </a:r>
            <a:r>
              <a:rPr lang="cs-CZ" sz="1200" b="1" dirty="0">
                <a:latin typeface="Consolas" panose="020B0609020204030204" pitchFamily="49" charset="0"/>
              </a:rPr>
              <a:t>() </a:t>
            </a:r>
            <a:r>
              <a:rPr lang="cs-CZ" sz="1200" dirty="0"/>
              <a:t>– porovnání míst v paměti; </a:t>
            </a:r>
            <a:r>
              <a:rPr lang="cs-CZ" sz="1200" dirty="0" err="1"/>
              <a:t>override</a:t>
            </a:r>
            <a:r>
              <a:rPr lang="cs-CZ" sz="1200" dirty="0"/>
              <a:t> na porovnání hodnot (operátor </a:t>
            </a:r>
            <a:r>
              <a:rPr lang="cs-CZ" sz="1200" dirty="0">
                <a:latin typeface="Consolas" panose="020B0609020204030204" pitchFamily="49" charset="0"/>
              </a:rPr>
              <a:t>==</a:t>
            </a:r>
            <a:r>
              <a:rPr lang="cs-CZ" sz="1200" dirty="0"/>
              <a:t>)</a:t>
            </a:r>
          </a:p>
          <a:p>
            <a:endParaRPr lang="cs-CZ" sz="1200" dirty="0"/>
          </a:p>
        </p:txBody>
      </p:sp>
      <p:sp>
        <p:nvSpPr>
          <p:cNvPr id="3" name="TextovéPole 2">
            <a:extLst>
              <a:ext uri="{FF2B5EF4-FFF2-40B4-BE49-F238E27FC236}">
                <a16:creationId xmlns:a16="http://schemas.microsoft.com/office/drawing/2014/main" id="{83185A11-80EB-9DE8-47DA-F39289586CF9}"/>
              </a:ext>
            </a:extLst>
          </p:cNvPr>
          <p:cNvSpPr txBox="1"/>
          <p:nvPr/>
        </p:nvSpPr>
        <p:spPr>
          <a:xfrm>
            <a:off x="9893848" y="2277341"/>
            <a:ext cx="22981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1200" b="1" dirty="0" err="1">
                <a:latin typeface="Consolas" panose="020B0609020204030204" pitchFamily="49" charset="0"/>
              </a:rPr>
              <a:t>GetHashCode</a:t>
            </a:r>
            <a:r>
              <a:rPr lang="cs-CZ" sz="1200" b="1" dirty="0">
                <a:latin typeface="Consolas" panose="020B0609020204030204" pitchFamily="49" charset="0"/>
              </a:rPr>
              <a:t>() </a:t>
            </a:r>
            <a:r>
              <a:rPr lang="cs-CZ" sz="1200" dirty="0"/>
              <a:t>– vrací </a:t>
            </a:r>
            <a:r>
              <a:rPr lang="cs-CZ" sz="1200" dirty="0" err="1"/>
              <a:t>int</a:t>
            </a:r>
            <a:r>
              <a:rPr lang="cs-CZ" sz="1200" dirty="0"/>
              <a:t>, </a:t>
            </a:r>
            <a:r>
              <a:rPr lang="cs-CZ" sz="1200" dirty="0" err="1"/>
              <a:t>zahshování</a:t>
            </a:r>
            <a:r>
              <a:rPr lang="cs-CZ" sz="1200" dirty="0"/>
              <a:t> objektu třeba do slovníku pro rychlé vyhledávání</a:t>
            </a:r>
          </a:p>
          <a:p>
            <a:endParaRPr lang="cs-CZ" sz="1200" dirty="0"/>
          </a:p>
        </p:txBody>
      </p:sp>
      <p:sp>
        <p:nvSpPr>
          <p:cNvPr id="5" name="TextovéPole 4">
            <a:extLst>
              <a:ext uri="{FF2B5EF4-FFF2-40B4-BE49-F238E27FC236}">
                <a16:creationId xmlns:a16="http://schemas.microsoft.com/office/drawing/2014/main" id="{60F4F0A8-E659-2384-010A-5EF2468D1B1E}"/>
              </a:ext>
            </a:extLst>
          </p:cNvPr>
          <p:cNvSpPr txBox="1"/>
          <p:nvPr/>
        </p:nvSpPr>
        <p:spPr>
          <a:xfrm>
            <a:off x="9893848" y="2875293"/>
            <a:ext cx="22981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1200" b="1" dirty="0" err="1">
                <a:latin typeface="Consolas" panose="020B0609020204030204" pitchFamily="49" charset="0"/>
              </a:rPr>
              <a:t>GetType</a:t>
            </a:r>
            <a:r>
              <a:rPr lang="cs-CZ" sz="1200" b="1" dirty="0">
                <a:latin typeface="Consolas" panose="020B0609020204030204" pitchFamily="49" charset="0"/>
              </a:rPr>
              <a:t>() </a:t>
            </a:r>
            <a:r>
              <a:rPr lang="cs-CZ" sz="1200" dirty="0"/>
              <a:t>– vrací objekt typu Type, ze které můžeme za runtime získat </a:t>
            </a:r>
            <a:r>
              <a:rPr lang="cs-CZ" sz="1200" dirty="0" err="1"/>
              <a:t>metainfo</a:t>
            </a:r>
            <a:r>
              <a:rPr lang="cs-CZ" sz="1200" dirty="0"/>
              <a:t> o typu proměnné (název třídy, od čeho dědí, apod.)</a:t>
            </a:r>
          </a:p>
          <a:p>
            <a:endParaRPr lang="cs-CZ" sz="1200" dirty="0"/>
          </a:p>
        </p:txBody>
      </p:sp>
    </p:spTree>
    <p:extLst>
      <p:ext uri="{BB962C8B-B14F-4D97-AF65-F5344CB8AC3E}">
        <p14:creationId xmlns:p14="http://schemas.microsoft.com/office/powerpoint/2010/main" val="1285945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9" grpId="0"/>
      <p:bldP spid="10" grpId="0"/>
      <p:bldP spid="11" grpId="0"/>
      <p:bldP spid="3" grpId="0"/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8A807B7-3BEE-6322-1F7D-F8116216D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Rozličné chování </a:t>
            </a:r>
            <a:r>
              <a:rPr lang="cs-CZ" dirty="0" err="1"/>
              <a:t>ref</a:t>
            </a:r>
            <a:r>
              <a:rPr lang="cs-CZ" dirty="0"/>
              <a:t>. a hod. typů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F3077B2-3DEF-36F7-4BB3-2EC874292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Viz program </a:t>
            </a:r>
            <a:r>
              <a:rPr lang="cs-CZ" i="1" dirty="0" err="1"/>
              <a:t>Hodnotove_a_referencni_typy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317418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68AA58B-D110-4101-B941-8CBF69742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Reference, pointery a </a:t>
            </a:r>
            <a:r>
              <a:rPr lang="cs-CZ" dirty="0" err="1"/>
              <a:t>Garbage</a:t>
            </a:r>
            <a:r>
              <a:rPr lang="cs-CZ" dirty="0"/>
              <a:t> </a:t>
            </a:r>
            <a:r>
              <a:rPr lang="cs-CZ" dirty="0" err="1"/>
              <a:t>Collector</a:t>
            </a:r>
            <a:endParaRPr lang="cs-CZ" dirty="0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4802188C-85F3-DE8F-2FCB-5B7A8D2963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092" y="1719269"/>
            <a:ext cx="5147115" cy="3419462"/>
          </a:xfrm>
          <a:prstGeom prst="rect">
            <a:avLst/>
          </a:prstGeom>
        </p:spPr>
      </p:pic>
      <p:pic>
        <p:nvPicPr>
          <p:cNvPr id="7" name="Obrázek 6">
            <a:extLst>
              <a:ext uri="{FF2B5EF4-FFF2-40B4-BE49-F238E27FC236}">
                <a16:creationId xmlns:a16="http://schemas.microsoft.com/office/drawing/2014/main" id="{27999D87-6C41-02DB-4546-FB28908C6D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5048" y="1719269"/>
            <a:ext cx="5799997" cy="3419462"/>
          </a:xfrm>
          <a:prstGeom prst="rect">
            <a:avLst/>
          </a:prstGeom>
        </p:spPr>
      </p:pic>
      <p:pic>
        <p:nvPicPr>
          <p:cNvPr id="9" name="Obrázek 8">
            <a:extLst>
              <a:ext uri="{FF2B5EF4-FFF2-40B4-BE49-F238E27FC236}">
                <a16:creationId xmlns:a16="http://schemas.microsoft.com/office/drawing/2014/main" id="{F51534E3-9BF6-3691-7A55-332EEC1CE4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4066" y="2964238"/>
            <a:ext cx="4896326" cy="3528637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0" name="TextovéPole 9">
            <a:extLst>
              <a:ext uri="{FF2B5EF4-FFF2-40B4-BE49-F238E27FC236}">
                <a16:creationId xmlns:a16="http://schemas.microsoft.com/office/drawing/2014/main" id="{A64056D1-51D6-7E59-696F-00D8F6A0E522}"/>
              </a:ext>
            </a:extLst>
          </p:cNvPr>
          <p:cNvSpPr txBox="1"/>
          <p:nvPr/>
        </p:nvSpPr>
        <p:spPr>
          <a:xfrm>
            <a:off x="8210392" y="5167312"/>
            <a:ext cx="38578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b="1" dirty="0"/>
              <a:t>Proč by to kdo chtěl? </a:t>
            </a:r>
          </a:p>
          <a:p>
            <a:r>
              <a:rPr lang="cs-CZ" sz="1200" dirty="0"/>
              <a:t>Když C# přistupuje k poli standardně (</a:t>
            </a:r>
            <a:r>
              <a:rPr lang="cs-CZ" sz="1200" dirty="0" err="1"/>
              <a:t>array</a:t>
            </a:r>
            <a:r>
              <a:rPr lang="cs-CZ" sz="1200" dirty="0"/>
              <a:t>[i]), pokaždé kontroluje, zda index i není mimo rozsah (tzv. </a:t>
            </a:r>
            <a:r>
              <a:rPr lang="cs-CZ" sz="1200" b="1" dirty="0" err="1"/>
              <a:t>Bounds</a:t>
            </a:r>
            <a:r>
              <a:rPr lang="cs-CZ" sz="1200" b="1" dirty="0"/>
              <a:t> </a:t>
            </a:r>
            <a:r>
              <a:rPr lang="cs-CZ" sz="1200" b="1" dirty="0" err="1"/>
              <a:t>Checking</a:t>
            </a:r>
            <a:r>
              <a:rPr lang="cs-CZ" sz="1200" dirty="0"/>
              <a:t>). To stojí procesor pár nanosekund. V cyklu, který běží miliardkrát, to ale dělá rozdíl.</a:t>
            </a:r>
          </a:p>
          <a:p>
            <a:r>
              <a:rPr lang="cs-CZ" sz="1200" dirty="0"/>
              <a:t>Práce přes </a:t>
            </a:r>
            <a:r>
              <a:rPr lang="cs-CZ" sz="1200" dirty="0" err="1"/>
              <a:t>int</a:t>
            </a:r>
            <a:r>
              <a:rPr lang="cs-CZ" sz="1200" dirty="0"/>
              <a:t>* (ukazatele) tyto kontroly obchází. Procesor prostě skočí na adresu a čte.</a:t>
            </a:r>
          </a:p>
          <a:p>
            <a:endParaRPr lang="cs-CZ" b="1" dirty="0"/>
          </a:p>
        </p:txBody>
      </p:sp>
    </p:spTree>
    <p:extLst>
      <p:ext uri="{BB962C8B-B14F-4D97-AF65-F5344CB8AC3E}">
        <p14:creationId xmlns:p14="http://schemas.microsoft.com/office/powerpoint/2010/main" val="409960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F34CF01-C529-6756-F7BA-5430555FB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Základní datové typy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EC3BA78-5767-BC77-13AC-A90FA58CE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01116"/>
          </a:xfrm>
        </p:spPr>
        <p:txBody>
          <a:bodyPr/>
          <a:lstStyle/>
          <a:p>
            <a:r>
              <a:rPr lang="cs-CZ" dirty="0"/>
              <a:t>Celočíselné znaménkové (</a:t>
            </a:r>
            <a:r>
              <a:rPr lang="cs-CZ" dirty="0" err="1"/>
              <a:t>signed</a:t>
            </a:r>
            <a:r>
              <a:rPr lang="cs-CZ" dirty="0"/>
              <a:t>) typy</a:t>
            </a:r>
          </a:p>
        </p:txBody>
      </p:sp>
      <p:graphicFrame>
        <p:nvGraphicFramePr>
          <p:cNvPr id="4" name="Tabulka 3">
            <a:extLst>
              <a:ext uri="{FF2B5EF4-FFF2-40B4-BE49-F238E27FC236}">
                <a16:creationId xmlns:a16="http://schemas.microsoft.com/office/drawing/2014/main" id="{33AF6546-55ED-5892-E75F-D46259D012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371086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359293274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70433440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1468110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864492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C# Typ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.NET Typ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 dirty="0">
                          <a:effectLst/>
                          <a:latin typeface="Google Sans Text"/>
                        </a:rPr>
                        <a:t>Velikost (Byty)</a:t>
                      </a:r>
                      <a:endParaRPr lang="cs-CZ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Rozsah (přibližně)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9015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sbyte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SByte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1 B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-128 až 127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80095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short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Int16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2 B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-32 768 až 32 767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5416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int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highlight>
                            <a:srgbClr val="FFFF00"/>
                          </a:highlight>
                          <a:latin typeface="Google Sans Text"/>
                        </a:rPr>
                        <a:t>Int32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4 B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-2,1 mld. až 2,1 mld.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679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long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Int64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8 B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-9 triliónů až 9 triliónů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3626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6161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7D93DF5-4BC0-2B15-3889-75B6505A4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Základní jednoduché datové typy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1046E1E-20A0-2EA3-F4F9-878093D89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18399"/>
          </a:xfrm>
        </p:spPr>
        <p:txBody>
          <a:bodyPr/>
          <a:lstStyle/>
          <a:p>
            <a:r>
              <a:rPr lang="cs-CZ" dirty="0"/>
              <a:t>Celočíselné neznaménkové (</a:t>
            </a:r>
            <a:r>
              <a:rPr lang="cs-CZ" dirty="0" err="1"/>
              <a:t>unsigned</a:t>
            </a:r>
            <a:r>
              <a:rPr lang="cs-CZ" dirty="0"/>
              <a:t>) typy</a:t>
            </a:r>
          </a:p>
          <a:p>
            <a:endParaRPr lang="cs-CZ" dirty="0"/>
          </a:p>
        </p:txBody>
      </p:sp>
      <p:graphicFrame>
        <p:nvGraphicFramePr>
          <p:cNvPr id="4" name="Tabulka 3">
            <a:extLst>
              <a:ext uri="{FF2B5EF4-FFF2-40B4-BE49-F238E27FC236}">
                <a16:creationId xmlns:a16="http://schemas.microsoft.com/office/drawing/2014/main" id="{8653E899-3479-1EB1-172B-323EDCC90B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6069598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101870503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3081095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2076627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3752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C# Typ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.NET Typ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Velikost (Byty)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Rozsah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5557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byte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Byte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1 B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0 až 255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71714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ushort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UInt16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2 B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0 až 65 535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3878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uint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UInt32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4 B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highlight>
                            <a:srgbClr val="FFFF00"/>
                          </a:highlight>
                          <a:latin typeface="Google Sans Text"/>
                        </a:rPr>
                        <a:t>0 až 4,2 mld. </a:t>
                      </a:r>
                      <a:endParaRPr lang="cs-CZ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57629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ulong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UInt64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8 B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0 až 18 triliónů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3418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0432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E925D-CE40-32B1-CED8-6A1D0CD3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1CA1039-DDA7-5F76-A497-CEE7B637F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Základní jednoduché datové typy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D8AF9F39-85ED-29A7-D5D0-4A1525E85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18399"/>
          </a:xfrm>
        </p:spPr>
        <p:txBody>
          <a:bodyPr/>
          <a:lstStyle/>
          <a:p>
            <a:r>
              <a:rPr lang="cs-CZ" dirty="0"/>
              <a:t>Desetinná čísla a ostatní typy</a:t>
            </a:r>
          </a:p>
          <a:p>
            <a:endParaRPr lang="cs-CZ" dirty="0"/>
          </a:p>
        </p:txBody>
      </p:sp>
      <p:graphicFrame>
        <p:nvGraphicFramePr>
          <p:cNvPr id="5" name="Tabulka 4">
            <a:extLst>
              <a:ext uri="{FF2B5EF4-FFF2-40B4-BE49-F238E27FC236}">
                <a16:creationId xmlns:a16="http://schemas.microsoft.com/office/drawing/2014/main" id="{DB7FD158-8AFA-1ED7-8317-02EBB579B3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368550"/>
              </p:ext>
            </p:extLst>
          </p:nvPr>
        </p:nvGraphicFramePr>
        <p:xfrm>
          <a:off x="838200" y="2492534"/>
          <a:ext cx="10515600" cy="301752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36706169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72385195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2552222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4725035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C# Typ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Velikost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Přesnost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Použití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24041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float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4 B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~7 číslic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Grafika, hry (rychlost)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394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double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8 B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~15-17 číslic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Výchozí pro desetinná čísla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46909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decimal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16 B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28-29 číslic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Finance, peníze (žádné chyby zaokrouhlení)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8397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char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highlight>
                            <a:srgbClr val="FFFF00"/>
                          </a:highlight>
                          <a:latin typeface="Google Sans Text"/>
                        </a:rPr>
                        <a:t>2 B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1 znak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Unicode znak (UTF-16)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9271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bool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1 B*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true / false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Logické operace (*fyzicky 1 byte, stačil by 1 bit)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83650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57674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9F7F3DF-7B60-EDE7-EED8-743CB55AA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Strukturované (složené datové typy)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56D472A-C42F-113E-3D9F-86AC1D502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375999"/>
          </a:xfrm>
        </p:spPr>
        <p:txBody>
          <a:bodyPr/>
          <a:lstStyle/>
          <a:p>
            <a:r>
              <a:rPr lang="cs-CZ" dirty="0"/>
              <a:t>pole, generické kolekce (list, slovník), textové řetězce, struktury, třídy, … </a:t>
            </a:r>
          </a:p>
          <a:p>
            <a:r>
              <a:rPr lang="cs-CZ" i="1" dirty="0">
                <a:solidFill>
                  <a:schemeClr val="accent1"/>
                </a:solidFill>
              </a:rPr>
              <a:t>Určete, v jaké situaci co použít</a:t>
            </a:r>
          </a:p>
          <a:p>
            <a:r>
              <a:rPr lang="cs-CZ" i="1" dirty="0">
                <a:solidFill>
                  <a:schemeClr val="accent1"/>
                </a:solidFill>
              </a:rPr>
              <a:t>Jak daný typ v kódu vytvořit</a:t>
            </a:r>
          </a:p>
          <a:p>
            <a:r>
              <a:rPr lang="cs-CZ" i="1" dirty="0">
                <a:solidFill>
                  <a:schemeClr val="accent1"/>
                </a:solidFill>
              </a:rPr>
              <a:t>Jaké jsou jeho specifické vlastnosti a základní metody</a:t>
            </a:r>
          </a:p>
        </p:txBody>
      </p:sp>
    </p:spTree>
    <p:extLst>
      <p:ext uri="{BB962C8B-B14F-4D97-AF65-F5344CB8AC3E}">
        <p14:creationId xmlns:p14="http://schemas.microsoft.com/office/powerpoint/2010/main" val="5542198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7AF4792-5E41-EE05-4C0C-655A18D5B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Senzor teploty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EAFCBFB-E64D-79E9-A776-5598C2B12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95349"/>
          </a:xfrm>
        </p:spPr>
        <p:txBody>
          <a:bodyPr/>
          <a:lstStyle/>
          <a:p>
            <a:r>
              <a:rPr lang="cs-CZ" dirty="0"/>
              <a:t>Máte aplikaci, která každou hodinu načte teplotu. Dopředu víte, že měření probíhá přesně 24 hodin a pak se data zpracují. Hodnoty se v průběhu dne nebudou doplňovat ani mazat. </a:t>
            </a:r>
          </a:p>
          <a:p>
            <a:r>
              <a:rPr lang="cs-CZ" b="1" dirty="0"/>
              <a:t>Co použijete pro uložení těchto 24 čísel?</a:t>
            </a:r>
            <a:endParaRPr lang="cs-CZ" dirty="0"/>
          </a:p>
        </p:txBody>
      </p:sp>
      <p:pic>
        <p:nvPicPr>
          <p:cNvPr id="6" name="Obrázek 5">
            <a:extLst>
              <a:ext uri="{FF2B5EF4-FFF2-40B4-BE49-F238E27FC236}">
                <a16:creationId xmlns:a16="http://schemas.microsoft.com/office/drawing/2014/main" id="{8CC4EC50-A3B3-393C-6177-2FE5B02C12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785" y="3720974"/>
            <a:ext cx="5258534" cy="2705478"/>
          </a:xfrm>
          <a:prstGeom prst="rect">
            <a:avLst/>
          </a:prstGeom>
        </p:spPr>
      </p:pic>
      <p:pic>
        <p:nvPicPr>
          <p:cNvPr id="8" name="Obrázek 7">
            <a:extLst>
              <a:ext uri="{FF2B5EF4-FFF2-40B4-BE49-F238E27FC236}">
                <a16:creationId xmlns:a16="http://schemas.microsoft.com/office/drawing/2014/main" id="{5BD39B17-516B-2CFC-F6D7-66E323571E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108" y="3647865"/>
            <a:ext cx="5420481" cy="3010320"/>
          </a:xfrm>
          <a:prstGeom prst="rect">
            <a:avLst/>
          </a:prstGeom>
        </p:spPr>
      </p:pic>
      <p:sp>
        <p:nvSpPr>
          <p:cNvPr id="9" name="TextovéPole 8">
            <a:extLst>
              <a:ext uri="{FF2B5EF4-FFF2-40B4-BE49-F238E27FC236}">
                <a16:creationId xmlns:a16="http://schemas.microsoft.com/office/drawing/2014/main" id="{5637EC40-6B7F-F99E-5028-664D8FEF4005}"/>
              </a:ext>
            </a:extLst>
          </p:cNvPr>
          <p:cNvSpPr txBox="1"/>
          <p:nvPr/>
        </p:nvSpPr>
        <p:spPr>
          <a:xfrm>
            <a:off x="674785" y="6426452"/>
            <a:ext cx="4920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dirty="0"/>
              <a:t>Screenshoty ze souboru </a:t>
            </a:r>
            <a:r>
              <a:rPr lang="cs-CZ" i="1" dirty="0"/>
              <a:t>csharp_cheatsheet.md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04527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B2FB1A9-2BE0-53C8-B672-98BCCA1B23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 dirty="0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BBF4D9B5-6F29-A676-0755-281795A941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627" y="151942"/>
            <a:ext cx="5696745" cy="6554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1431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2BE9C5A-9B1E-C51B-599F-CF0BD8CFA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Nákupní košík v e-shopu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5544DE0-03D4-197F-0995-A66E8F873F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86296"/>
          </a:xfrm>
        </p:spPr>
        <p:txBody>
          <a:bodyPr>
            <a:normAutofit/>
          </a:bodyPr>
          <a:lstStyle/>
          <a:p>
            <a:r>
              <a:rPr lang="cs-CZ" dirty="0"/>
              <a:t>Uživatel si prohlíží web a průběžně kliká na tlačítko "Koupit". Nevíte, jestli si koupí 1 věc nebo 50. Položky musíte umět snadno přidávat i odebírat. </a:t>
            </a:r>
          </a:p>
          <a:p>
            <a:r>
              <a:rPr lang="cs-CZ" b="1" dirty="0"/>
              <a:t>Jaký typ zvolíte pro seznam zboží?</a:t>
            </a:r>
            <a:endParaRPr lang="cs-CZ" dirty="0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DA5D1F6C-2F4C-8F23-477F-716EDECAD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846858"/>
            <a:ext cx="4953691" cy="2610214"/>
          </a:xfrm>
          <a:prstGeom prst="rect">
            <a:avLst/>
          </a:prstGeom>
        </p:spPr>
      </p:pic>
      <p:pic>
        <p:nvPicPr>
          <p:cNvPr id="7" name="Obrázek 6">
            <a:extLst>
              <a:ext uri="{FF2B5EF4-FFF2-40B4-BE49-F238E27FC236}">
                <a16:creationId xmlns:a16="http://schemas.microsoft.com/office/drawing/2014/main" id="{24D9C9D6-7B6C-6D93-9B27-F002A2CCD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539713"/>
            <a:ext cx="4439270" cy="295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196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ázek 4">
            <a:extLst>
              <a:ext uri="{FF2B5EF4-FFF2-40B4-BE49-F238E27FC236}">
                <a16:creationId xmlns:a16="http://schemas.microsoft.com/office/drawing/2014/main" id="{CD26E5C2-A10D-FA4C-1D9A-6B9300068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4732" y="51916"/>
            <a:ext cx="5982535" cy="6754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8751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AC27BDB-62FF-0B16-3360-7F95D4C4A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GPS souřadnice (Bod na mapě)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6A9F6E6-E333-215A-89D5-15EC9AEFE0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50494"/>
          </a:xfrm>
        </p:spPr>
        <p:txBody>
          <a:bodyPr>
            <a:normAutofit lnSpcReduction="10000"/>
          </a:bodyPr>
          <a:lstStyle/>
          <a:p>
            <a:r>
              <a:rPr lang="cs-CZ" dirty="0"/>
              <a:t>Potřebujete v programu pracovat s miliony bodů, kde každý má jen dvě vlastnosti: double X a double Y. Jde o velmi malý objekt, se kterým se nebude dále dědit a chceš šetřit paměť na haldě. </a:t>
            </a:r>
          </a:p>
          <a:p>
            <a:r>
              <a:rPr lang="cs-CZ" b="1" dirty="0"/>
              <a:t>Vytvoříte pro bod Třídu (</a:t>
            </a:r>
            <a:r>
              <a:rPr lang="cs-CZ" b="1" dirty="0" err="1"/>
              <a:t>class</a:t>
            </a:r>
            <a:r>
              <a:rPr lang="cs-CZ" b="1" dirty="0"/>
              <a:t>) nebo Strukturu (</a:t>
            </a:r>
            <a:r>
              <a:rPr lang="cs-CZ" b="1" dirty="0" err="1"/>
              <a:t>struct</a:t>
            </a:r>
            <a:r>
              <a:rPr lang="cs-CZ" b="1" dirty="0"/>
              <a:t>)?</a:t>
            </a:r>
            <a:endParaRPr lang="cs-CZ" dirty="0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ADEB1F9D-57DD-E779-1C31-DA37CAE4A5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833" y="3711056"/>
            <a:ext cx="6649378" cy="2534004"/>
          </a:xfrm>
          <a:prstGeom prst="rect">
            <a:avLst/>
          </a:prstGeom>
        </p:spPr>
      </p:pic>
      <p:pic>
        <p:nvPicPr>
          <p:cNvPr id="7" name="Obrázek 6">
            <a:extLst>
              <a:ext uri="{FF2B5EF4-FFF2-40B4-BE49-F238E27FC236}">
                <a16:creationId xmlns:a16="http://schemas.microsoft.com/office/drawing/2014/main" id="{8D627F8A-D744-D0B9-BE23-E2B9AA7399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9614" y="3887293"/>
            <a:ext cx="4639322" cy="2181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980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BB3696F-540C-A753-FA03-EAC4CE945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Evidence studentů ve škole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B9A7CD6-6117-7FD0-4356-81C9265AE5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85060"/>
          </a:xfrm>
        </p:spPr>
        <p:txBody>
          <a:bodyPr/>
          <a:lstStyle/>
          <a:p>
            <a:r>
              <a:rPr lang="cs-CZ" dirty="0"/>
              <a:t>Potřebuješ ukládat detailní informace o studentech (Jméno, ID, Seznam známek). Každý student je komplexní entita, která má i své metody (např. </a:t>
            </a:r>
            <a:r>
              <a:rPr lang="cs-CZ" dirty="0" err="1">
                <a:latin typeface="Consolas" panose="020B0609020204030204" pitchFamily="49" charset="0"/>
              </a:rPr>
              <a:t>VypocitejPrumer</a:t>
            </a:r>
            <a:r>
              <a:rPr lang="cs-CZ" dirty="0">
                <a:latin typeface="Consolas" panose="020B0609020204030204" pitchFamily="49" charset="0"/>
              </a:rPr>
              <a:t>()</a:t>
            </a:r>
            <a:r>
              <a:rPr lang="cs-CZ" dirty="0"/>
              <a:t>). Navíc chceš používat dědičnost (např. </a:t>
            </a:r>
            <a:r>
              <a:rPr lang="cs-CZ" dirty="0" err="1">
                <a:latin typeface="Consolas" panose="020B0609020204030204" pitchFamily="49" charset="0"/>
              </a:rPr>
              <a:t>ZahranicniStudent</a:t>
            </a:r>
            <a:r>
              <a:rPr lang="cs-CZ" dirty="0"/>
              <a:t> dědí od </a:t>
            </a:r>
            <a:r>
              <a:rPr lang="cs-CZ" dirty="0">
                <a:latin typeface="Consolas" panose="020B0609020204030204" pitchFamily="49" charset="0"/>
              </a:rPr>
              <a:t>Student</a:t>
            </a:r>
            <a:r>
              <a:rPr lang="cs-CZ" dirty="0"/>
              <a:t>). </a:t>
            </a:r>
          </a:p>
          <a:p>
            <a:r>
              <a:rPr lang="cs-CZ" b="1" dirty="0"/>
              <a:t>Co použijete?</a:t>
            </a:r>
            <a:endParaRPr lang="cs-CZ" dirty="0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182918EC-ED83-9A6F-2C87-798C4D0255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03" y="4039584"/>
            <a:ext cx="6010984" cy="2453291"/>
          </a:xfrm>
          <a:prstGeom prst="rect">
            <a:avLst/>
          </a:prstGeom>
        </p:spPr>
      </p:pic>
      <p:pic>
        <p:nvPicPr>
          <p:cNvPr id="7" name="Obrázek 6">
            <a:extLst>
              <a:ext uri="{FF2B5EF4-FFF2-40B4-BE49-F238E27FC236}">
                <a16:creationId xmlns:a16="http://schemas.microsoft.com/office/drawing/2014/main" id="{DE01BB3E-43FB-F8ED-5189-9C870D5C94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5073" y="4170701"/>
            <a:ext cx="4648849" cy="219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979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FEE847D-6091-E30E-6937-0EFEFC407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Ještě existuje </a:t>
            </a:r>
            <a:r>
              <a:rPr lang="cs-CZ" dirty="0" err="1"/>
              <a:t>record</a:t>
            </a:r>
            <a:r>
              <a:rPr lang="cs-CZ" dirty="0"/>
              <a:t>…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4A59E4E-96EB-6EDE-0E35-5F8A3BFF86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08522"/>
          </a:xfrm>
        </p:spPr>
        <p:txBody>
          <a:bodyPr/>
          <a:lstStyle/>
          <a:p>
            <a:r>
              <a:rPr lang="cs-CZ" dirty="0"/>
              <a:t>Ideální volba pro nahrání dat z databáze, která jen předáváme, neměníme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9BB780A4-AF04-E34D-4021-1FF7DEA52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168" y="2869084"/>
            <a:ext cx="5463368" cy="3041964"/>
          </a:xfrm>
          <a:prstGeom prst="rect">
            <a:avLst/>
          </a:prstGeom>
        </p:spPr>
      </p:pic>
      <p:graphicFrame>
        <p:nvGraphicFramePr>
          <p:cNvPr id="6" name="Tabulka 5">
            <a:extLst>
              <a:ext uri="{FF2B5EF4-FFF2-40B4-BE49-F238E27FC236}">
                <a16:creationId xmlns:a16="http://schemas.microsoft.com/office/drawing/2014/main" id="{3F933A2C-3EC2-6F60-D6B8-4B352B64A8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5907994"/>
              </p:ext>
            </p:extLst>
          </p:nvPr>
        </p:nvGraphicFramePr>
        <p:xfrm>
          <a:off x="6096000" y="2606986"/>
          <a:ext cx="5867400" cy="3566160"/>
        </p:xfrm>
        <a:graphic>
          <a:graphicData uri="http://schemas.openxmlformats.org/drawingml/2006/table">
            <a:tbl>
              <a:tblPr>
                <a:tableStyleId>{B301B821-A1FF-4177-AEE7-76D212191A09}</a:tableStyleId>
              </a:tblPr>
              <a:tblGrid>
                <a:gridCol w="1466850">
                  <a:extLst>
                    <a:ext uri="{9D8B030D-6E8A-4147-A177-3AD203B41FA5}">
                      <a16:colId xmlns:a16="http://schemas.microsoft.com/office/drawing/2014/main" val="2354498460"/>
                    </a:ext>
                  </a:extLst>
                </a:gridCol>
                <a:gridCol w="1466850">
                  <a:extLst>
                    <a:ext uri="{9D8B030D-6E8A-4147-A177-3AD203B41FA5}">
                      <a16:colId xmlns:a16="http://schemas.microsoft.com/office/drawing/2014/main" val="1479283113"/>
                    </a:ext>
                  </a:extLst>
                </a:gridCol>
                <a:gridCol w="1466850">
                  <a:extLst>
                    <a:ext uri="{9D8B030D-6E8A-4147-A177-3AD203B41FA5}">
                      <a16:colId xmlns:a16="http://schemas.microsoft.com/office/drawing/2014/main" val="4229275634"/>
                    </a:ext>
                  </a:extLst>
                </a:gridCol>
                <a:gridCol w="1466850">
                  <a:extLst>
                    <a:ext uri="{9D8B030D-6E8A-4147-A177-3AD203B41FA5}">
                      <a16:colId xmlns:a16="http://schemas.microsoft.com/office/drawing/2014/main" val="5736377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</a:rPr>
                        <a:t>Vlastnost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 dirty="0" err="1">
                          <a:effectLst/>
                        </a:rPr>
                        <a:t>class</a:t>
                      </a:r>
                      <a:endParaRPr lang="cs-CZ" dirty="0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</a:rPr>
                        <a:t>struct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</a:rPr>
                        <a:t>record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86516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</a:rPr>
                        <a:t>Typ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Referenční (Heap)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Hodnotový (Stack)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Referenční (standardně)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1539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</a:rPr>
                        <a:t>Výchozí rovnost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Podle adresy (Reference)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Podle hodnot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 dirty="0">
                          <a:effectLst/>
                        </a:rPr>
                        <a:t>Podle hodnot</a:t>
                      </a:r>
                      <a:endParaRPr lang="cs-CZ" b="1" dirty="0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47909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</a:rPr>
                        <a:t>Dědičnost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Ano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Ne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Ano (mezi recordy)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22183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</a:rPr>
                        <a:t>Hlavní účel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Logika a chování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Malá data, výkon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Přenos dat, neměnnost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9570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 dirty="0">
                          <a:effectLst/>
                        </a:rPr>
                        <a:t>Předávání</a:t>
                      </a:r>
                      <a:endParaRPr lang="cs-CZ" dirty="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</a:rPr>
                        <a:t>Předává se odkaz</a:t>
                      </a:r>
                      <a:endParaRPr lang="cs-CZ" dirty="0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Kopíruje se hodnota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</a:rPr>
                        <a:t>Předává se odkaz</a:t>
                      </a:r>
                      <a:endParaRPr lang="cs-CZ" dirty="0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0181577"/>
                  </a:ext>
                </a:extLst>
              </a:tr>
            </a:tbl>
          </a:graphicData>
        </a:graphic>
      </p:graphicFrame>
      <p:sp>
        <p:nvSpPr>
          <p:cNvPr id="7" name="TextovéPole 6">
            <a:extLst>
              <a:ext uri="{FF2B5EF4-FFF2-40B4-BE49-F238E27FC236}">
                <a16:creationId xmlns:a16="http://schemas.microsoft.com/office/drawing/2014/main" id="{F431CD8E-39FA-0183-91E8-28AC97654773}"/>
              </a:ext>
            </a:extLst>
          </p:cNvPr>
          <p:cNvSpPr txBox="1"/>
          <p:nvPr/>
        </p:nvSpPr>
        <p:spPr>
          <a:xfrm>
            <a:off x="460972" y="6418907"/>
            <a:ext cx="9207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dirty="0"/>
              <a:t>Dnešním hitem je pak z hlediska výkonu a šetřením místem prý </a:t>
            </a:r>
            <a:r>
              <a:rPr lang="cs-CZ" dirty="0" err="1">
                <a:latin typeface="Consolas" panose="020B0609020204030204" pitchFamily="49" charset="0"/>
              </a:rPr>
              <a:t>readonly</a:t>
            </a:r>
            <a:r>
              <a:rPr lang="cs-CZ" dirty="0">
                <a:latin typeface="Consolas" panose="020B0609020204030204" pitchFamily="49" charset="0"/>
              </a:rPr>
              <a:t> </a:t>
            </a:r>
            <a:r>
              <a:rPr lang="cs-CZ" dirty="0" err="1">
                <a:latin typeface="Consolas" panose="020B0609020204030204" pitchFamily="49" charset="0"/>
              </a:rPr>
              <a:t>record</a:t>
            </a:r>
            <a:r>
              <a:rPr lang="cs-CZ" dirty="0">
                <a:latin typeface="Consolas" panose="020B0609020204030204" pitchFamily="49" charset="0"/>
              </a:rPr>
              <a:t> </a:t>
            </a:r>
            <a:r>
              <a:rPr lang="cs-CZ" dirty="0" err="1">
                <a:latin typeface="Consolas" panose="020B0609020204030204" pitchFamily="49" charset="0"/>
              </a:rPr>
              <a:t>struct</a:t>
            </a:r>
            <a:endParaRPr lang="cs-CZ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75306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86F3449-FEE4-8210-4BC4-66C7174C1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Readonly</a:t>
            </a:r>
            <a:r>
              <a:rPr lang="cs-CZ" dirty="0"/>
              <a:t> </a:t>
            </a:r>
            <a:r>
              <a:rPr lang="cs-CZ" dirty="0" err="1"/>
              <a:t>record</a:t>
            </a:r>
            <a:r>
              <a:rPr lang="cs-CZ" dirty="0"/>
              <a:t> </a:t>
            </a:r>
            <a:r>
              <a:rPr lang="cs-CZ" dirty="0" err="1"/>
              <a:t>struct</a:t>
            </a:r>
            <a:endParaRPr lang="cs-CZ" dirty="0"/>
          </a:p>
        </p:txBody>
      </p:sp>
      <p:pic>
        <p:nvPicPr>
          <p:cNvPr id="7" name="Obrázek 6">
            <a:extLst>
              <a:ext uri="{FF2B5EF4-FFF2-40B4-BE49-F238E27FC236}">
                <a16:creationId xmlns:a16="http://schemas.microsoft.com/office/drawing/2014/main" id="{CAC0B1E1-92F3-1459-2C51-1C71E51DC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91" y="1690688"/>
            <a:ext cx="4611575" cy="2145217"/>
          </a:xfrm>
          <a:prstGeom prst="rect">
            <a:avLst/>
          </a:prstGeom>
        </p:spPr>
      </p:pic>
      <p:pic>
        <p:nvPicPr>
          <p:cNvPr id="9" name="Obrázek 8">
            <a:extLst>
              <a:ext uri="{FF2B5EF4-FFF2-40B4-BE49-F238E27FC236}">
                <a16:creationId xmlns:a16="http://schemas.microsoft.com/office/drawing/2014/main" id="{C804023B-5150-8E5C-8BDF-015E61979B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019" y="1690688"/>
            <a:ext cx="6026590" cy="4498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6286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9A71C45-207A-9C6C-6E83-974F5E80A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Rychlý překladový slovník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A499246-E96A-9B03-A83B-B4EE2AC18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95761"/>
          </a:xfrm>
        </p:spPr>
        <p:txBody>
          <a:bodyPr/>
          <a:lstStyle/>
          <a:p>
            <a:r>
              <a:rPr lang="cs-CZ" dirty="0"/>
              <a:t>Máte seznam 10 000 anglických slov a k nim české významy. Potřebujete, aby program po zadání anglického slova okamžitě (bez projíždění celého seznamu) našel český překlad. </a:t>
            </a:r>
          </a:p>
          <a:p>
            <a:r>
              <a:rPr lang="cs-CZ" b="1" dirty="0"/>
              <a:t>Kterou generickou kolekci vyberete?</a:t>
            </a:r>
            <a:endParaRPr lang="cs-CZ" dirty="0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A5F2B39D-1668-55DE-8C45-AFB7F0A94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993" y="3526136"/>
            <a:ext cx="4554898" cy="3236614"/>
          </a:xfrm>
          <a:prstGeom prst="rect">
            <a:avLst/>
          </a:prstGeom>
        </p:spPr>
      </p:pic>
      <p:pic>
        <p:nvPicPr>
          <p:cNvPr id="7" name="Obrázek 6">
            <a:extLst>
              <a:ext uri="{FF2B5EF4-FFF2-40B4-BE49-F238E27FC236}">
                <a16:creationId xmlns:a16="http://schemas.microsoft.com/office/drawing/2014/main" id="{4DBF25F8-F3D6-8024-1192-F497A247F6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9236" y="3828877"/>
            <a:ext cx="5506218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42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B59841C-338E-99E9-6178-B1284FECE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Operator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ED04258-7E2C-5F5A-031B-8FA0CC102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14739"/>
          </a:xfrm>
        </p:spPr>
        <p:txBody>
          <a:bodyPr/>
          <a:lstStyle/>
          <a:p>
            <a:r>
              <a:rPr lang="cs-CZ" dirty="0"/>
              <a:t>Jak dopadne dělení </a:t>
            </a:r>
          </a:p>
          <a:p>
            <a:pPr lvl="1"/>
            <a:r>
              <a:rPr lang="cs-CZ" dirty="0"/>
              <a:t>dvou </a:t>
            </a:r>
            <a:r>
              <a:rPr lang="cs-CZ" dirty="0" err="1"/>
              <a:t>intů</a:t>
            </a:r>
            <a:r>
              <a:rPr lang="cs-CZ" dirty="0"/>
              <a:t>, </a:t>
            </a:r>
          </a:p>
          <a:p>
            <a:pPr lvl="1"/>
            <a:r>
              <a:rPr lang="cs-CZ" dirty="0" err="1"/>
              <a:t>int</a:t>
            </a:r>
            <a:r>
              <a:rPr lang="cs-CZ" dirty="0"/>
              <a:t> a double,</a:t>
            </a:r>
          </a:p>
          <a:p>
            <a:pPr lvl="1"/>
            <a:r>
              <a:rPr lang="cs-CZ" dirty="0"/>
              <a:t>dvou double?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95AAAF09-56B5-089A-1CE3-D9D788FD9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9685" y="1825625"/>
            <a:ext cx="6554115" cy="1714739"/>
          </a:xfrm>
          <a:prstGeom prst="rect">
            <a:avLst/>
          </a:prstGeom>
        </p:spPr>
      </p:pic>
      <p:pic>
        <p:nvPicPr>
          <p:cNvPr id="7" name="Obrázek 6">
            <a:extLst>
              <a:ext uri="{FF2B5EF4-FFF2-40B4-BE49-F238E27FC236}">
                <a16:creationId xmlns:a16="http://schemas.microsoft.com/office/drawing/2014/main" id="{A5C23013-BED9-8E08-9E7D-0F05997F1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9685" y="3601475"/>
            <a:ext cx="2476846" cy="1114581"/>
          </a:xfrm>
          <a:prstGeom prst="rect">
            <a:avLst/>
          </a:prstGeom>
        </p:spPr>
      </p:pic>
      <p:pic>
        <p:nvPicPr>
          <p:cNvPr id="9" name="Obrázek 8">
            <a:extLst>
              <a:ext uri="{FF2B5EF4-FFF2-40B4-BE49-F238E27FC236}">
                <a16:creationId xmlns:a16="http://schemas.microsoft.com/office/drawing/2014/main" id="{91719E88-D860-39A7-293A-45E1FF7C49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999" y="3601475"/>
            <a:ext cx="2590908" cy="1114580"/>
          </a:xfrm>
          <a:prstGeom prst="rect">
            <a:avLst/>
          </a:prstGeom>
        </p:spPr>
      </p:pic>
      <p:sp>
        <p:nvSpPr>
          <p:cNvPr id="10" name="Zástupný obsah 2">
            <a:extLst>
              <a:ext uri="{FF2B5EF4-FFF2-40B4-BE49-F238E27FC236}">
                <a16:creationId xmlns:a16="http://schemas.microsoft.com/office/drawing/2014/main" id="{3C6A9211-3041-D06C-C1A2-372D068DD36A}"/>
              </a:ext>
            </a:extLst>
          </p:cNvPr>
          <p:cNvSpPr txBox="1">
            <a:spLocks/>
          </p:cNvSpPr>
          <p:nvPr/>
        </p:nvSpPr>
        <p:spPr>
          <a:xfrm>
            <a:off x="838200" y="3770611"/>
            <a:ext cx="3824017" cy="202360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dirty="0"/>
              <a:t>Stejný operátor se tedy může pro různé typy chovat jinak</a:t>
            </a:r>
          </a:p>
          <a:p>
            <a:pPr lvl="1"/>
            <a:r>
              <a:rPr lang="cs-CZ" dirty="0"/>
              <a:t>=&gt; </a:t>
            </a:r>
            <a:r>
              <a:rPr lang="cs-CZ" b="1" dirty="0"/>
              <a:t>přetěžování operátorů </a:t>
            </a:r>
            <a:r>
              <a:rPr lang="cs-CZ" dirty="0"/>
              <a:t>na vlastních typech</a:t>
            </a:r>
          </a:p>
        </p:txBody>
      </p:sp>
    </p:spTree>
    <p:extLst>
      <p:ext uri="{BB962C8B-B14F-4D97-AF65-F5344CB8AC3E}">
        <p14:creationId xmlns:p14="http://schemas.microsoft.com/office/powerpoint/2010/main" val="663240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4438619-AE2A-1F9C-6F25-AFAE3BEC4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Přetěžování operátorů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E56E8B3E-1C2D-9A7A-0D21-48BAC2259D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97933"/>
            <a:ext cx="10515600" cy="2836234"/>
          </a:xfrm>
        </p:spPr>
        <p:txBody>
          <a:bodyPr/>
          <a:lstStyle/>
          <a:p>
            <a:r>
              <a:rPr lang="cs-CZ" dirty="0"/>
              <a:t>Bez přetížení bychom museli psát </a:t>
            </a:r>
            <a:r>
              <a:rPr lang="cs-CZ" dirty="0">
                <a:solidFill>
                  <a:schemeClr val="accent1"/>
                </a:solidFill>
                <a:latin typeface="Consolas" panose="020B0609020204030204" pitchFamily="49" charset="0"/>
              </a:rPr>
              <a:t>v1.Add(v2)</a:t>
            </a:r>
            <a:r>
              <a:rPr lang="cs-CZ" dirty="0"/>
              <a:t>, což u složitějších výpočtů vypadá jako hromada závorek. </a:t>
            </a:r>
          </a:p>
          <a:p>
            <a:endParaRPr lang="cs-CZ" dirty="0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098B2FAE-FB50-E55B-26D9-C0B49F676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378" y="1748531"/>
            <a:ext cx="6689243" cy="767177"/>
          </a:xfrm>
          <a:prstGeom prst="rect">
            <a:avLst/>
          </a:prstGeom>
        </p:spPr>
      </p:pic>
      <p:sp>
        <p:nvSpPr>
          <p:cNvPr id="7" name="TextovéPole 6">
            <a:extLst>
              <a:ext uri="{FF2B5EF4-FFF2-40B4-BE49-F238E27FC236}">
                <a16:creationId xmlns:a16="http://schemas.microsoft.com/office/drawing/2014/main" id="{36BB322F-C2C1-BF47-6C5A-576EFECB77CC}"/>
              </a:ext>
            </a:extLst>
          </p:cNvPr>
          <p:cNvSpPr txBox="1"/>
          <p:nvPr/>
        </p:nvSpPr>
        <p:spPr>
          <a:xfrm>
            <a:off x="912137" y="3962066"/>
            <a:ext cx="609750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cs-CZ" b="1" dirty="0"/>
              <a:t>Pravidla pro </a:t>
            </a:r>
            <a:r>
              <a:rPr lang="cs-CZ" b="1" dirty="0" err="1">
                <a:latin typeface="Consolas" panose="020B0609020204030204" pitchFamily="49" charset="0"/>
              </a:rPr>
              <a:t>operator</a:t>
            </a:r>
            <a:endParaRPr lang="cs-CZ" b="1" dirty="0">
              <a:latin typeface="Consolas" panose="020B0609020204030204" pitchFamily="49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cs-CZ" dirty="0"/>
              <a:t>Musí být vždy </a:t>
            </a:r>
            <a:r>
              <a:rPr lang="cs-CZ" b="1" dirty="0">
                <a:latin typeface="Consolas" panose="020B0609020204030204" pitchFamily="49" charset="0"/>
              </a:rPr>
              <a:t>public static</a:t>
            </a:r>
            <a:r>
              <a:rPr lang="cs-CZ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cs-CZ" dirty="0"/>
              <a:t>Musí obsahovat klíčové slovo </a:t>
            </a:r>
            <a:r>
              <a:rPr lang="cs-CZ" dirty="0" err="1">
                <a:latin typeface="Consolas" panose="020B0609020204030204" pitchFamily="49" charset="0"/>
              </a:rPr>
              <a:t>operator</a:t>
            </a:r>
            <a:r>
              <a:rPr lang="cs-CZ" dirty="0"/>
              <a:t> následované symbolem (např. </a:t>
            </a:r>
            <a:r>
              <a:rPr lang="cs-CZ" dirty="0">
                <a:latin typeface="Courier New" panose="02070309020205020404" pitchFamily="49" charset="0"/>
              </a:rPr>
              <a:t>+</a:t>
            </a:r>
            <a:r>
              <a:rPr lang="cs-CZ" dirty="0"/>
              <a:t>, </a:t>
            </a:r>
            <a:r>
              <a:rPr lang="cs-CZ" dirty="0">
                <a:latin typeface="Courier New" panose="02070309020205020404" pitchFamily="49" charset="0"/>
              </a:rPr>
              <a:t>-</a:t>
            </a:r>
            <a:r>
              <a:rPr lang="cs-CZ" dirty="0"/>
              <a:t>, </a:t>
            </a:r>
            <a:r>
              <a:rPr lang="cs-CZ" dirty="0">
                <a:latin typeface="Courier New" panose="02070309020205020404" pitchFamily="49" charset="0"/>
              </a:rPr>
              <a:t>*</a:t>
            </a:r>
            <a:r>
              <a:rPr lang="cs-CZ" dirty="0"/>
              <a:t>, </a:t>
            </a:r>
            <a:r>
              <a:rPr lang="cs-CZ" dirty="0">
                <a:latin typeface="Courier New" panose="02070309020205020404" pitchFamily="49" charset="0"/>
              </a:rPr>
              <a:t>==</a:t>
            </a:r>
            <a:r>
              <a:rPr lang="cs-CZ" dirty="0"/>
              <a:t>).</a:t>
            </a:r>
          </a:p>
          <a:p>
            <a:pPr marL="342900" indent="-342900">
              <a:buFont typeface="+mj-lt"/>
              <a:buAutoNum type="arabicPeriod"/>
            </a:pPr>
            <a:r>
              <a:rPr lang="cs-CZ" dirty="0"/>
              <a:t>Alespoň jeden z parametrů musí být typu té třídy/struktury, ve které se operátor nachází.</a:t>
            </a:r>
          </a:p>
        </p:txBody>
      </p:sp>
    </p:spTree>
    <p:extLst>
      <p:ext uri="{BB962C8B-B14F-4D97-AF65-F5344CB8AC3E}">
        <p14:creationId xmlns:p14="http://schemas.microsoft.com/office/powerpoint/2010/main" val="10170508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4578666-7CCB-5B98-80E6-CA9887532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Co když tam nic není?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279368E-1F3B-AEBA-75F8-43FD04C027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2003992"/>
          </a:xfrm>
        </p:spPr>
        <p:txBody>
          <a:bodyPr>
            <a:normAutofit lnSpcReduction="10000"/>
          </a:bodyPr>
          <a:lstStyle/>
          <a:p>
            <a:r>
              <a:rPr lang="cs-CZ" dirty="0"/>
              <a:t>Referenční typy mají NULL</a:t>
            </a:r>
          </a:p>
          <a:p>
            <a:r>
              <a:rPr lang="cs-CZ" dirty="0"/>
              <a:t>Co mají hodnotové typy? </a:t>
            </a:r>
          </a:p>
          <a:p>
            <a:pPr lvl="1"/>
            <a:r>
              <a:rPr lang="cs-CZ" dirty="0">
                <a:latin typeface="Consolas" panose="020B0609020204030204" pitchFamily="49" charset="0"/>
              </a:rPr>
              <a:t>Default</a:t>
            </a:r>
          </a:p>
          <a:p>
            <a:pPr lvl="1"/>
            <a:r>
              <a:rPr lang="cs-CZ" dirty="0"/>
              <a:t>Nebo je uděláme </a:t>
            </a:r>
            <a:r>
              <a:rPr lang="cs-CZ" dirty="0" err="1"/>
              <a:t>nullable</a:t>
            </a:r>
            <a:r>
              <a:rPr lang="cs-CZ" dirty="0"/>
              <a:t>: </a:t>
            </a:r>
            <a:br>
              <a:rPr lang="cs-CZ" dirty="0"/>
            </a:br>
            <a:r>
              <a:rPr lang="cs-CZ" dirty="0" err="1">
                <a:latin typeface="Consolas" panose="020B0609020204030204" pitchFamily="49" charset="0"/>
              </a:rPr>
              <a:t>int</a:t>
            </a:r>
            <a:r>
              <a:rPr lang="cs-CZ" dirty="0">
                <a:latin typeface="Consolas" panose="020B0609020204030204" pitchFamily="49" charset="0"/>
              </a:rPr>
              <a:t>? vek = </a:t>
            </a:r>
            <a:r>
              <a:rPr lang="cs-CZ" dirty="0" err="1">
                <a:latin typeface="Consolas" panose="020B0609020204030204" pitchFamily="49" charset="0"/>
              </a:rPr>
              <a:t>null</a:t>
            </a:r>
            <a:r>
              <a:rPr lang="cs-CZ" dirty="0">
                <a:latin typeface="Consolas" panose="020B0609020204030204" pitchFamily="49" charset="0"/>
              </a:rPr>
              <a:t>;</a:t>
            </a:r>
          </a:p>
        </p:txBody>
      </p:sp>
      <p:graphicFrame>
        <p:nvGraphicFramePr>
          <p:cNvPr id="4" name="Tabulka 3">
            <a:extLst>
              <a:ext uri="{FF2B5EF4-FFF2-40B4-BE49-F238E27FC236}">
                <a16:creationId xmlns:a16="http://schemas.microsoft.com/office/drawing/2014/main" id="{730961F8-A588-94A0-F764-9B3AC53969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96917"/>
              </p:ext>
            </p:extLst>
          </p:nvPr>
        </p:nvGraphicFramePr>
        <p:xfrm>
          <a:off x="1417621" y="4117063"/>
          <a:ext cx="6334126" cy="18288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3167063">
                  <a:extLst>
                    <a:ext uri="{9D8B030D-6E8A-4147-A177-3AD203B41FA5}">
                      <a16:colId xmlns:a16="http://schemas.microsoft.com/office/drawing/2014/main" val="2689137496"/>
                    </a:ext>
                  </a:extLst>
                </a:gridCol>
                <a:gridCol w="3167063">
                  <a:extLst>
                    <a:ext uri="{9D8B030D-6E8A-4147-A177-3AD203B41FA5}">
                      <a16:colId xmlns:a16="http://schemas.microsoft.com/office/drawing/2014/main" val="26457247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</a:rPr>
                        <a:t>Typ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</a:rPr>
                        <a:t>Výchozí hodnota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469025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Consolas" panose="020B0609020204030204" pitchFamily="49" charset="0"/>
                        </a:rPr>
                        <a:t>int, float, double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43089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Consolas" panose="020B0609020204030204" pitchFamily="49" charset="0"/>
                        </a:rPr>
                        <a:t>bool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 err="1">
                          <a:effectLst/>
                          <a:latin typeface="Consolas" panose="020B0609020204030204" pitchFamily="49" charset="0"/>
                        </a:rPr>
                        <a:t>false</a:t>
                      </a:r>
                      <a:endParaRPr lang="cs-CZ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10345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Consolas" panose="020B0609020204030204" pitchFamily="49" charset="0"/>
                        </a:rPr>
                        <a:t>char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Consolas" panose="020B0609020204030204" pitchFamily="49" charset="0"/>
                        </a:rPr>
                        <a:t>\0 </a:t>
                      </a:r>
                      <a:r>
                        <a:rPr lang="cs-CZ" dirty="0">
                          <a:effectLst/>
                        </a:rPr>
                        <a:t>(</a:t>
                      </a:r>
                      <a:r>
                        <a:rPr lang="cs-CZ" dirty="0" err="1">
                          <a:effectLst/>
                        </a:rPr>
                        <a:t>null</a:t>
                      </a:r>
                      <a:r>
                        <a:rPr lang="cs-CZ" dirty="0">
                          <a:effectLst/>
                        </a:rPr>
                        <a:t> </a:t>
                      </a:r>
                      <a:r>
                        <a:rPr lang="cs-CZ" dirty="0" err="1">
                          <a:effectLst/>
                        </a:rPr>
                        <a:t>character</a:t>
                      </a:r>
                      <a:r>
                        <a:rPr lang="cs-CZ" dirty="0">
                          <a:effectLst/>
                        </a:rPr>
                        <a:t>)</a:t>
                      </a:r>
                      <a:endParaRPr lang="cs-CZ" dirty="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458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 err="1">
                          <a:effectLst/>
                          <a:latin typeface="Consolas" panose="020B0609020204030204" pitchFamily="49" charset="0"/>
                        </a:rPr>
                        <a:t>enum</a:t>
                      </a:r>
                      <a:endParaRPr lang="cs-CZ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dirty="0">
                          <a:effectLst/>
                        </a:rPr>
                        <a:t>První prvek (pokud je roven 0)</a:t>
                      </a:r>
                      <a:endParaRPr lang="pl-PL" dirty="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636847"/>
                  </a:ext>
                </a:extLst>
              </a:tr>
            </a:tbl>
          </a:graphicData>
        </a:graphic>
      </p:graphicFrame>
      <p:sp>
        <p:nvSpPr>
          <p:cNvPr id="6" name="TextovéPole 5">
            <a:extLst>
              <a:ext uri="{FF2B5EF4-FFF2-40B4-BE49-F238E27FC236}">
                <a16:creationId xmlns:a16="http://schemas.microsoft.com/office/drawing/2014/main" id="{750A36D9-7FF1-7AB1-2827-17DE03280A9A}"/>
              </a:ext>
            </a:extLst>
          </p:cNvPr>
          <p:cNvSpPr txBox="1"/>
          <p:nvPr/>
        </p:nvSpPr>
        <p:spPr>
          <a:xfrm>
            <a:off x="5782901" y="2075290"/>
            <a:ext cx="6097508" cy="17543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cs-CZ" b="1" dirty="0"/>
              <a:t>Porovnání na </a:t>
            </a:r>
            <a:r>
              <a:rPr lang="cs-CZ" b="1" dirty="0" err="1"/>
              <a:t>null</a:t>
            </a:r>
            <a:r>
              <a:rPr lang="cs-CZ" b="1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cs-CZ" b="1" dirty="0">
                <a:latin typeface="Consolas" panose="020B0609020204030204" pitchFamily="49" charset="0"/>
              </a:rPr>
              <a:t>!= </a:t>
            </a:r>
            <a:r>
              <a:rPr lang="cs-CZ" b="1" dirty="0" err="1">
                <a:latin typeface="Consolas" panose="020B0609020204030204" pitchFamily="49" charset="0"/>
              </a:rPr>
              <a:t>null</a:t>
            </a:r>
            <a:r>
              <a:rPr lang="cs-CZ" dirty="0"/>
              <a:t>: Může být přetíženo operátorem </a:t>
            </a:r>
            <a:br>
              <a:rPr lang="cs-CZ" dirty="0"/>
            </a:br>
            <a:r>
              <a:rPr lang="cs-CZ" dirty="0"/>
              <a:t>(někdo mohl </a:t>
            </a:r>
            <a:r>
              <a:rPr lang="cs-CZ" dirty="0">
                <a:latin typeface="Consolas" panose="020B0609020204030204" pitchFamily="49" charset="0"/>
              </a:rPr>
              <a:t>!=</a:t>
            </a:r>
            <a:r>
              <a:rPr lang="cs-CZ" dirty="0"/>
              <a:t> naprogramovat tak, že lže).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cs-CZ" b="1" dirty="0" err="1">
                <a:latin typeface="Consolas" panose="020B0609020204030204" pitchFamily="49" charset="0"/>
              </a:rPr>
              <a:t>is</a:t>
            </a:r>
            <a:r>
              <a:rPr lang="cs-CZ" b="1" dirty="0">
                <a:latin typeface="Consolas" panose="020B0609020204030204" pitchFamily="49" charset="0"/>
              </a:rPr>
              <a:t> not </a:t>
            </a:r>
            <a:r>
              <a:rPr lang="cs-CZ" b="1" dirty="0" err="1">
                <a:latin typeface="Consolas" panose="020B0609020204030204" pitchFamily="49" charset="0"/>
              </a:rPr>
              <a:t>null</a:t>
            </a:r>
            <a:r>
              <a:rPr lang="cs-CZ" dirty="0"/>
              <a:t>: Je to </a:t>
            </a:r>
            <a:r>
              <a:rPr lang="cs-CZ" dirty="0" err="1"/>
              <a:t>pattern</a:t>
            </a:r>
            <a:r>
              <a:rPr lang="cs-CZ" dirty="0"/>
              <a:t> </a:t>
            </a:r>
            <a:r>
              <a:rPr lang="cs-CZ" dirty="0" err="1"/>
              <a:t>matching</a:t>
            </a:r>
            <a:r>
              <a:rPr lang="cs-CZ" dirty="0"/>
              <a:t>. Vždycky říká pravdu o tom, jestli je v paměti skutečný objekt. </a:t>
            </a:r>
            <a:br>
              <a:rPr lang="cs-CZ" dirty="0"/>
            </a:br>
            <a:r>
              <a:rPr lang="cs-CZ" dirty="0"/>
              <a:t>Je to dnes </a:t>
            </a:r>
            <a:r>
              <a:rPr lang="cs-CZ" b="1" dirty="0"/>
              <a:t>doporučená cesta</a:t>
            </a:r>
            <a:r>
              <a:rPr lang="cs-CZ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7037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theme/theme1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387</TotalTime>
  <Words>1183</Words>
  <Application>Microsoft Office PowerPoint</Application>
  <PresentationFormat>Širokoúhlá obrazovka</PresentationFormat>
  <Paragraphs>203</Paragraphs>
  <Slides>24</Slides>
  <Notes>3</Notes>
  <HiddenSlides>0</HiddenSlides>
  <MMClips>0</MMClips>
  <ScaleCrop>false</ScaleCrop>
  <HeadingPairs>
    <vt:vector size="6" baseType="variant">
      <vt:variant>
        <vt:lpstr>Použitá písma</vt:lpstr>
      </vt:variant>
      <vt:variant>
        <vt:i4>6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24</vt:i4>
      </vt:variant>
    </vt:vector>
  </HeadingPairs>
  <TitlesOfParts>
    <vt:vector size="31" baseType="lpstr">
      <vt:lpstr>Aptos</vt:lpstr>
      <vt:lpstr>Aptos Display</vt:lpstr>
      <vt:lpstr>Arial</vt:lpstr>
      <vt:lpstr>Consolas</vt:lpstr>
      <vt:lpstr>Courier New</vt:lpstr>
      <vt:lpstr>Google Sans Text</vt:lpstr>
      <vt:lpstr>Motiv Office</vt:lpstr>
      <vt:lpstr>1. Jednoduché a složené (strukturované) datové typy. Standardní datové typy jazyka C#.</vt:lpstr>
      <vt:lpstr>Prezentace aplikace PowerPoint</vt:lpstr>
      <vt:lpstr>Prezentace aplikace PowerPoint</vt:lpstr>
      <vt:lpstr>Ne každá proměnná je proměnná</vt:lpstr>
      <vt:lpstr>Prezentace aplikace PowerPoint</vt:lpstr>
      <vt:lpstr>Hierarchie typů v C#</vt:lpstr>
      <vt:lpstr>Rozličné chování ref. a hod. typů</vt:lpstr>
      <vt:lpstr>Reference, pointery a Garbage Collector</vt:lpstr>
      <vt:lpstr>Základní datové typy</vt:lpstr>
      <vt:lpstr>Základní jednoduché datové typy</vt:lpstr>
      <vt:lpstr>Základní jednoduché datové typy</vt:lpstr>
      <vt:lpstr>Strukturované (složené datové typy)</vt:lpstr>
      <vt:lpstr>Senzor teploty</vt:lpstr>
      <vt:lpstr>Prezentace aplikace PowerPoint</vt:lpstr>
      <vt:lpstr>Nákupní košík v e-shopu</vt:lpstr>
      <vt:lpstr>Prezentace aplikace PowerPoint</vt:lpstr>
      <vt:lpstr>GPS souřadnice (Bod na mapě)</vt:lpstr>
      <vt:lpstr>Evidence studentů ve škole</vt:lpstr>
      <vt:lpstr>Ještě existuje record…</vt:lpstr>
      <vt:lpstr>Readonly record struct</vt:lpstr>
      <vt:lpstr>Rychlý překladový slovník</vt:lpstr>
      <vt:lpstr>Operator</vt:lpstr>
      <vt:lpstr>Přetěžování operátorů</vt:lpstr>
      <vt:lpstr>Co když tam nic není?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Mazná Michaela</dc:creator>
  <cp:lastModifiedBy>Mazná Michaela</cp:lastModifiedBy>
  <cp:revision>26</cp:revision>
  <dcterms:created xsi:type="dcterms:W3CDTF">2026-03-22T19:15:33Z</dcterms:created>
  <dcterms:modified xsi:type="dcterms:W3CDTF">2026-03-23T10:55:47Z</dcterms:modified>
</cp:coreProperties>
</file>