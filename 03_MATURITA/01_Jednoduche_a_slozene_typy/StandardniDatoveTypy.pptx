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9" r:id="rId3"/>
    <p:sldId id="262" r:id="rId4"/>
    <p:sldId id="273" r:id="rId5"/>
    <p:sldId id="276" r:id="rId6"/>
    <p:sldId id="257" r:id="rId7"/>
    <p:sldId id="280" r:id="rId8"/>
    <p:sldId id="258" r:id="rId9"/>
    <p:sldId id="263" r:id="rId10"/>
    <p:sldId id="259" r:id="rId11"/>
    <p:sldId id="260" r:id="rId12"/>
    <p:sldId id="261" r:id="rId13"/>
    <p:sldId id="264" r:id="rId14"/>
    <p:sldId id="265" r:id="rId15"/>
    <p:sldId id="267" r:id="rId16"/>
    <p:sldId id="266" r:id="rId17"/>
    <p:sldId id="268" r:id="rId18"/>
    <p:sldId id="269" r:id="rId19"/>
    <p:sldId id="270" r:id="rId20"/>
    <p:sldId id="272" r:id="rId21"/>
    <p:sldId id="277" r:id="rId22"/>
    <p:sldId id="271" r:id="rId23"/>
    <p:sldId id="275" r:id="rId24"/>
    <p:sldId id="278" r:id="rId25"/>
    <p:sldId id="274" r:id="rId2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Střední styl 1 – zvýraznění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D083AE6-46FA-4A59-8FB0-9F97EB10719F}" styleName="Světlý styl 3 – zvýraznění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BCDDF-1090-47BB-B397-2C6C235DF3C4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4EFDE-C67E-4B46-B5A2-5FE0F82A80D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055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4EFDE-C67E-4B46-B5A2-5FE0F82A80D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3713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4EFDE-C67E-4B46-B5A2-5FE0F82A80D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1056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4EFDE-C67E-4B46-B5A2-5FE0F82A80D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398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B5C7F8-B08F-78A0-C7D1-8D0D5E8C9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B66BC61-7866-FF46-A5F9-CE1D3707A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FF8FA04-285D-41A4-760E-83C12658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A7548B9-20FC-9048-0EFD-8934B62F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3164CE-EB29-387B-8444-FE10A87B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911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E38934-5C73-A8E2-7598-DD0A61C5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C950B7-93AD-4AC3-45C4-BB89B809B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01243D-C73E-5C9E-B562-2939194F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D130A21-93C9-DAD5-D314-2B69C47A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3FE4342-5E9B-2209-C1BF-60384CF7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50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BE99A0-6C18-8F61-EA20-5E53DE37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AEF221-0B82-B6E7-AAE2-92809A3CA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6358726-EB5C-811E-A106-1689D9BC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5B99296-6F9E-70CB-65AB-11E0D13D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343A033-6221-E1B5-4AED-728DE96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6473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283D0C-0CB1-F30F-A25F-21FCB7DE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F925E0F-8C46-46F2-6CDE-4E6E30F15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E37A6A1-3CE8-E8F0-7051-B26276C74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FBD05C-E359-751F-2E27-DE2BBBFB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ECD73EF-E8D5-1C79-AEFA-F3E43948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E1941E3-7D00-A4F9-C88F-E91D9480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971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1B589D-FC3A-C5B8-6478-5BB2A86C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F15DC02-FBA1-C4C6-91B3-936770C51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4755751-8DB3-4597-0321-AAED28C6C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923B615-38A1-C1D9-8317-DB8B27CCC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EE7D5F4-1A8D-457E-1176-53DA0B642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391DB06-F3F7-96DB-D052-B6990075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54C2877-B412-09A0-3634-D55AF8F44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4337A73-E5A2-7E5C-7D49-49FACED0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827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9F5BFC-D2E4-B219-D267-EB735783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DB5F3F8-1B03-3B47-5444-0C5C82D9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D751F14-DE5B-C4CD-A940-2BE62647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46988AA-0FFD-0CF7-CC18-346C3E3F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189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FDA85CA-78EF-B056-A7CF-AC77677D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073423D-BEB9-789C-EFEE-18DBA2DE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10019BC-8B40-A570-C9EA-EF5FDBBE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831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C3C83A-FEB0-1CCE-F942-5952A852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022E4E-10A5-2ACE-A79B-BE4FCCB9C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B3AA3FB-B3EB-00D9-CB13-58B269165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C0EFA3E-8C2D-530A-A5A2-20C4B812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3526CBE-44E0-3C06-F2A0-839570D8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ECBBA28-CFE1-DE0D-EA80-42AB94AA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5070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A0562A-7138-DAA6-F0FC-CF6B158AE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5BE7AE5-6A19-7542-27B4-855EB1FCE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642B1A4-18D8-6F75-8F9C-C46DFEF13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DB12F0C-2CDD-3E3E-6853-9FB0C413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150F2FC-77F1-D7FF-A144-9645E2D64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F55766-35A9-21B1-717F-815E8084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8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3868B4-902D-DD0E-8B62-B6A1127E1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F58D46B-EC74-AFC8-40C5-794FE161B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3E4BB0C-45F8-DF73-FA6C-A9EF8F24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B83703C-86C9-2F1F-4DCE-248554163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188512D-155F-2D51-AB53-93774F6F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3552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FE3268D6-0BA7-5A06-4746-37E2BF4AB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1F6A67-666B-CD19-8584-5430A04BD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B4ECF9B-D87A-AD30-2A60-23CF90F5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EF08BE3-E41A-31E2-F60E-A29BB5C7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6690FAB-33CE-5FF5-88A5-45597E9B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535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A0DF9A9-AD39-BC51-E24E-D8FD2196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B936167-598B-5507-CB94-49AD931BD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A049214-19CC-A6B5-2030-4DAFBD342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0BBE8-1699-4163-A5F9-10F93FA83DFE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66EEDB-B799-1133-DE81-7B86A96F6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2AFC1D8-80E9-99A0-2D37-4FD01D2E6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EA38C-D2F1-4526-A057-84A094F562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5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7948B0-E90C-1034-86E1-5049A0825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521" y="2216900"/>
            <a:ext cx="9644958" cy="2424199"/>
          </a:xfrm>
        </p:spPr>
        <p:txBody>
          <a:bodyPr>
            <a:normAutofit fontScale="90000"/>
          </a:bodyPr>
          <a:lstStyle/>
          <a:p>
            <a:r>
              <a:rPr lang="cs-CZ" dirty="0"/>
              <a:t>1. Jednoduché a složené (strukturované) datové typy. Standardní datové typy jazyka C#.</a:t>
            </a:r>
          </a:p>
        </p:txBody>
      </p:sp>
    </p:spTree>
    <p:extLst>
      <p:ext uri="{BB962C8B-B14F-4D97-AF65-F5344CB8AC3E}">
        <p14:creationId xmlns:p14="http://schemas.microsoft.com/office/powerpoint/2010/main" val="2976735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8E1416-38FB-7FA7-C2B9-F18029269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0400"/>
            <a:ext cx="10515600" cy="4572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cs-CZ" dirty="0"/>
              <a:t>Zeleně jsou označeny věci navíc (nepožadované u maturity).</a:t>
            </a:r>
          </a:p>
        </p:txBody>
      </p:sp>
    </p:spTree>
    <p:extLst>
      <p:ext uri="{BB962C8B-B14F-4D97-AF65-F5344CB8AC3E}">
        <p14:creationId xmlns:p14="http://schemas.microsoft.com/office/powerpoint/2010/main" val="94468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0BCEF9-B5B7-A7B2-652C-EC88D0C24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cs-CZ" sz="6600" dirty="0"/>
              <a:t>Co je to </a:t>
            </a:r>
            <a:r>
              <a:rPr lang="cs-CZ" sz="6600" b="1" dirty="0"/>
              <a:t>proměnná</a:t>
            </a:r>
            <a:r>
              <a:rPr lang="cs-CZ" sz="6600" dirty="0"/>
              <a:t>?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215216EB-B9F2-6454-B463-AFED31114BA9}"/>
              </a:ext>
            </a:extLst>
          </p:cNvPr>
          <p:cNvSpPr txBox="1">
            <a:spLocks/>
          </p:cNvSpPr>
          <p:nvPr/>
        </p:nvSpPr>
        <p:spPr>
          <a:xfrm>
            <a:off x="838200" y="3091601"/>
            <a:ext cx="10515600" cy="14985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cs-CZ" sz="1800" dirty="0"/>
              <a:t>= pojmenované místo v operační paměti</a:t>
            </a:r>
          </a:p>
          <a:p>
            <a:pPr marL="0" indent="0" algn="ctr">
              <a:buNone/>
            </a:pPr>
            <a:r>
              <a:rPr lang="cs-CZ" sz="1800" dirty="0"/>
              <a:t>Má </a:t>
            </a:r>
            <a:r>
              <a:rPr lang="cs-CZ" sz="1800" b="1" dirty="0"/>
              <a:t>jméno, typ, obsah.</a:t>
            </a:r>
            <a:endParaRPr lang="cs-CZ" sz="1800" dirty="0"/>
          </a:p>
          <a:p>
            <a:pPr marL="0" indent="0" algn="ctr">
              <a:buNone/>
            </a:pPr>
            <a:r>
              <a:rPr lang="cs-CZ" sz="1800" dirty="0"/>
              <a:t>Obsah se může měnit -&gt; proměnná</a:t>
            </a:r>
          </a:p>
          <a:p>
            <a:pPr marL="0" indent="0" algn="ctr">
              <a:buNone/>
            </a:pPr>
            <a:r>
              <a:rPr lang="cs-CZ" sz="1800" dirty="0"/>
              <a:t>V C# je její životnost omezena { … }</a:t>
            </a:r>
          </a:p>
          <a:p>
            <a:pPr marL="0" indent="0" algn="ctr">
              <a:buNone/>
            </a:pPr>
            <a:r>
              <a:rPr lang="cs-CZ" sz="1800" dirty="0"/>
              <a:t>V C# je statické typování – typ každé proměnné musí být znám už za kompilace a pak se nemění</a:t>
            </a:r>
          </a:p>
        </p:txBody>
      </p:sp>
    </p:spTree>
    <p:extLst>
      <p:ext uri="{BB962C8B-B14F-4D97-AF65-F5344CB8AC3E}">
        <p14:creationId xmlns:p14="http://schemas.microsoft.com/office/powerpoint/2010/main" val="43361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BB0B70-1465-A335-7D19-72BE31A4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 každá proměnná je </a:t>
            </a:r>
            <a:r>
              <a:rPr lang="cs-CZ" i="1" dirty="0"/>
              <a:t>proměnná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355AEF-0F5E-E491-8BFC-CD161BDB3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1899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Máme konstanty (</a:t>
            </a:r>
            <a:r>
              <a:rPr lang="cs-CZ" dirty="0" err="1">
                <a:latin typeface="Consolas" panose="020B0609020204030204" pitchFamily="49" charset="0"/>
              </a:rPr>
              <a:t>const</a:t>
            </a:r>
            <a:r>
              <a:rPr lang="cs-CZ" dirty="0"/>
              <a:t>), { </a:t>
            </a:r>
            <a:r>
              <a:rPr lang="cs-CZ" dirty="0" err="1"/>
              <a:t>get</a:t>
            </a:r>
            <a:r>
              <a:rPr lang="cs-CZ" dirty="0"/>
              <a:t>; }, </a:t>
            </a:r>
            <a:r>
              <a:rPr lang="cs-CZ" dirty="0" err="1">
                <a:latin typeface="Consolas" panose="020B0609020204030204" pitchFamily="49" charset="0"/>
              </a:rPr>
              <a:t>readonly</a:t>
            </a:r>
            <a:r>
              <a:rPr lang="cs-CZ" dirty="0"/>
              <a:t>..</a:t>
            </a:r>
          </a:p>
          <a:p>
            <a:r>
              <a:rPr lang="cs-CZ" dirty="0"/>
              <a:t>Konstanty pojmenováváme </a:t>
            </a:r>
            <a:r>
              <a:rPr lang="cs-CZ" dirty="0" err="1"/>
              <a:t>PascalCase</a:t>
            </a:r>
            <a:endParaRPr lang="cs-CZ" dirty="0"/>
          </a:p>
          <a:p>
            <a:pPr lvl="1"/>
            <a:r>
              <a:rPr lang="cs-CZ" dirty="0"/>
              <a:t>Obyčejné proměnné </a:t>
            </a:r>
            <a:r>
              <a:rPr lang="cs-CZ" dirty="0" err="1"/>
              <a:t>camelCase</a:t>
            </a:r>
            <a:endParaRPr lang="cs-CZ" dirty="0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2BC495CF-D2FC-425F-ED63-3B84E82C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529217"/>
              </p:ext>
            </p:extLst>
          </p:nvPr>
        </p:nvGraphicFramePr>
        <p:xfrm>
          <a:off x="838200" y="3675122"/>
          <a:ext cx="10515600" cy="2560320"/>
        </p:xfrm>
        <a:graphic>
          <a:graphicData uri="http://schemas.openxmlformats.org/drawingml/2006/table">
            <a:tbl>
              <a:tblPr/>
              <a:tblGrid>
                <a:gridCol w="1807369">
                  <a:extLst>
                    <a:ext uri="{9D8B030D-6E8A-4147-A177-3AD203B41FA5}">
                      <a16:colId xmlns:a16="http://schemas.microsoft.com/office/drawing/2014/main" val="3256120353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5770408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53766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9849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  <a:latin typeface="Google Sans Text"/>
                        </a:rPr>
                        <a:t>Klíčové slovo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  <a:latin typeface="Google Sans Text"/>
                        </a:rPr>
                        <a:t>Kdy se určuje hodnota?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  <a:latin typeface="Google Sans Text"/>
                        </a:rPr>
                        <a:t>Lze změnit?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  <a:latin typeface="Google Sans Text"/>
                        </a:rPr>
                        <a:t>Kdy to použít?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74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 err="1"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endParaRPr lang="cs-CZ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Při kompilaci (musí být známá hned).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Nikdy.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Neměnné číselné či </a:t>
                      </a:r>
                      <a:r>
                        <a:rPr lang="cs-CZ" dirty="0" err="1">
                          <a:effectLst/>
                          <a:latin typeface="Google Sans Text"/>
                        </a:rPr>
                        <a:t>stringové</a:t>
                      </a:r>
                      <a:r>
                        <a:rPr lang="cs-CZ" dirty="0">
                          <a:effectLst/>
                          <a:latin typeface="Google Sans Text"/>
                        </a:rPr>
                        <a:t> hodnoty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50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 err="1">
                          <a:effectLst/>
                          <a:latin typeface="Consolas" panose="020B0609020204030204" pitchFamily="49" charset="0"/>
                        </a:rPr>
                        <a:t>readonly</a:t>
                      </a:r>
                      <a:endParaRPr lang="cs-CZ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Při běhu (v konstruktoru).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Po inicializaci už ne.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Privátní položky třídy, důraz na rychlý přístup k datům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340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  <a:latin typeface="Consolas" panose="020B0609020204030204" pitchFamily="49" charset="0"/>
                        </a:rPr>
                        <a:t>{ </a:t>
                      </a:r>
                      <a:r>
                        <a:rPr lang="cs-CZ" b="1" dirty="0" err="1">
                          <a:effectLst/>
                          <a:latin typeface="Consolas" panose="020B0609020204030204" pitchFamily="49" charset="0"/>
                        </a:rPr>
                        <a:t>get</a:t>
                      </a:r>
                      <a:r>
                        <a:rPr lang="cs-CZ" b="1" dirty="0">
                          <a:effectLst/>
                          <a:latin typeface="Consolas" panose="020B0609020204030204" pitchFamily="49" charset="0"/>
                        </a:rPr>
                        <a:t>; }</a:t>
                      </a:r>
                      <a:endParaRPr lang="cs-CZ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V konstruktoru nebo </a:t>
                      </a:r>
                      <a:r>
                        <a:rPr lang="cs-CZ" dirty="0" err="1">
                          <a:effectLst/>
                          <a:latin typeface="Google Sans Text"/>
                        </a:rPr>
                        <a:t>inicializátoru</a:t>
                      </a:r>
                      <a:r>
                        <a:rPr lang="cs-CZ" dirty="0"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Jen přes reflexi (v podstatě ne).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Public položky třídy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980168"/>
                  </a:ext>
                </a:extLst>
              </a:tr>
            </a:tbl>
          </a:graphicData>
        </a:graphic>
      </p:graphicFrame>
      <p:sp>
        <p:nvSpPr>
          <p:cNvPr id="7" name="TextovéPole 6">
            <a:extLst>
              <a:ext uri="{FF2B5EF4-FFF2-40B4-BE49-F238E27FC236}">
                <a16:creationId xmlns:a16="http://schemas.microsoft.com/office/drawing/2014/main" id="{210B0088-28C2-D85E-F9C1-F991737CAB73}"/>
              </a:ext>
            </a:extLst>
          </p:cNvPr>
          <p:cNvSpPr txBox="1"/>
          <p:nvPr/>
        </p:nvSpPr>
        <p:spPr>
          <a:xfrm>
            <a:off x="6421925" y="6235442"/>
            <a:ext cx="39208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Reflexe – Kód se dívá sám na sebe, nebezpečné.</a:t>
            </a:r>
          </a:p>
        </p:txBody>
      </p:sp>
    </p:spTree>
    <p:extLst>
      <p:ext uri="{BB962C8B-B14F-4D97-AF65-F5344CB8AC3E}">
        <p14:creationId xmlns:p14="http://schemas.microsoft.com/office/powerpoint/2010/main" val="272349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F671E3-6537-FF6A-00C5-A268ECE1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B19B28-8917-2E6F-ADF4-7267986C9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A9DFF9A-F2C8-2CB3-56D7-261BB6624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110" y="1395289"/>
            <a:ext cx="8233779" cy="406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946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2FBD64-7204-AF1B-9837-F3B15C4D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Hierarchie typů v C#</a:t>
            </a:r>
          </a:p>
        </p:txBody>
      </p:sp>
      <p:pic>
        <p:nvPicPr>
          <p:cNvPr id="1026" name="Picture 2" descr="enter image description here">
            <a:extLst>
              <a:ext uri="{FF2B5EF4-FFF2-40B4-BE49-F238E27FC236}">
                <a16:creationId xmlns:a16="http://schemas.microsoft.com/office/drawing/2014/main" id="{B1A5325D-7CF9-6722-B88E-A2AFE465F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2" y="2121057"/>
            <a:ext cx="4829175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E149662B-AD25-7E9D-DAD9-F6BC87BA1276}"/>
              </a:ext>
            </a:extLst>
          </p:cNvPr>
          <p:cNvSpPr txBox="1"/>
          <p:nvPr/>
        </p:nvSpPr>
        <p:spPr>
          <a:xfrm>
            <a:off x="6853237" y="1153258"/>
            <a:ext cx="3526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Vše dědí od typu </a:t>
            </a:r>
            <a:r>
              <a:rPr lang="cs-CZ" dirty="0" err="1">
                <a:latin typeface="Consolas" panose="020B0609020204030204" pitchFamily="49" charset="0"/>
              </a:rPr>
              <a:t>object</a:t>
            </a:r>
            <a:r>
              <a:rPr lang="cs-CZ" dirty="0"/>
              <a:t>,</a:t>
            </a:r>
          </a:p>
          <a:p>
            <a:r>
              <a:rPr lang="cs-CZ" dirty="0"/>
              <a:t>Který nabízí tyto základní 4 funkce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0DCA978-4ED8-F113-C612-CD7956D6F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348" y="1799589"/>
            <a:ext cx="1171739" cy="1428949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1F181A76-F84B-F4B2-A465-77213CBD8908}"/>
              </a:ext>
            </a:extLst>
          </p:cNvPr>
          <p:cNvSpPr txBox="1"/>
          <p:nvPr/>
        </p:nvSpPr>
        <p:spPr>
          <a:xfrm>
            <a:off x="8557794" y="3914775"/>
            <a:ext cx="2782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b="1" dirty="0"/>
              <a:t>REFERENČNÍ TYPY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11545A9A-60E3-532E-BE8F-40237611A915}"/>
              </a:ext>
            </a:extLst>
          </p:cNvPr>
          <p:cNvSpPr txBox="1"/>
          <p:nvPr/>
        </p:nvSpPr>
        <p:spPr>
          <a:xfrm>
            <a:off x="899112" y="4376440"/>
            <a:ext cx="2793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b="1" dirty="0"/>
              <a:t>HODNOTOVÉ TYPY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33E101A1-F07B-49F6-594F-0F8BEF266822}"/>
              </a:ext>
            </a:extLst>
          </p:cNvPr>
          <p:cNvSpPr txBox="1"/>
          <p:nvPr/>
        </p:nvSpPr>
        <p:spPr>
          <a:xfrm>
            <a:off x="8616348" y="4354562"/>
            <a:ext cx="32518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cs-CZ" dirty="0"/>
              <a:t>ty složitější</a:t>
            </a:r>
          </a:p>
          <a:p>
            <a:pPr marL="285750" indent="-285750">
              <a:buFontTx/>
              <a:buChar char="-"/>
            </a:pPr>
            <a:r>
              <a:rPr lang="cs-CZ" dirty="0"/>
              <a:t>Uloženy na </a:t>
            </a:r>
            <a:r>
              <a:rPr lang="cs-CZ" i="1" dirty="0"/>
              <a:t>haldě</a:t>
            </a:r>
            <a:endParaRPr lang="cs-CZ" dirty="0"/>
          </a:p>
          <a:p>
            <a:pPr marL="285750" indent="-285750">
              <a:buFontTx/>
              <a:buChar char="-"/>
            </a:pPr>
            <a:r>
              <a:rPr lang="cs-CZ" dirty="0"/>
              <a:t>Reference na místo na haldě je uložena na </a:t>
            </a:r>
            <a:br>
              <a:rPr lang="cs-CZ" dirty="0"/>
            </a:br>
            <a:r>
              <a:rPr lang="cs-CZ" i="1" dirty="0"/>
              <a:t>volacím</a:t>
            </a:r>
            <a:r>
              <a:rPr lang="cs-CZ" dirty="0"/>
              <a:t> </a:t>
            </a:r>
            <a:r>
              <a:rPr lang="cs-CZ" i="1" dirty="0"/>
              <a:t>zásobníku</a:t>
            </a:r>
            <a:r>
              <a:rPr lang="cs-CZ" dirty="0"/>
              <a:t>  </a:t>
            </a:r>
          </a:p>
          <a:p>
            <a:pPr marL="285750" indent="-285750">
              <a:buFontTx/>
              <a:buChar char="-"/>
            </a:pPr>
            <a:r>
              <a:rPr lang="en-GB" dirty="0" err="1"/>
              <a:t>př</a:t>
            </a:r>
            <a:r>
              <a:rPr lang="en-GB" dirty="0"/>
              <a:t>. string, array, list, </a:t>
            </a:r>
            <a:r>
              <a:rPr lang="en-GB" dirty="0" err="1"/>
              <a:t>objekty</a:t>
            </a:r>
            <a:r>
              <a:rPr lang="en-GB" dirty="0"/>
              <a:t> </a:t>
            </a:r>
            <a:r>
              <a:rPr lang="en-GB" dirty="0" err="1"/>
              <a:t>tříd</a:t>
            </a:r>
            <a:endParaRPr lang="cs-CZ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EFEF74E-FB36-EF69-AD86-79CB453E2AF7}"/>
              </a:ext>
            </a:extLst>
          </p:cNvPr>
          <p:cNvSpPr txBox="1"/>
          <p:nvPr/>
        </p:nvSpPr>
        <p:spPr>
          <a:xfrm>
            <a:off x="899112" y="4838105"/>
            <a:ext cx="32518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cs-CZ" dirty="0"/>
              <a:t>Ty </a:t>
            </a:r>
            <a:r>
              <a:rPr lang="cs-CZ" dirty="0" err="1"/>
              <a:t>jedodušší</a:t>
            </a:r>
            <a:endParaRPr lang="cs-CZ" dirty="0"/>
          </a:p>
          <a:p>
            <a:pPr marL="285750" indent="-285750">
              <a:buFontTx/>
              <a:buChar char="-"/>
            </a:pPr>
            <a:r>
              <a:rPr lang="cs-CZ" dirty="0"/>
              <a:t>Uloženy na </a:t>
            </a:r>
            <a:r>
              <a:rPr lang="cs-CZ" i="1" dirty="0"/>
              <a:t>volacím zásobníku</a:t>
            </a:r>
          </a:p>
          <a:p>
            <a:pPr marL="285750" indent="-285750">
              <a:buFontTx/>
              <a:buChar char="-"/>
            </a:pPr>
            <a:r>
              <a:rPr lang="en-GB" dirty="0" err="1"/>
              <a:t>př</a:t>
            </a:r>
            <a:r>
              <a:rPr lang="en-GB" dirty="0"/>
              <a:t>. bool, byte, int, long, float, double, char, </a:t>
            </a:r>
            <a:r>
              <a:rPr lang="en-GB" dirty="0" err="1"/>
              <a:t>struktury</a:t>
            </a:r>
            <a:r>
              <a:rPr lang="en-GB" dirty="0"/>
              <a:t> (struct)</a:t>
            </a:r>
            <a:endParaRPr lang="cs-CZ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49E2C55A-1C9C-7204-2CDE-669B8F924FD1}"/>
              </a:ext>
            </a:extLst>
          </p:cNvPr>
          <p:cNvSpPr txBox="1"/>
          <p:nvPr/>
        </p:nvSpPr>
        <p:spPr>
          <a:xfrm>
            <a:off x="9893848" y="1700005"/>
            <a:ext cx="2193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b="1" dirty="0" err="1">
                <a:latin typeface="Consolas" panose="020B0609020204030204" pitchFamily="49" charset="0"/>
              </a:rPr>
              <a:t>Equals</a:t>
            </a:r>
            <a:r>
              <a:rPr lang="cs-CZ" sz="1200" b="1" dirty="0">
                <a:latin typeface="Consolas" panose="020B0609020204030204" pitchFamily="49" charset="0"/>
              </a:rPr>
              <a:t>() </a:t>
            </a:r>
            <a:r>
              <a:rPr lang="cs-CZ" sz="1200" dirty="0"/>
              <a:t>– porovnání míst v paměti; </a:t>
            </a:r>
            <a:r>
              <a:rPr lang="cs-CZ" sz="1200" dirty="0" err="1"/>
              <a:t>override</a:t>
            </a:r>
            <a:r>
              <a:rPr lang="cs-CZ" sz="1200" dirty="0"/>
              <a:t> na porovnání hodnot (operátor </a:t>
            </a:r>
            <a:r>
              <a:rPr lang="cs-CZ" sz="1200" dirty="0">
                <a:latin typeface="Consolas" panose="020B0609020204030204" pitchFamily="49" charset="0"/>
              </a:rPr>
              <a:t>==</a:t>
            </a:r>
            <a:r>
              <a:rPr lang="cs-CZ" sz="1200" dirty="0"/>
              <a:t>)</a:t>
            </a:r>
          </a:p>
          <a:p>
            <a:endParaRPr lang="cs-CZ" sz="1200"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83185A11-80EB-9DE8-47DA-F39289586CF9}"/>
              </a:ext>
            </a:extLst>
          </p:cNvPr>
          <p:cNvSpPr txBox="1"/>
          <p:nvPr/>
        </p:nvSpPr>
        <p:spPr>
          <a:xfrm>
            <a:off x="9893848" y="2277341"/>
            <a:ext cx="2298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b="1" dirty="0" err="1">
                <a:latin typeface="Consolas" panose="020B0609020204030204" pitchFamily="49" charset="0"/>
              </a:rPr>
              <a:t>GetHashCode</a:t>
            </a:r>
            <a:r>
              <a:rPr lang="cs-CZ" sz="1200" b="1" dirty="0">
                <a:latin typeface="Consolas" panose="020B0609020204030204" pitchFamily="49" charset="0"/>
              </a:rPr>
              <a:t>() </a:t>
            </a:r>
            <a:r>
              <a:rPr lang="cs-CZ" sz="1200" dirty="0"/>
              <a:t>– vrací </a:t>
            </a:r>
            <a:r>
              <a:rPr lang="cs-CZ" sz="1200" dirty="0" err="1"/>
              <a:t>int</a:t>
            </a:r>
            <a:r>
              <a:rPr lang="cs-CZ" sz="1200" dirty="0"/>
              <a:t>, </a:t>
            </a:r>
            <a:r>
              <a:rPr lang="cs-CZ" sz="1200" dirty="0" err="1"/>
              <a:t>zahshování</a:t>
            </a:r>
            <a:r>
              <a:rPr lang="cs-CZ" sz="1200" dirty="0"/>
              <a:t> objektu třeba do slovníku pro rychlé vyhledávání</a:t>
            </a:r>
          </a:p>
          <a:p>
            <a:endParaRPr lang="cs-CZ" sz="1200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60F4F0A8-E659-2384-010A-5EF2468D1B1E}"/>
              </a:ext>
            </a:extLst>
          </p:cNvPr>
          <p:cNvSpPr txBox="1"/>
          <p:nvPr/>
        </p:nvSpPr>
        <p:spPr>
          <a:xfrm>
            <a:off x="9893848" y="2875293"/>
            <a:ext cx="2298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b="1" dirty="0" err="1">
                <a:latin typeface="Consolas" panose="020B0609020204030204" pitchFamily="49" charset="0"/>
              </a:rPr>
              <a:t>GetType</a:t>
            </a:r>
            <a:r>
              <a:rPr lang="cs-CZ" sz="1200" b="1" dirty="0">
                <a:latin typeface="Consolas" panose="020B0609020204030204" pitchFamily="49" charset="0"/>
              </a:rPr>
              <a:t>() </a:t>
            </a:r>
            <a:r>
              <a:rPr lang="cs-CZ" sz="1200" dirty="0"/>
              <a:t>– vrací objekt typu Type, ze které můžeme za runtime získat </a:t>
            </a:r>
            <a:r>
              <a:rPr lang="cs-CZ" sz="1200" dirty="0" err="1"/>
              <a:t>metainfo</a:t>
            </a:r>
            <a:r>
              <a:rPr lang="cs-CZ" sz="1200" dirty="0"/>
              <a:t> o typu proměnné (název třídy, od čeho dědí, apod.)</a:t>
            </a:r>
          </a:p>
          <a:p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128594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53ABEA-6314-3C79-8842-28BDA805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Zásobník x halda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A4E2A3-4868-6F03-D23E-E09FE2D33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0747"/>
          </a:xfrm>
        </p:spPr>
        <p:txBody>
          <a:bodyPr>
            <a:normAutofit lnSpcReduction="10000"/>
          </a:bodyPr>
          <a:lstStyle/>
          <a:p>
            <a:r>
              <a:rPr lang="cs-CZ" dirty="0"/>
              <a:t>Obojí jsou úložiště v paměti</a:t>
            </a:r>
          </a:p>
          <a:p>
            <a:r>
              <a:rPr lang="cs-CZ" dirty="0"/>
              <a:t>Zásobník - funguje jako LIFO</a:t>
            </a:r>
          </a:p>
          <a:p>
            <a:pPr lvl="1"/>
            <a:r>
              <a:rPr lang="cs-CZ" dirty="0"/>
              <a:t>trochu rychlejší přístup, menší data</a:t>
            </a:r>
          </a:p>
          <a:p>
            <a:pPr lvl="1"/>
            <a:r>
              <a:rPr lang="cs-CZ" dirty="0"/>
              <a:t>ukládají se na něj: proměnné hodnotového typu, návratové adresy při volání funkce (-&gt; proto </a:t>
            </a:r>
            <a:r>
              <a:rPr lang="cs-CZ" i="1" dirty="0" err="1"/>
              <a:t>StackOverflow</a:t>
            </a:r>
            <a:r>
              <a:rPr lang="cs-CZ" dirty="0"/>
              <a:t> při nekonečné rekurzi), přijaté argumenty funkce, odkazy na haldu při referenčních proměnných</a:t>
            </a:r>
          </a:p>
          <a:p>
            <a:r>
              <a:rPr lang="cs-CZ" dirty="0"/>
              <a:t>Halda	</a:t>
            </a:r>
          </a:p>
          <a:p>
            <a:pPr lvl="1"/>
            <a:r>
              <a:rPr lang="cs-CZ" dirty="0"/>
              <a:t>Pomalejší přístup, větší data</a:t>
            </a:r>
          </a:p>
          <a:p>
            <a:pPr lvl="1"/>
            <a:r>
              <a:rPr lang="cs-CZ" dirty="0"/>
              <a:t>Spravuje ji </a:t>
            </a:r>
            <a:r>
              <a:rPr lang="cs-CZ" b="1" dirty="0" err="1"/>
              <a:t>Garbage</a:t>
            </a:r>
            <a:r>
              <a:rPr lang="cs-CZ" b="1" dirty="0"/>
              <a:t> </a:t>
            </a:r>
            <a:r>
              <a:rPr lang="cs-CZ" b="1" dirty="0" err="1"/>
              <a:t>Collector</a:t>
            </a:r>
            <a:endParaRPr lang="cs-CZ" b="1" dirty="0"/>
          </a:p>
          <a:p>
            <a:pPr lvl="2"/>
            <a:r>
              <a:rPr lang="cs-CZ" dirty="0"/>
              <a:t>Jakmile na něco v haldě nevede odkaz ze zásobníku, GC to smaže</a:t>
            </a:r>
          </a:p>
          <a:p>
            <a:pPr lvl="2"/>
            <a:r>
              <a:rPr lang="cs-CZ" dirty="0"/>
              <a:t>Jakmile je potřeba najít větší místo (např. pro dynamicky se zvětšující list), GC ho najde</a:t>
            </a:r>
          </a:p>
        </p:txBody>
      </p:sp>
    </p:spTree>
    <p:extLst>
      <p:ext uri="{BB962C8B-B14F-4D97-AF65-F5344CB8AC3E}">
        <p14:creationId xmlns:p14="http://schemas.microsoft.com/office/powerpoint/2010/main" val="3741458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A807B7-3BEE-6322-1F7D-F8116216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Rozličné chování </a:t>
            </a:r>
            <a:r>
              <a:rPr lang="cs-CZ" dirty="0" err="1"/>
              <a:t>ref</a:t>
            </a:r>
            <a:r>
              <a:rPr lang="cs-CZ" dirty="0"/>
              <a:t>. a hod. typů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3077B2-3DEF-36F7-4BB3-2EC874292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02419"/>
            <a:ext cx="10515600" cy="547578"/>
          </a:xfrm>
        </p:spPr>
        <p:txBody>
          <a:bodyPr/>
          <a:lstStyle/>
          <a:p>
            <a:r>
              <a:rPr lang="cs-CZ" dirty="0"/>
              <a:t>Viz program </a:t>
            </a:r>
            <a:r>
              <a:rPr lang="cs-CZ" i="1" dirty="0"/>
              <a:t>02_Hodnotove_a_referencni_typy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17418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8AA58B-D110-4101-B941-8CBF6974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Reference, pointery a </a:t>
            </a:r>
            <a:r>
              <a:rPr lang="cs-CZ" dirty="0" err="1"/>
              <a:t>Garbage</a:t>
            </a:r>
            <a:r>
              <a:rPr lang="cs-CZ" dirty="0"/>
              <a:t> </a:t>
            </a:r>
            <a:r>
              <a:rPr lang="cs-CZ" dirty="0" err="1"/>
              <a:t>Collector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802188C-85F3-DE8F-2FCB-5B7A8D296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92" y="1719269"/>
            <a:ext cx="5147115" cy="3419462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27999D87-6C41-02DB-4546-FB28908C6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048" y="1719269"/>
            <a:ext cx="5799997" cy="3419462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F51534E3-9BF6-3691-7A55-332EEC1CE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066" y="2964238"/>
            <a:ext cx="4896326" cy="352863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A64056D1-51D6-7E59-696F-00D8F6A0E522}"/>
              </a:ext>
            </a:extLst>
          </p:cNvPr>
          <p:cNvSpPr txBox="1"/>
          <p:nvPr/>
        </p:nvSpPr>
        <p:spPr>
          <a:xfrm>
            <a:off x="8210392" y="5167312"/>
            <a:ext cx="3857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Proč by to kdo chtěl? </a:t>
            </a:r>
          </a:p>
          <a:p>
            <a:r>
              <a:rPr lang="cs-CZ" sz="1200" dirty="0"/>
              <a:t>Když C# přistupuje k poli standardně (</a:t>
            </a:r>
            <a:r>
              <a:rPr lang="cs-CZ" sz="1200" dirty="0" err="1"/>
              <a:t>array</a:t>
            </a:r>
            <a:r>
              <a:rPr lang="cs-CZ" sz="1200" dirty="0"/>
              <a:t>[i]), pokaždé kontroluje, zda index i není mimo rozsah (tzv. </a:t>
            </a:r>
            <a:r>
              <a:rPr lang="cs-CZ" sz="1200" b="1" dirty="0" err="1"/>
              <a:t>Bounds</a:t>
            </a:r>
            <a:r>
              <a:rPr lang="cs-CZ" sz="1200" b="1" dirty="0"/>
              <a:t> </a:t>
            </a:r>
            <a:r>
              <a:rPr lang="cs-CZ" sz="1200" b="1" dirty="0" err="1"/>
              <a:t>Checking</a:t>
            </a:r>
            <a:r>
              <a:rPr lang="cs-CZ" sz="1200" dirty="0"/>
              <a:t>). To stojí procesor pár nanosekund. V cyklu, který běží miliardkrát, to ale dělá rozdíl.</a:t>
            </a:r>
          </a:p>
          <a:p>
            <a:r>
              <a:rPr lang="cs-CZ" sz="1200" dirty="0"/>
              <a:t>Práce přes </a:t>
            </a:r>
            <a:r>
              <a:rPr lang="cs-CZ" sz="1200" dirty="0" err="1"/>
              <a:t>int</a:t>
            </a:r>
            <a:r>
              <a:rPr lang="cs-CZ" sz="1200" dirty="0"/>
              <a:t>* (ukazatele) tyto kontroly obchází. Procesor prostě skočí na adresu a čte.</a:t>
            </a:r>
          </a:p>
          <a:p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409960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34CF01-C529-6756-F7BA-5430555F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datové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C3BA78-5767-BC77-13AC-A90FA58CE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1116"/>
          </a:xfrm>
        </p:spPr>
        <p:txBody>
          <a:bodyPr/>
          <a:lstStyle/>
          <a:p>
            <a:r>
              <a:rPr lang="cs-CZ" dirty="0"/>
              <a:t>Celočíselné znaménkové (</a:t>
            </a:r>
            <a:r>
              <a:rPr lang="cs-CZ" dirty="0" err="1"/>
              <a:t>signed</a:t>
            </a:r>
            <a:r>
              <a:rPr lang="cs-CZ" dirty="0"/>
              <a:t>) typy</a:t>
            </a:r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33AF6546-55ED-5892-E75F-D46259D01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371086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5929327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43344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146811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86449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C# Typ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.NET Typ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  <a:latin typeface="Google Sans Text"/>
                        </a:rPr>
                        <a:t>Velikost (Byty)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Rozsah (přibližně)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1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sbyte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SByte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1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-128 až 127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009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short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Int16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2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-32 768 až 32 767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1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int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highlight>
                            <a:srgbClr val="FFFF00"/>
                          </a:highlight>
                          <a:latin typeface="Google Sans Text"/>
                        </a:rPr>
                        <a:t>Int32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4 B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-2,1 mld. až 2,1 mld.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79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long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Int64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8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-9 triliónů až 9 triliónů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362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16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D93DF5-4BC0-2B15-3889-75B6505A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jednoduché datové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046E1E-20A0-2EA3-F4F9-878093D89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18399"/>
          </a:xfrm>
        </p:spPr>
        <p:txBody>
          <a:bodyPr/>
          <a:lstStyle/>
          <a:p>
            <a:r>
              <a:rPr lang="cs-CZ" dirty="0"/>
              <a:t>Celočíselné neznaménkové (</a:t>
            </a:r>
            <a:r>
              <a:rPr lang="cs-CZ" dirty="0" err="1"/>
              <a:t>unsigned</a:t>
            </a:r>
            <a:r>
              <a:rPr lang="cs-CZ" dirty="0"/>
              <a:t>) typy</a:t>
            </a:r>
          </a:p>
          <a:p>
            <a:endParaRPr lang="cs-CZ" dirty="0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8653E899-3479-1EB1-172B-323EDCC90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069598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187050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308109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07662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375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C# Typ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.NET Typ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Velikost (Byty)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Rozsah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byte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Byte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1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0 až 255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171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ushort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UInt16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2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0 až 65 535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387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uint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UInt32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4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highlight>
                            <a:srgbClr val="FFFF00"/>
                          </a:highlight>
                          <a:latin typeface="Google Sans Text"/>
                        </a:rPr>
                        <a:t>0 až 4,2 mld. 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762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ulong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UInt64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8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0 až 18 triliónů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341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432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E925D-CE40-32B1-CED8-6A1D0CD3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CA1039-DDA7-5F76-A497-CEE7B637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jednoduché datové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AF9F39-85ED-29A7-D5D0-4A1525E85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18399"/>
          </a:xfrm>
        </p:spPr>
        <p:txBody>
          <a:bodyPr/>
          <a:lstStyle/>
          <a:p>
            <a:r>
              <a:rPr lang="cs-CZ" dirty="0"/>
              <a:t>Desetinná čísla a ostatní typy</a:t>
            </a:r>
          </a:p>
          <a:p>
            <a:endParaRPr lang="cs-CZ" dirty="0"/>
          </a:p>
        </p:txBody>
      </p:sp>
      <p:graphicFrame>
        <p:nvGraphicFramePr>
          <p:cNvPr id="5" name="Tabulka 4">
            <a:extLst>
              <a:ext uri="{FF2B5EF4-FFF2-40B4-BE49-F238E27FC236}">
                <a16:creationId xmlns:a16="http://schemas.microsoft.com/office/drawing/2014/main" id="{DB7FD158-8AFA-1ED7-8317-02EBB579B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368550"/>
              </p:ext>
            </p:extLst>
          </p:nvPr>
        </p:nvGraphicFramePr>
        <p:xfrm>
          <a:off x="838200" y="2492534"/>
          <a:ext cx="10515600" cy="30175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6706169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38519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255222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72503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C# Typ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Velikost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Přesnost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Použití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40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float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4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~7 číslic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Grafika, hry (rychlost)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394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double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8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~15-17 číslic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Výchozí pro desetinná čísla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690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decimal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16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28-29 číslic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Finance, peníze (žádné chyby zaokrouhlení)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397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char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highlight>
                            <a:srgbClr val="FFFF00"/>
                          </a:highlight>
                          <a:latin typeface="Google Sans Text"/>
                        </a:rPr>
                        <a:t>2 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1 znak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Unicode znak (UTF-16)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271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  <a:latin typeface="Google Sans Text"/>
                        </a:rPr>
                        <a:t>bool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1 B*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Google Sans Text"/>
                        </a:rPr>
                        <a:t>true / false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Google Sans Text"/>
                        </a:rPr>
                        <a:t>Logické operace (*fyzicky 1 byte, stačil by 1 bit)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365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767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F7F3DF-7B60-EDE7-EED8-743CB55A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Strukturované (složené datové typy)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6D472A-C42F-113E-3D9F-86AC1D502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75999"/>
          </a:xfrm>
        </p:spPr>
        <p:txBody>
          <a:bodyPr/>
          <a:lstStyle/>
          <a:p>
            <a:r>
              <a:rPr lang="cs-CZ" dirty="0"/>
              <a:t>pole, generické kolekce (list, slovník), textové řetězce, struktury, třídy, … </a:t>
            </a:r>
          </a:p>
          <a:p>
            <a:r>
              <a:rPr lang="cs-CZ" i="1" dirty="0">
                <a:solidFill>
                  <a:schemeClr val="accent1"/>
                </a:solidFill>
              </a:rPr>
              <a:t>Určete, v jaké situaci co použít</a:t>
            </a:r>
          </a:p>
          <a:p>
            <a:r>
              <a:rPr lang="cs-CZ" i="1" dirty="0">
                <a:solidFill>
                  <a:schemeClr val="accent1"/>
                </a:solidFill>
              </a:rPr>
              <a:t>Jak daný typ v kódu vytvořit</a:t>
            </a:r>
          </a:p>
          <a:p>
            <a:r>
              <a:rPr lang="cs-CZ" i="1" dirty="0">
                <a:solidFill>
                  <a:schemeClr val="accent1"/>
                </a:solidFill>
              </a:rPr>
              <a:t>Jaké jsou jeho specifické vlastnosti a základní metody</a:t>
            </a:r>
          </a:p>
        </p:txBody>
      </p:sp>
    </p:spTree>
    <p:extLst>
      <p:ext uri="{BB962C8B-B14F-4D97-AF65-F5344CB8AC3E}">
        <p14:creationId xmlns:p14="http://schemas.microsoft.com/office/powerpoint/2010/main" val="554219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AF4792-5E41-EE05-4C0C-655A18D5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Senzor teploty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AFCBFB-E64D-79E9-A776-5598C2B12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5349"/>
          </a:xfrm>
        </p:spPr>
        <p:txBody>
          <a:bodyPr/>
          <a:lstStyle/>
          <a:p>
            <a:r>
              <a:rPr lang="cs-CZ" dirty="0"/>
              <a:t>Máte aplikaci, která každou hodinu načte teplotu. Dopředu víte, že měření probíhá přesně 24 hodin a pak se data zpracují. Hodnoty se v průběhu dne nebudou doplňovat ani mazat. </a:t>
            </a:r>
          </a:p>
          <a:p>
            <a:r>
              <a:rPr lang="cs-CZ" b="1" dirty="0"/>
              <a:t>Co použijete pro uložení těchto 24 čísel?</a:t>
            </a:r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CC4EC50-A3B3-393C-6177-2FE5B02C1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85" y="3720974"/>
            <a:ext cx="5258534" cy="2705478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5BD39B17-516B-2CFC-F6D7-66E323571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108" y="3647865"/>
            <a:ext cx="5420481" cy="3010320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5637EC40-6B7F-F99E-5028-664D8FEF4005}"/>
              </a:ext>
            </a:extLst>
          </p:cNvPr>
          <p:cNvSpPr txBox="1"/>
          <p:nvPr/>
        </p:nvSpPr>
        <p:spPr>
          <a:xfrm>
            <a:off x="674785" y="6426452"/>
            <a:ext cx="4920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Screenshoty ze souboru </a:t>
            </a:r>
            <a:r>
              <a:rPr lang="cs-CZ" i="1" dirty="0"/>
              <a:t>csharp_cheatsheet.md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4527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2FB1A9-2BE0-53C8-B672-98BCCA1B2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BF4D9B5-6F29-A676-0755-281795A94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27" y="151942"/>
            <a:ext cx="5696745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43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BE9C5A-9B1E-C51B-599F-CF0BD8CF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Nákupní košík v e-shopu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544DE0-03D4-197F-0995-A66E8F873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6296"/>
          </a:xfrm>
        </p:spPr>
        <p:txBody>
          <a:bodyPr>
            <a:normAutofit/>
          </a:bodyPr>
          <a:lstStyle/>
          <a:p>
            <a:r>
              <a:rPr lang="cs-CZ" dirty="0"/>
              <a:t>Uživatel si prohlíží web a průběžně kliká na tlačítko "Koupit". Nevíte, jestli si koupí 1 věc nebo 50. Položky musíte umět snadno přidávat i odebírat. </a:t>
            </a:r>
          </a:p>
          <a:p>
            <a:r>
              <a:rPr lang="cs-CZ" b="1" dirty="0"/>
              <a:t>Jaký typ zvolíte pro seznam zboží?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A5D1F6C-2F4C-8F23-477F-716EDECAD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46858"/>
            <a:ext cx="4953691" cy="261021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24D9C9D6-7B6C-6D93-9B27-F002A2CCD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39713"/>
            <a:ext cx="4439270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9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CD26E5C2-A10D-FA4C-1D9A-6B9300068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732" y="51916"/>
            <a:ext cx="5982535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75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C27BDB-62FF-0B16-3360-7F95D4C4A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GPS souřadnice (Bod na mapě)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A9F6E6-E333-215A-89D5-15EC9AEFE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0494"/>
          </a:xfrm>
        </p:spPr>
        <p:txBody>
          <a:bodyPr>
            <a:normAutofit lnSpcReduction="10000"/>
          </a:bodyPr>
          <a:lstStyle/>
          <a:p>
            <a:r>
              <a:rPr lang="cs-CZ" dirty="0"/>
              <a:t>Potřebujete v programu pracovat s miliony bodů, kde každý má jen dvě vlastnosti: double X a double Y. Jde o velmi malý objekt, se kterým se nebude dále dědit a chceš šetřit paměť na haldě. </a:t>
            </a:r>
          </a:p>
          <a:p>
            <a:r>
              <a:rPr lang="cs-CZ" b="1" dirty="0"/>
              <a:t>Vytvoříte pro bod Třídu (</a:t>
            </a:r>
            <a:r>
              <a:rPr lang="cs-CZ" b="1" dirty="0" err="1"/>
              <a:t>class</a:t>
            </a:r>
            <a:r>
              <a:rPr lang="cs-CZ" b="1" dirty="0"/>
              <a:t>) nebo Strukturu (</a:t>
            </a:r>
            <a:r>
              <a:rPr lang="cs-CZ" b="1" dirty="0" err="1"/>
              <a:t>struct</a:t>
            </a:r>
            <a:r>
              <a:rPr lang="cs-CZ" b="1" dirty="0"/>
              <a:t>)?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DEB1F9D-57DD-E779-1C31-DA37CAE4A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33" y="3711056"/>
            <a:ext cx="6649378" cy="253400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8D627F8A-D744-D0B9-BE23-E2B9AA739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614" y="3887293"/>
            <a:ext cx="463932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98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B3696F-540C-A753-FA03-EAC4CE94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Evidence studentů ve škole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9A7CD6-6117-7FD0-4356-81C9265A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5060"/>
          </a:xfrm>
        </p:spPr>
        <p:txBody>
          <a:bodyPr/>
          <a:lstStyle/>
          <a:p>
            <a:r>
              <a:rPr lang="cs-CZ" dirty="0"/>
              <a:t>Potřebuješ ukládat detailní informace o studentech (Jméno, ID, Seznam známek). Každý student je komplexní entita, která má i své metody (např. </a:t>
            </a:r>
            <a:r>
              <a:rPr lang="cs-CZ" dirty="0" err="1">
                <a:latin typeface="Consolas" panose="020B0609020204030204" pitchFamily="49" charset="0"/>
              </a:rPr>
              <a:t>VypocitejPrumer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/>
              <a:t>). Navíc chceš používat dědičnost (např. </a:t>
            </a:r>
            <a:r>
              <a:rPr lang="cs-CZ" dirty="0" err="1">
                <a:latin typeface="Consolas" panose="020B0609020204030204" pitchFamily="49" charset="0"/>
              </a:rPr>
              <a:t>ZahranicniStudent</a:t>
            </a:r>
            <a:r>
              <a:rPr lang="cs-CZ" dirty="0"/>
              <a:t> dědí od </a:t>
            </a:r>
            <a:r>
              <a:rPr lang="cs-CZ" dirty="0">
                <a:latin typeface="Consolas" panose="020B0609020204030204" pitchFamily="49" charset="0"/>
              </a:rPr>
              <a:t>Student</a:t>
            </a:r>
            <a:r>
              <a:rPr lang="cs-CZ" dirty="0"/>
              <a:t>). </a:t>
            </a:r>
          </a:p>
          <a:p>
            <a:r>
              <a:rPr lang="cs-CZ" b="1" dirty="0"/>
              <a:t>Co použijete?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82918EC-ED83-9A6F-2C87-798C4D025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03" y="4039584"/>
            <a:ext cx="6010984" cy="2453291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DE01BB3E-43FB-F8ED-5189-9C870D5C9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073" y="4170701"/>
            <a:ext cx="4648849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7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EE847D-6091-E30E-6937-0EFEFC40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Ještě existuje </a:t>
            </a:r>
            <a:r>
              <a:rPr lang="cs-CZ" dirty="0" err="1"/>
              <a:t>record</a:t>
            </a:r>
            <a:r>
              <a:rPr lang="cs-CZ" dirty="0"/>
              <a:t>…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A59E4E-96EB-6EDE-0E35-5F8A3BFF8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522"/>
          </a:xfrm>
        </p:spPr>
        <p:txBody>
          <a:bodyPr/>
          <a:lstStyle/>
          <a:p>
            <a:r>
              <a:rPr lang="cs-CZ" dirty="0"/>
              <a:t>Ideální volba pro nahrání dat z databáze, která jen předáváme, neměníme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BB780A4-AF04-E34D-4021-1FF7DEA52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68" y="2869084"/>
            <a:ext cx="5463368" cy="3041964"/>
          </a:xfrm>
          <a:prstGeom prst="rect">
            <a:avLst/>
          </a:prstGeom>
        </p:spPr>
      </p:pic>
      <p:graphicFrame>
        <p:nvGraphicFramePr>
          <p:cNvPr id="6" name="Tabulka 5">
            <a:extLst>
              <a:ext uri="{FF2B5EF4-FFF2-40B4-BE49-F238E27FC236}">
                <a16:creationId xmlns:a16="http://schemas.microsoft.com/office/drawing/2014/main" id="{3F933A2C-3EC2-6F60-D6B8-4B352B64A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907994"/>
              </p:ext>
            </p:extLst>
          </p:nvPr>
        </p:nvGraphicFramePr>
        <p:xfrm>
          <a:off x="6096000" y="2606986"/>
          <a:ext cx="5867400" cy="35661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466850">
                  <a:extLst>
                    <a:ext uri="{9D8B030D-6E8A-4147-A177-3AD203B41FA5}">
                      <a16:colId xmlns:a16="http://schemas.microsoft.com/office/drawing/2014/main" val="235449846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479283113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4229275634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73637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Vlastnost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 err="1">
                          <a:effectLst/>
                        </a:rPr>
                        <a:t>class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struct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record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5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Typ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Referenční (Heap)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Hodnotový (Stack)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Referenční (standardně)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153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Výchozí rovnost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Podle adresy (Reference)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Podle hodnot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</a:rPr>
                        <a:t>Podle hodnot</a:t>
                      </a:r>
                      <a:endParaRPr lang="cs-CZ" b="1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790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Dědičnost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Ano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Ne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Ano (mezi recordy)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218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Hlavní účel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Logika a chování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Malá data, výkon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Přenos dat, neměnnost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70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 dirty="0">
                          <a:effectLst/>
                        </a:rPr>
                        <a:t>Předávání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</a:rPr>
                        <a:t>Předává se odkaz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</a:rPr>
                        <a:t>Kopíruje se hodnota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</a:rPr>
                        <a:t>Předává se odkaz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181577"/>
                  </a:ext>
                </a:extLst>
              </a:tr>
            </a:tbl>
          </a:graphicData>
        </a:graphic>
      </p:graphicFrame>
      <p:sp>
        <p:nvSpPr>
          <p:cNvPr id="7" name="TextovéPole 6">
            <a:extLst>
              <a:ext uri="{FF2B5EF4-FFF2-40B4-BE49-F238E27FC236}">
                <a16:creationId xmlns:a16="http://schemas.microsoft.com/office/drawing/2014/main" id="{F431CD8E-39FA-0183-91E8-28AC97654773}"/>
              </a:ext>
            </a:extLst>
          </p:cNvPr>
          <p:cNvSpPr txBox="1"/>
          <p:nvPr/>
        </p:nvSpPr>
        <p:spPr>
          <a:xfrm>
            <a:off x="460972" y="6418907"/>
            <a:ext cx="920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Dnešním hitem je pak z hlediska výkonu a šetřením místem prý </a:t>
            </a:r>
            <a:r>
              <a:rPr lang="cs-CZ" dirty="0" err="1">
                <a:latin typeface="Consolas" panose="020B0609020204030204" pitchFamily="49" charset="0"/>
              </a:rPr>
              <a:t>readonly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record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struct</a:t>
            </a:r>
            <a:endParaRPr lang="cs-CZ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530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6F3449-FEE4-8210-4BC4-66C7174C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Readonly</a:t>
            </a:r>
            <a:r>
              <a:rPr lang="cs-CZ" dirty="0"/>
              <a:t> </a:t>
            </a:r>
            <a:r>
              <a:rPr lang="cs-CZ" dirty="0" err="1"/>
              <a:t>record</a:t>
            </a:r>
            <a:r>
              <a:rPr lang="cs-CZ" dirty="0"/>
              <a:t> </a:t>
            </a:r>
            <a:r>
              <a:rPr lang="cs-CZ" dirty="0" err="1"/>
              <a:t>struct</a:t>
            </a:r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AC0B1E1-92F3-1459-2C51-1C71E51D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91" y="1690688"/>
            <a:ext cx="4611575" cy="2145217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C804023B-5150-8E5C-8BDF-015E61979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019" y="1690688"/>
            <a:ext cx="6026590" cy="449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28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A71C45-207A-9C6C-6E83-974F5E80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Rychlý překladový slovník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499246-E96A-9B03-A83B-B4EE2AC18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95761"/>
          </a:xfrm>
        </p:spPr>
        <p:txBody>
          <a:bodyPr/>
          <a:lstStyle/>
          <a:p>
            <a:r>
              <a:rPr lang="cs-CZ" dirty="0"/>
              <a:t>Máte seznam 10 000 anglických slov a k nim české významy. Potřebujete, aby program po zadání anglického slova okamžitě (bez projíždění celého seznamu) našel český překlad. </a:t>
            </a:r>
          </a:p>
          <a:p>
            <a:r>
              <a:rPr lang="cs-CZ" b="1" dirty="0"/>
              <a:t>Kterou generickou kolekci vyberete?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5F2B39D-1668-55DE-8C45-AFB7F0A94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93" y="3526136"/>
            <a:ext cx="4554898" cy="323661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4DBF25F8-F3D6-8024-1192-F497A247F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236" y="3828877"/>
            <a:ext cx="5506218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2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59841C-338E-99E9-6178-B1284FEC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Operator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D04258-7E2C-5F5A-031B-8FA0CC102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14739"/>
          </a:xfrm>
        </p:spPr>
        <p:txBody>
          <a:bodyPr/>
          <a:lstStyle/>
          <a:p>
            <a:r>
              <a:rPr lang="cs-CZ" dirty="0"/>
              <a:t>Jak dopadne dělení </a:t>
            </a:r>
          </a:p>
          <a:p>
            <a:pPr lvl="1"/>
            <a:r>
              <a:rPr lang="cs-CZ" dirty="0"/>
              <a:t>dvou </a:t>
            </a:r>
            <a:r>
              <a:rPr lang="cs-CZ" dirty="0" err="1"/>
              <a:t>intů</a:t>
            </a:r>
            <a:r>
              <a:rPr lang="cs-CZ" dirty="0"/>
              <a:t>, </a:t>
            </a:r>
          </a:p>
          <a:p>
            <a:pPr lvl="1"/>
            <a:r>
              <a:rPr lang="cs-CZ" dirty="0" err="1"/>
              <a:t>int</a:t>
            </a:r>
            <a:r>
              <a:rPr lang="cs-CZ" dirty="0"/>
              <a:t> a double,</a:t>
            </a:r>
          </a:p>
          <a:p>
            <a:pPr lvl="1"/>
            <a:r>
              <a:rPr lang="cs-CZ" dirty="0"/>
              <a:t>dvou double?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5AAAF09-56B5-089A-1CE3-D9D788FD9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85" y="1825625"/>
            <a:ext cx="6554115" cy="1714739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5C23013-BED9-8E08-9E7D-0F05997F1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685" y="3601475"/>
            <a:ext cx="2476846" cy="1114581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91719E88-D860-39A7-293A-45E1FF7C4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999" y="3601475"/>
            <a:ext cx="2590908" cy="1114580"/>
          </a:xfrm>
          <a:prstGeom prst="rect">
            <a:avLst/>
          </a:prstGeom>
        </p:spPr>
      </p:pic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3C6A9211-3041-D06C-C1A2-372D068DD36A}"/>
              </a:ext>
            </a:extLst>
          </p:cNvPr>
          <p:cNvSpPr txBox="1">
            <a:spLocks/>
          </p:cNvSpPr>
          <p:nvPr/>
        </p:nvSpPr>
        <p:spPr>
          <a:xfrm>
            <a:off x="838200" y="3770611"/>
            <a:ext cx="3824017" cy="20236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Stejný operátor se tedy může pro různé typy chovat jinak</a:t>
            </a:r>
          </a:p>
          <a:p>
            <a:pPr lvl="1"/>
            <a:r>
              <a:rPr lang="cs-CZ" dirty="0"/>
              <a:t>=&gt; </a:t>
            </a:r>
            <a:r>
              <a:rPr lang="cs-CZ" b="1" dirty="0"/>
              <a:t>přetěžování operátorů </a:t>
            </a:r>
            <a:r>
              <a:rPr lang="cs-CZ" dirty="0"/>
              <a:t>na vlastních typech</a:t>
            </a:r>
          </a:p>
        </p:txBody>
      </p:sp>
    </p:spTree>
    <p:extLst>
      <p:ext uri="{BB962C8B-B14F-4D97-AF65-F5344CB8AC3E}">
        <p14:creationId xmlns:p14="http://schemas.microsoft.com/office/powerpoint/2010/main" val="66324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438619-AE2A-1F9C-6F25-AFAE3BEC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Přetěžování operátorů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56E8B3E-1C2D-9A7A-0D21-48BAC225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7933"/>
            <a:ext cx="10515600" cy="2836234"/>
          </a:xfrm>
        </p:spPr>
        <p:txBody>
          <a:bodyPr/>
          <a:lstStyle/>
          <a:p>
            <a:r>
              <a:rPr lang="cs-CZ" dirty="0"/>
              <a:t>Bez přetížení bychom museli psát </a:t>
            </a:r>
            <a:r>
              <a:rPr lang="cs-CZ" dirty="0">
                <a:solidFill>
                  <a:schemeClr val="accent1"/>
                </a:solidFill>
                <a:latin typeface="Consolas" panose="020B0609020204030204" pitchFamily="49" charset="0"/>
              </a:rPr>
              <a:t>v1.Add(v2)</a:t>
            </a:r>
            <a:r>
              <a:rPr lang="cs-CZ" dirty="0"/>
              <a:t>, což u složitějších výpočtů vypadá jako hromada závorek. 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098B2FAE-FB50-E55B-26D9-C0B49F676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378" y="1748531"/>
            <a:ext cx="6689243" cy="767177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36BB322F-C2C1-BF47-6C5A-576EFECB77CC}"/>
              </a:ext>
            </a:extLst>
          </p:cNvPr>
          <p:cNvSpPr txBox="1"/>
          <p:nvPr/>
        </p:nvSpPr>
        <p:spPr>
          <a:xfrm>
            <a:off x="912137" y="3962066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cs-CZ" b="1" dirty="0"/>
              <a:t>Pravidla pro </a:t>
            </a:r>
            <a:r>
              <a:rPr lang="cs-CZ" b="1" dirty="0" err="1">
                <a:latin typeface="Consolas" panose="020B0609020204030204" pitchFamily="49" charset="0"/>
              </a:rPr>
              <a:t>operator</a:t>
            </a:r>
            <a:endParaRPr lang="cs-CZ" b="1" dirty="0"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Musí být vždy </a:t>
            </a:r>
            <a:r>
              <a:rPr lang="cs-CZ" b="1" dirty="0">
                <a:latin typeface="Consolas" panose="020B0609020204030204" pitchFamily="49" charset="0"/>
              </a:rPr>
              <a:t>public static</a:t>
            </a:r>
            <a:r>
              <a:rPr lang="cs-CZ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Musí obsahovat klíčové slovo </a:t>
            </a:r>
            <a:r>
              <a:rPr lang="cs-CZ" dirty="0" err="1">
                <a:latin typeface="Consolas" panose="020B0609020204030204" pitchFamily="49" charset="0"/>
              </a:rPr>
              <a:t>operator</a:t>
            </a:r>
            <a:r>
              <a:rPr lang="cs-CZ" dirty="0"/>
              <a:t> následované symbolem (např. </a:t>
            </a:r>
            <a:r>
              <a:rPr lang="cs-CZ" dirty="0">
                <a:latin typeface="Courier New" panose="02070309020205020404" pitchFamily="49" charset="0"/>
              </a:rPr>
              <a:t>+</a:t>
            </a:r>
            <a:r>
              <a:rPr lang="cs-CZ" dirty="0"/>
              <a:t>, </a:t>
            </a:r>
            <a:r>
              <a:rPr lang="cs-CZ" dirty="0">
                <a:latin typeface="Courier New" panose="02070309020205020404" pitchFamily="49" charset="0"/>
              </a:rPr>
              <a:t>-</a:t>
            </a:r>
            <a:r>
              <a:rPr lang="cs-CZ" dirty="0"/>
              <a:t>, </a:t>
            </a:r>
            <a:r>
              <a:rPr lang="cs-CZ" dirty="0">
                <a:latin typeface="Courier New" panose="02070309020205020404" pitchFamily="49" charset="0"/>
              </a:rPr>
              <a:t>*</a:t>
            </a:r>
            <a:r>
              <a:rPr lang="cs-CZ" dirty="0"/>
              <a:t>, </a:t>
            </a:r>
            <a:r>
              <a:rPr lang="cs-CZ" dirty="0">
                <a:latin typeface="Courier New" panose="02070309020205020404" pitchFamily="49" charset="0"/>
              </a:rPr>
              <a:t>==</a:t>
            </a:r>
            <a:r>
              <a:rPr lang="cs-CZ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Alespoň jeden z parametrů musí být typu té třídy/struktury, ve které se operátor nachází.</a:t>
            </a:r>
          </a:p>
        </p:txBody>
      </p:sp>
    </p:spTree>
    <p:extLst>
      <p:ext uri="{BB962C8B-B14F-4D97-AF65-F5344CB8AC3E}">
        <p14:creationId xmlns:p14="http://schemas.microsoft.com/office/powerpoint/2010/main" val="1017050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578666-7CCB-5B98-80E6-CA988753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když tam nic není?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79368E-1F3B-AEBA-75F8-43FD04C02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003992"/>
          </a:xfrm>
        </p:spPr>
        <p:txBody>
          <a:bodyPr>
            <a:normAutofit lnSpcReduction="10000"/>
          </a:bodyPr>
          <a:lstStyle/>
          <a:p>
            <a:r>
              <a:rPr lang="cs-CZ" dirty="0"/>
              <a:t>Referenční typy mají NULL</a:t>
            </a:r>
          </a:p>
          <a:p>
            <a:r>
              <a:rPr lang="cs-CZ" dirty="0"/>
              <a:t>Co mají hodnotové typy? </a:t>
            </a:r>
          </a:p>
          <a:p>
            <a:pPr lvl="1"/>
            <a:r>
              <a:rPr lang="cs-CZ" dirty="0">
                <a:latin typeface="Consolas" panose="020B0609020204030204" pitchFamily="49" charset="0"/>
              </a:rPr>
              <a:t>Default</a:t>
            </a:r>
          </a:p>
          <a:p>
            <a:pPr lvl="1"/>
            <a:r>
              <a:rPr lang="cs-CZ" dirty="0"/>
              <a:t>Nebo je uděláme </a:t>
            </a:r>
            <a:r>
              <a:rPr lang="cs-CZ" dirty="0" err="1"/>
              <a:t>nullable</a:t>
            </a:r>
            <a:r>
              <a:rPr lang="cs-CZ" dirty="0"/>
              <a:t>: </a:t>
            </a:r>
            <a:br>
              <a:rPr lang="cs-CZ" dirty="0"/>
            </a:br>
            <a:r>
              <a:rPr lang="cs-CZ" dirty="0" err="1">
                <a:latin typeface="Consolas" panose="020B0609020204030204" pitchFamily="49" charset="0"/>
              </a:rPr>
              <a:t>int</a:t>
            </a:r>
            <a:r>
              <a:rPr lang="cs-CZ" dirty="0">
                <a:latin typeface="Consolas" panose="020B0609020204030204" pitchFamily="49" charset="0"/>
              </a:rPr>
              <a:t>? vek = </a:t>
            </a:r>
            <a:r>
              <a:rPr lang="cs-CZ" dirty="0" err="1">
                <a:latin typeface="Consolas" panose="020B0609020204030204" pitchFamily="49" charset="0"/>
              </a:rPr>
              <a:t>null</a:t>
            </a:r>
            <a:r>
              <a:rPr lang="cs-CZ" dirty="0">
                <a:latin typeface="Consolas" panose="020B0609020204030204" pitchFamily="49" charset="0"/>
              </a:rPr>
              <a:t>;</a:t>
            </a:r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730961F8-A588-94A0-F764-9B3AC5396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96917"/>
              </p:ext>
            </p:extLst>
          </p:nvPr>
        </p:nvGraphicFramePr>
        <p:xfrm>
          <a:off x="1417621" y="4117063"/>
          <a:ext cx="6334126" cy="18288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167063">
                  <a:extLst>
                    <a:ext uri="{9D8B030D-6E8A-4147-A177-3AD203B41FA5}">
                      <a16:colId xmlns:a16="http://schemas.microsoft.com/office/drawing/2014/main" val="2689137496"/>
                    </a:ext>
                  </a:extLst>
                </a:gridCol>
                <a:gridCol w="3167063">
                  <a:extLst>
                    <a:ext uri="{9D8B030D-6E8A-4147-A177-3AD203B41FA5}">
                      <a16:colId xmlns:a16="http://schemas.microsoft.com/office/drawing/2014/main" val="2645724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Typ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b="1">
                          <a:effectLst/>
                        </a:rPr>
                        <a:t>Výchozí hodnota</a:t>
                      </a:r>
                      <a:endParaRPr lang="cs-CZ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902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Consolas" panose="020B0609020204030204" pitchFamily="49" charset="0"/>
                        </a:rPr>
                        <a:t>int, float,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308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 err="1">
                          <a:effectLst/>
                          <a:latin typeface="Consolas" panose="020B0609020204030204" pitchFamily="49" charset="0"/>
                        </a:rPr>
                        <a:t>false</a:t>
                      </a:r>
                      <a:endParaRPr lang="cs-CZ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034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>
                          <a:effectLst/>
                          <a:latin typeface="Consolas" panose="020B0609020204030204" pitchFamily="49" charset="0"/>
                        </a:rPr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>
                          <a:effectLst/>
                          <a:latin typeface="Consolas" panose="020B0609020204030204" pitchFamily="49" charset="0"/>
                        </a:rPr>
                        <a:t>\0 </a:t>
                      </a:r>
                      <a:r>
                        <a:rPr lang="cs-CZ" dirty="0">
                          <a:effectLst/>
                        </a:rPr>
                        <a:t>(</a:t>
                      </a:r>
                      <a:r>
                        <a:rPr lang="cs-CZ" dirty="0" err="1">
                          <a:effectLst/>
                        </a:rPr>
                        <a:t>null</a:t>
                      </a:r>
                      <a:r>
                        <a:rPr lang="cs-CZ" dirty="0">
                          <a:effectLst/>
                        </a:rPr>
                        <a:t> </a:t>
                      </a:r>
                      <a:r>
                        <a:rPr lang="cs-CZ" dirty="0" err="1">
                          <a:effectLst/>
                        </a:rPr>
                        <a:t>character</a:t>
                      </a:r>
                      <a:r>
                        <a:rPr lang="cs-CZ" dirty="0">
                          <a:effectLst/>
                        </a:rPr>
                        <a:t>)</a:t>
                      </a:r>
                      <a:endParaRPr lang="cs-CZ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58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dirty="0" err="1">
                          <a:effectLst/>
                          <a:latin typeface="Consolas" panose="020B0609020204030204" pitchFamily="49" charset="0"/>
                        </a:rPr>
                        <a:t>enum</a:t>
                      </a:r>
                      <a:endParaRPr lang="cs-CZ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>
                          <a:effectLst/>
                        </a:rPr>
                        <a:t>První prvek (pokud je roven 0)</a:t>
                      </a:r>
                      <a:endParaRPr lang="pl-PL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36847"/>
                  </a:ext>
                </a:extLst>
              </a:tr>
            </a:tbl>
          </a:graphicData>
        </a:graphic>
      </p:graphicFrame>
      <p:sp>
        <p:nvSpPr>
          <p:cNvPr id="6" name="TextovéPole 5">
            <a:extLst>
              <a:ext uri="{FF2B5EF4-FFF2-40B4-BE49-F238E27FC236}">
                <a16:creationId xmlns:a16="http://schemas.microsoft.com/office/drawing/2014/main" id="{750A36D9-7FF1-7AB1-2827-17DE03280A9A}"/>
              </a:ext>
            </a:extLst>
          </p:cNvPr>
          <p:cNvSpPr txBox="1"/>
          <p:nvPr/>
        </p:nvSpPr>
        <p:spPr>
          <a:xfrm>
            <a:off x="5782901" y="2075290"/>
            <a:ext cx="6097508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cs-CZ" b="1" dirty="0"/>
              <a:t>Porovnání na </a:t>
            </a:r>
            <a:r>
              <a:rPr lang="cs-CZ" b="1" dirty="0" err="1"/>
              <a:t>null</a:t>
            </a:r>
            <a:r>
              <a:rPr lang="cs-CZ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>
                <a:latin typeface="Consolas" panose="020B0609020204030204" pitchFamily="49" charset="0"/>
              </a:rPr>
              <a:t>!= </a:t>
            </a:r>
            <a:r>
              <a:rPr lang="cs-CZ" b="1" dirty="0" err="1">
                <a:latin typeface="Consolas" panose="020B0609020204030204" pitchFamily="49" charset="0"/>
              </a:rPr>
              <a:t>null</a:t>
            </a:r>
            <a:r>
              <a:rPr lang="cs-CZ" dirty="0"/>
              <a:t>: Může být přetíženo operátorem </a:t>
            </a:r>
            <a:br>
              <a:rPr lang="cs-CZ" dirty="0"/>
            </a:br>
            <a:r>
              <a:rPr lang="cs-CZ" dirty="0"/>
              <a:t>(někdo mohl </a:t>
            </a:r>
            <a:r>
              <a:rPr lang="cs-CZ" dirty="0">
                <a:latin typeface="Consolas" panose="020B0609020204030204" pitchFamily="49" charset="0"/>
              </a:rPr>
              <a:t>!=</a:t>
            </a:r>
            <a:r>
              <a:rPr lang="cs-CZ" dirty="0"/>
              <a:t> naprogramovat tak, že lže).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 err="1">
                <a:latin typeface="Consolas" panose="020B0609020204030204" pitchFamily="49" charset="0"/>
              </a:rPr>
              <a:t>is</a:t>
            </a:r>
            <a:r>
              <a:rPr lang="cs-CZ" b="1" dirty="0">
                <a:latin typeface="Consolas" panose="020B0609020204030204" pitchFamily="49" charset="0"/>
              </a:rPr>
              <a:t> not </a:t>
            </a:r>
            <a:r>
              <a:rPr lang="cs-CZ" b="1" dirty="0" err="1">
                <a:latin typeface="Consolas" panose="020B0609020204030204" pitchFamily="49" charset="0"/>
              </a:rPr>
              <a:t>null</a:t>
            </a:r>
            <a:r>
              <a:rPr lang="cs-CZ" dirty="0"/>
              <a:t>: Je to </a:t>
            </a:r>
            <a:r>
              <a:rPr lang="cs-CZ" dirty="0" err="1"/>
              <a:t>pattern</a:t>
            </a:r>
            <a:r>
              <a:rPr lang="cs-CZ" dirty="0"/>
              <a:t> </a:t>
            </a:r>
            <a:r>
              <a:rPr lang="cs-CZ" dirty="0" err="1"/>
              <a:t>matching</a:t>
            </a:r>
            <a:r>
              <a:rPr lang="cs-CZ" dirty="0"/>
              <a:t>. Vždycky říká pravdu o tom, jestli je v paměti skutečný objekt. </a:t>
            </a:r>
            <a:br>
              <a:rPr lang="cs-CZ" dirty="0"/>
            </a:br>
            <a:r>
              <a:rPr lang="cs-CZ" dirty="0"/>
              <a:t>Je to dnes </a:t>
            </a:r>
            <a:r>
              <a:rPr lang="cs-CZ" b="1" dirty="0"/>
              <a:t>doporučená cesta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037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1277</Words>
  <Application>Microsoft Office PowerPoint</Application>
  <PresentationFormat>Širokoúhlá obrazovka</PresentationFormat>
  <Paragraphs>213</Paragraphs>
  <Slides>25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Consolas</vt:lpstr>
      <vt:lpstr>Courier New</vt:lpstr>
      <vt:lpstr>Google Sans Text</vt:lpstr>
      <vt:lpstr>Motiv Office</vt:lpstr>
      <vt:lpstr>1. Jednoduché a složené (strukturované) datové typy. Standardní datové typy jazyka C#.</vt:lpstr>
      <vt:lpstr>Prezentace aplikace PowerPoint</vt:lpstr>
      <vt:lpstr>Prezentace aplikace PowerPoint</vt:lpstr>
      <vt:lpstr>Ne každá proměnná je proměnná</vt:lpstr>
      <vt:lpstr>Prezentace aplikace PowerPoint</vt:lpstr>
      <vt:lpstr>Hierarchie typů v C#</vt:lpstr>
      <vt:lpstr>Zásobník x halda</vt:lpstr>
      <vt:lpstr>Rozličné chování ref. a hod. typů</vt:lpstr>
      <vt:lpstr>Reference, pointery a Garbage Collector</vt:lpstr>
      <vt:lpstr>Základní datové typy</vt:lpstr>
      <vt:lpstr>Základní jednoduché datové typy</vt:lpstr>
      <vt:lpstr>Základní jednoduché datové typy</vt:lpstr>
      <vt:lpstr>Strukturované (složené datové typy)</vt:lpstr>
      <vt:lpstr>Senzor teploty</vt:lpstr>
      <vt:lpstr>Prezentace aplikace PowerPoint</vt:lpstr>
      <vt:lpstr>Nákupní košík v e-shopu</vt:lpstr>
      <vt:lpstr>Prezentace aplikace PowerPoint</vt:lpstr>
      <vt:lpstr>GPS souřadnice (Bod na mapě)</vt:lpstr>
      <vt:lpstr>Evidence studentů ve škole</vt:lpstr>
      <vt:lpstr>Ještě existuje record…</vt:lpstr>
      <vt:lpstr>Readonly record struct</vt:lpstr>
      <vt:lpstr>Rychlý překladový slovník</vt:lpstr>
      <vt:lpstr>Operator</vt:lpstr>
      <vt:lpstr>Přetěžování operátorů</vt:lpstr>
      <vt:lpstr>Co když tam nic není?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Mazná Michaela</dc:creator>
  <cp:lastModifiedBy>Mazná Michaela</cp:lastModifiedBy>
  <cp:revision>29</cp:revision>
  <dcterms:created xsi:type="dcterms:W3CDTF">2026-03-22T19:15:33Z</dcterms:created>
  <dcterms:modified xsi:type="dcterms:W3CDTF">2026-03-23T11:02:34Z</dcterms:modified>
</cp:coreProperties>
</file>