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Int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.fntdata"/><Relationship Id="rId6" Type="http://schemas.openxmlformats.org/officeDocument/2006/relationships/slide" Target="slides/slide1.xml"/><Relationship Id="rId18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11" Type="http://schemas.openxmlformats.org/officeDocument/2006/relationships/image" Target="../media/image9.png"/><Relationship Id="rId10" Type="http://schemas.openxmlformats.org/officeDocument/2006/relationships/image" Target="../media/image44.png"/><Relationship Id="rId12" Type="http://schemas.openxmlformats.org/officeDocument/2006/relationships/image" Target="../media/image16.png"/><Relationship Id="rId9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3.png"/><Relationship Id="rId13" Type="http://schemas.openxmlformats.org/officeDocument/2006/relationships/image" Target="../media/image27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9" Type="http://schemas.openxmlformats.org/officeDocument/2006/relationships/image" Target="../media/image34.png"/><Relationship Id="rId15" Type="http://schemas.openxmlformats.org/officeDocument/2006/relationships/image" Target="../media/image24.png"/><Relationship Id="rId14" Type="http://schemas.openxmlformats.org/officeDocument/2006/relationships/image" Target="../media/image42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3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3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9" Type="http://schemas.openxmlformats.org/officeDocument/2006/relationships/image" Target="../media/image17.png"/><Relationship Id="rId5" Type="http://schemas.openxmlformats.org/officeDocument/2006/relationships/image" Target="../media/image43.png"/><Relationship Id="rId6" Type="http://schemas.openxmlformats.org/officeDocument/2006/relationships/image" Target="../media/image22.png"/><Relationship Id="rId7" Type="http://schemas.openxmlformats.org/officeDocument/2006/relationships/image" Target="../media/image38.png"/><Relationship Id="rId8" Type="http://schemas.openxmlformats.org/officeDocument/2006/relationships/image" Target="../media/image41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8.png"/><Relationship Id="rId1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9" Type="http://schemas.openxmlformats.org/officeDocument/2006/relationships/image" Target="../media/image37.png"/><Relationship Id="rId5" Type="http://schemas.openxmlformats.org/officeDocument/2006/relationships/image" Target="../media/image19.png"/><Relationship Id="rId6" Type="http://schemas.openxmlformats.org/officeDocument/2006/relationships/image" Target="../media/image23.png"/><Relationship Id="rId7" Type="http://schemas.openxmlformats.org/officeDocument/2006/relationships/image" Target="../media/image26.png"/><Relationship Id="rId8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image" Target="../media/image50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4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9.png"/><Relationship Id="rId9" Type="http://schemas.openxmlformats.org/officeDocument/2006/relationships/image" Target="../media/image45.png"/><Relationship Id="rId5" Type="http://schemas.openxmlformats.org/officeDocument/2006/relationships/image" Target="../media/image39.png"/><Relationship Id="rId6" Type="http://schemas.openxmlformats.org/officeDocument/2006/relationships/image" Target="../media/image36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700337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Programování řízené událostmi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624262"/>
            <a:ext cx="110490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Martin Zeman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05000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05000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850582" y="2295525"/>
            <a:ext cx="468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Procedurální p</a:t>
            </a:r>
            <a:r>
              <a:rPr b="1" lang="en-US" sz="2400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rogramování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660832" y="2295525"/>
            <a:ext cx="468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Řízeno událostmi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295400" y="3038475"/>
            <a:ext cx="4124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Průběh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diktuje </a:t>
            </a:r>
            <a:r>
              <a:rPr lang="en-US" sz="16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kód.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295400" y="3543300"/>
            <a:ext cx="41243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Program čeká na konkrétní vstupy.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295400" y="4048125"/>
            <a:ext cx="41243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Zpracování probíhá sekvenčně.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295400" y="4552950"/>
            <a:ext cx="41243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Typické pro konzolové aplikace.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105650" y="3495675"/>
            <a:ext cx="4124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Průběh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diktuje uživatel (nebo OS).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105650" y="4000500"/>
            <a:ext cx="4124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Aplikace primárně spí</a:t>
            </a:r>
            <a:r>
              <a:rPr lang="en-US" sz="16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105688" y="4505325"/>
            <a:ext cx="4124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Nutnost pro okenní aplikace (GUI).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08133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3586162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4090987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" y="459581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72275" y="353853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72275" y="4043362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757988" y="4548187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Srovnání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85950"/>
            <a:ext cx="5238750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0" y="2276475"/>
            <a:ext cx="24574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10512" y="3400425"/>
            <a:ext cx="218122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4524375"/>
            <a:ext cx="192405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24975" y="4638675"/>
            <a:ext cx="190500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91587" y="2971800"/>
            <a:ext cx="2190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91587" y="4095750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904875" y="2581275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Hlavní smyčka: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Nekonečný cyklus na pozadí aplikace.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04875" y="3400425"/>
            <a:ext cx="5476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Žádný Polling: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Aplikace se neptá "Klikl uživatel?".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04875" y="390525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Event Queue: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Zprávy od OS padají do fronty.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04875" y="4410075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Probuzení: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Aplikace se probudí jen když fronta není prázdná.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86825" y="4886325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7286625" y="5191125"/>
            <a:ext cx="8953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(Event Queue)</a:t>
            </a:r>
            <a:endParaRPr/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82225" y="50482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1500" y="26241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71500" y="34432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71500" y="39481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71500" y="4452937"/>
            <a:ext cx="1619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Smyčka událostí (Event Loop)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571500" y="2314575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Event Handler je metoda, která vždy přijímá dva klíčové parametry: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04875" y="3228975"/>
            <a:ext cx="49053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Sender (Odesílatel):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Odkaz na objekt, který událost vyvolal. Zjistíme, které konkrétní tlačítko to bylo.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04875" y="4362450"/>
            <a:ext cx="49053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EventArgs (Argumenty):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Balíček dodatečných dat. Známe např. přesné X/Y souřadnice nebo stisknutou klávesu.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718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05312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Event handler</a:t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10257" y="2102650"/>
            <a:ext cx="4760519" cy="31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52650"/>
            <a:ext cx="342900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152650"/>
            <a:ext cx="342900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152650"/>
            <a:ext cx="3429000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1105852" y="3352800"/>
            <a:ext cx="236029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Myš &amp; Klávesnice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66775" y="3867150"/>
            <a:ext cx="28384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Kliknutí (`OnClick`), přejetí (`MouseEnter`), okamžitý stisk (`OnKeyDown`).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380910" y="3352800"/>
            <a:ext cx="14301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kn</a:t>
            </a:r>
            <a:r>
              <a:rPr b="1" lang="en-US" sz="19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4676775" y="3867150"/>
            <a:ext cx="28384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Spuštění (`OnLoad`), změna velikosti (`OnResize`), blokace zavření (`FormClosing`).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9230915" y="3352800"/>
            <a:ext cx="135016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Časovače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486775" y="3867150"/>
            <a:ext cx="28384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Automatické volání (`Timer.Tick`) každých X ms (např. obnova hodin).</a:t>
            </a:r>
            <a:endParaRPr/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5025" y="2581275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5812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67875" y="2581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Běžné typy událostí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09750"/>
            <a:ext cx="342900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809750"/>
            <a:ext cx="342900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809750"/>
            <a:ext cx="342900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0590" y="2352675"/>
            <a:ext cx="227067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70590" y="2352675"/>
            <a:ext cx="227067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93010" y="3028950"/>
            <a:ext cx="10763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37290" y="2619375"/>
            <a:ext cx="173727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1395888" y="4010025"/>
            <a:ext cx="178022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Mřížky (Grid)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66775" y="4524375"/>
            <a:ext cx="28384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Opuštění absolutních pixelů. Rozdělení okna na relativní sloupce a řádky.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4610814" y="4010025"/>
            <a:ext cx="29703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Ukotvení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4676775" y="4524375"/>
            <a:ext cx="28384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Prvky se přichytí k rohům a automaticky cestují při změně velikosti.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8563123" y="4010025"/>
            <a:ext cx="26856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b="1" lang="en-US" sz="19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argin a padding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486775" y="4524375"/>
            <a:ext cx="28386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Dodržení prostoru kolem prvků místo fixních souřadnic.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1150590" y="2352675"/>
            <a:ext cx="762000" cy="1219200"/>
          </a:xfrm>
          <a:prstGeom prst="roundRect">
            <a:avLst>
              <a:gd fmla="val 5000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1988790" y="2352675"/>
            <a:ext cx="1432470" cy="571500"/>
          </a:xfrm>
          <a:prstGeom prst="roundRect">
            <a:avLst>
              <a:gd fmla="val 6666" name="adj"/>
            </a:avLst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1988790" y="3000375"/>
            <a:ext cx="1432470" cy="571500"/>
          </a:xfrm>
          <a:prstGeom prst="roundRect">
            <a:avLst>
              <a:gd fmla="val 6666" name="adj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6" name="Google Shape;186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83510" y="3143250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Responzivita v oknech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6715125" y="2833687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Kritická chyba: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Aplikace má pouze jedno vlákno pro vykreslování a události.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715125" y="3652837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Příčina zamrznutí: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Náročný výpočet v tlačítku zaměstná vlákno = okno nereaguje.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715125" y="4471987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Následek: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Systém hlásí "Program neodpovídá".</a:t>
            </a:r>
            <a:endParaRPr/>
          </a:p>
        </p:txBody>
      </p:sp>
      <p:pic>
        <p:nvPicPr>
          <p:cNvPr descr="image.png" id="196" name="Google Shape;19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8765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69570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514850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Blokace hlavního vlákna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904875" y="2676525"/>
            <a:ext cx="4905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Delegování: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Těžká práce se pošle na vedlejší pracovní vlákno.</a:t>
            </a:r>
            <a:endParaRPr/>
          </a:p>
        </p:txBody>
      </p:sp>
      <p:pic>
        <p:nvPicPr>
          <p:cNvPr descr="image.png" id="201" name="Google Shape;20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719387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904875" y="3462325"/>
            <a:ext cx="4905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Výsledek: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Hlavní vlákno zůstává volné. Aplikace je dál plynulá.</a:t>
            </a:r>
            <a:endParaRPr/>
          </a:p>
        </p:txBody>
      </p:sp>
      <p:pic>
        <p:nvPicPr>
          <p:cNvPr descr="image.png" id="203" name="Google Shape;20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925" y="3462337"/>
            <a:ext cx="23812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9812"/>
            <a:ext cx="3429000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309812"/>
            <a:ext cx="3429000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309812"/>
            <a:ext cx="3429000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1870948" y="3509962"/>
            <a:ext cx="83010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Model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866775" y="4024312"/>
            <a:ext cx="28384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Mozek aplikace. Skrývá byznys logiku a komunikaci s databází. Neví o vizuálu.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5770959" y="3509962"/>
            <a:ext cx="65008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View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4676775" y="4024312"/>
            <a:ext cx="28384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Čistý vzhled (např. v XAML). "Hloupá" okna a tlačítka bez logiky (žádný C# kód).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9165907" y="3509962"/>
            <a:ext cx="14801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ViewModel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8486775" y="4024312"/>
            <a:ext cx="28384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Prostředník. Připravuje data z Modelu pro zobrazení a reaguje na příkazy z View.</a:t>
            </a:r>
            <a:endParaRPr/>
          </a:p>
        </p:txBody>
      </p:sp>
      <p:pic>
        <p:nvPicPr>
          <p:cNvPr descr="image.png" id="218" name="Google Shape;21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6450" y="2738437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29300" y="2738437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9300" y="2738437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Vrstvy MVVM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