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1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2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E9ABE-6FFF-4735-978D-D486DF6839D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FCCFE-0247-407C-B5E0-7259FD185F9B}">
      <dgm:prSet/>
      <dgm:spPr/>
      <dgm:t>
        <a:bodyPr/>
        <a:lstStyle/>
        <a:p>
          <a:r>
            <a:rPr lang="cs-CZ" dirty="0"/>
            <a:t>Kostra grafu</a:t>
          </a:r>
          <a:endParaRPr lang="en-US" dirty="0"/>
        </a:p>
      </dgm:t>
    </dgm:pt>
    <dgm:pt modelId="{6046FD7B-12B8-4347-AC6F-F8496D3E2EEA}" type="parTrans" cxnId="{285C0E1F-BD7E-4D7C-8ABA-F4240EE98D07}">
      <dgm:prSet/>
      <dgm:spPr/>
      <dgm:t>
        <a:bodyPr/>
        <a:lstStyle/>
        <a:p>
          <a:endParaRPr lang="en-US"/>
        </a:p>
      </dgm:t>
    </dgm:pt>
    <dgm:pt modelId="{79E48BE3-9864-47F8-A14F-5DFC9679A957}" type="sibTrans" cxnId="{285C0E1F-BD7E-4D7C-8ABA-F4240EE98D07}">
      <dgm:prSet/>
      <dgm:spPr/>
      <dgm:t>
        <a:bodyPr/>
        <a:lstStyle/>
        <a:p>
          <a:endParaRPr lang="en-US"/>
        </a:p>
      </dgm:t>
    </dgm:pt>
    <dgm:pt modelId="{51B5D6DC-85EF-4847-BF16-BAF4E2BDD2F2}">
      <dgm:prSet/>
      <dgm:spPr/>
      <dgm:t>
        <a:bodyPr/>
        <a:lstStyle/>
        <a:p>
          <a:r>
            <a:rPr lang="cs-CZ"/>
            <a:t>Pouze pro souvislé, neorientované grafy</a:t>
          </a:r>
          <a:endParaRPr lang="en-US"/>
        </a:p>
      </dgm:t>
    </dgm:pt>
    <dgm:pt modelId="{A85CF60D-2008-4D5F-8C13-340A3AEF1DE5}" type="parTrans" cxnId="{6C953B8B-DC3E-4BD1-9717-0F241EC99078}">
      <dgm:prSet/>
      <dgm:spPr/>
      <dgm:t>
        <a:bodyPr/>
        <a:lstStyle/>
        <a:p>
          <a:endParaRPr lang="en-US"/>
        </a:p>
      </dgm:t>
    </dgm:pt>
    <dgm:pt modelId="{118E8BAE-0E8A-4A74-8EDE-D4792B1D6EE1}" type="sibTrans" cxnId="{6C953B8B-DC3E-4BD1-9717-0F241EC99078}">
      <dgm:prSet/>
      <dgm:spPr/>
      <dgm:t>
        <a:bodyPr/>
        <a:lstStyle/>
        <a:p>
          <a:endParaRPr lang="en-US"/>
        </a:p>
      </dgm:t>
    </dgm:pt>
    <dgm:pt modelId="{C158EC9F-1EF1-45ED-8D2E-C68157B98617}">
      <dgm:prSet/>
      <dgm:spPr/>
      <dgm:t>
        <a:bodyPr/>
        <a:lstStyle/>
        <a:p>
          <a:r>
            <a:rPr lang="cs-CZ"/>
            <a:t>Podgraf obsahující všechny vrcholy původního grafu, který je stromem</a:t>
          </a:r>
          <a:endParaRPr lang="en-US"/>
        </a:p>
      </dgm:t>
    </dgm:pt>
    <dgm:pt modelId="{383ECC0F-8954-4238-941A-D3CB9DE42037}" type="parTrans" cxnId="{A06B6414-56DA-4B55-AC37-58431FDEB744}">
      <dgm:prSet/>
      <dgm:spPr/>
      <dgm:t>
        <a:bodyPr/>
        <a:lstStyle/>
        <a:p>
          <a:endParaRPr lang="en-US"/>
        </a:p>
      </dgm:t>
    </dgm:pt>
    <dgm:pt modelId="{E058BC04-5039-447A-81A3-9B0E63C96FE5}" type="sibTrans" cxnId="{A06B6414-56DA-4B55-AC37-58431FDEB744}">
      <dgm:prSet/>
      <dgm:spPr/>
      <dgm:t>
        <a:bodyPr/>
        <a:lstStyle/>
        <a:p>
          <a:endParaRPr lang="en-US"/>
        </a:p>
      </dgm:t>
    </dgm:pt>
    <dgm:pt modelId="{E5FF79B2-2E37-4FBE-859A-B90FACF6D0D9}">
      <dgm:prSet/>
      <dgm:spPr/>
      <dgm:t>
        <a:bodyPr/>
        <a:lstStyle/>
        <a:p>
          <a:r>
            <a:rPr lang="cs-CZ"/>
            <a:t>Strom má pouze jednu kostru – sám sebe</a:t>
          </a:r>
          <a:endParaRPr lang="en-US"/>
        </a:p>
      </dgm:t>
    </dgm:pt>
    <dgm:pt modelId="{6FA0DD2D-0053-4C1E-8DA6-E666F0361BD6}" type="parTrans" cxnId="{D478FB7D-CC65-417D-AB47-E90463C5F8F5}">
      <dgm:prSet/>
      <dgm:spPr/>
      <dgm:t>
        <a:bodyPr/>
        <a:lstStyle/>
        <a:p>
          <a:endParaRPr lang="en-US"/>
        </a:p>
      </dgm:t>
    </dgm:pt>
    <dgm:pt modelId="{E6730B54-8415-4831-8205-10FFF5A470F0}" type="sibTrans" cxnId="{D478FB7D-CC65-417D-AB47-E90463C5F8F5}">
      <dgm:prSet/>
      <dgm:spPr/>
      <dgm:t>
        <a:bodyPr/>
        <a:lstStyle/>
        <a:p>
          <a:endParaRPr lang="en-US"/>
        </a:p>
      </dgm:t>
    </dgm:pt>
    <dgm:pt modelId="{47F99B53-DA00-4974-A497-F7DD92E87E58}">
      <dgm:prSet/>
      <dgm:spPr/>
      <dgm:t>
        <a:bodyPr/>
        <a:lstStyle/>
        <a:p>
          <a:r>
            <a:rPr lang="cs-CZ"/>
            <a:t>Kružnice o </a:t>
          </a:r>
          <a:r>
            <a:rPr lang="cs-CZ" i="1"/>
            <a:t>N</a:t>
          </a:r>
          <a:r>
            <a:rPr lang="cs-CZ"/>
            <a:t> vrcholech má právě </a:t>
          </a:r>
          <a:r>
            <a:rPr lang="cs-CZ" i="1"/>
            <a:t>N</a:t>
          </a:r>
          <a:r>
            <a:rPr lang="cs-CZ"/>
            <a:t> koster</a:t>
          </a:r>
          <a:endParaRPr lang="en-US"/>
        </a:p>
      </dgm:t>
    </dgm:pt>
    <dgm:pt modelId="{461746A3-66D7-4956-80EA-B47F19D4227B}" type="parTrans" cxnId="{E28F7479-E83D-4391-96E8-9BF3512BF06A}">
      <dgm:prSet/>
      <dgm:spPr/>
      <dgm:t>
        <a:bodyPr/>
        <a:lstStyle/>
        <a:p>
          <a:endParaRPr lang="en-US"/>
        </a:p>
      </dgm:t>
    </dgm:pt>
    <dgm:pt modelId="{32C548EA-4C13-41B9-B9A0-AE6B79878209}" type="sibTrans" cxnId="{E28F7479-E83D-4391-96E8-9BF3512BF06A}">
      <dgm:prSet/>
      <dgm:spPr/>
      <dgm:t>
        <a:bodyPr/>
        <a:lstStyle/>
        <a:p>
          <a:endParaRPr lang="en-US"/>
        </a:p>
      </dgm:t>
    </dgm:pt>
    <dgm:pt modelId="{1AD8D7C2-8E36-4D35-9FCA-C546F03AF560}">
      <dgm:prSet/>
      <dgm:spPr/>
      <dgm:t>
        <a:bodyPr/>
        <a:lstStyle/>
        <a:p>
          <a:r>
            <a:rPr lang="cs-CZ" dirty="0"/>
            <a:t>Minimální kostra grafu</a:t>
          </a:r>
          <a:endParaRPr lang="en-US" dirty="0"/>
        </a:p>
      </dgm:t>
    </dgm:pt>
    <dgm:pt modelId="{2FCD843C-7737-4DD7-B129-A28B5C5F77DB}" type="parTrans" cxnId="{28282B26-499D-4EE8-B31D-26995332C292}">
      <dgm:prSet/>
      <dgm:spPr/>
      <dgm:t>
        <a:bodyPr/>
        <a:lstStyle/>
        <a:p>
          <a:endParaRPr lang="en-US"/>
        </a:p>
      </dgm:t>
    </dgm:pt>
    <dgm:pt modelId="{F8E4276F-C46D-4DB7-B0C2-2C12554F09FF}" type="sibTrans" cxnId="{28282B26-499D-4EE8-B31D-26995332C292}">
      <dgm:prSet/>
      <dgm:spPr/>
      <dgm:t>
        <a:bodyPr/>
        <a:lstStyle/>
        <a:p>
          <a:endParaRPr lang="en-US"/>
        </a:p>
      </dgm:t>
    </dgm:pt>
    <dgm:pt modelId="{43160B92-2254-4D13-B99A-7D32E2BAB857}">
      <dgm:prSet/>
      <dgm:spPr/>
      <dgm:t>
        <a:bodyPr/>
        <a:lstStyle/>
        <a:p>
          <a:r>
            <a:rPr lang="cs-CZ" dirty="0"/>
            <a:t>Pouze pro grafy s ohodnocenými hranami</a:t>
          </a:r>
          <a:endParaRPr lang="en-US" dirty="0"/>
        </a:p>
      </dgm:t>
    </dgm:pt>
    <dgm:pt modelId="{12C73E5B-68B6-4356-8118-010F081FB827}" type="parTrans" cxnId="{3F46176C-001B-4F04-9C5E-B1B3E10C68C9}">
      <dgm:prSet/>
      <dgm:spPr/>
      <dgm:t>
        <a:bodyPr/>
        <a:lstStyle/>
        <a:p>
          <a:endParaRPr lang="en-US"/>
        </a:p>
      </dgm:t>
    </dgm:pt>
    <dgm:pt modelId="{D07F5C41-D153-4F4D-9696-90A54FAFD862}" type="sibTrans" cxnId="{3F46176C-001B-4F04-9C5E-B1B3E10C68C9}">
      <dgm:prSet/>
      <dgm:spPr/>
      <dgm:t>
        <a:bodyPr/>
        <a:lstStyle/>
        <a:p>
          <a:endParaRPr lang="en-US"/>
        </a:p>
      </dgm:t>
    </dgm:pt>
    <dgm:pt modelId="{66472DFB-78EF-4044-A1B0-5D1FE5E250F7}">
      <dgm:prSet/>
      <dgm:spPr/>
      <dgm:t>
        <a:bodyPr/>
        <a:lstStyle/>
        <a:p>
          <a:r>
            <a:rPr lang="cs-CZ" dirty="0"/>
            <a:t>Kostra, kde součet hodnot hran je </a:t>
          </a:r>
          <a:r>
            <a:rPr lang="cs-CZ" i="1" dirty="0"/>
            <a:t>minimální</a:t>
          </a:r>
          <a:endParaRPr lang="en-US" dirty="0"/>
        </a:p>
      </dgm:t>
    </dgm:pt>
    <dgm:pt modelId="{D18A92FB-6DF2-48CF-84C5-D5578F32F51D}" type="parTrans" cxnId="{38C930BC-AE9F-4FE3-A134-D73005FFE422}">
      <dgm:prSet/>
      <dgm:spPr/>
      <dgm:t>
        <a:bodyPr/>
        <a:lstStyle/>
        <a:p>
          <a:endParaRPr lang="en-US"/>
        </a:p>
      </dgm:t>
    </dgm:pt>
    <dgm:pt modelId="{C0AEB943-C374-43AE-A1C2-7201E50FA772}" type="sibTrans" cxnId="{38C930BC-AE9F-4FE3-A134-D73005FFE422}">
      <dgm:prSet/>
      <dgm:spPr/>
      <dgm:t>
        <a:bodyPr/>
        <a:lstStyle/>
        <a:p>
          <a:endParaRPr lang="en-US"/>
        </a:p>
      </dgm:t>
    </dgm:pt>
    <dgm:pt modelId="{4775645E-8B54-44EF-9BED-61581742F0FD}" type="pres">
      <dgm:prSet presAssocID="{633E9ABE-6FFF-4735-978D-D486DF6839D5}" presName="linear" presStyleCnt="0">
        <dgm:presLayoutVars>
          <dgm:animLvl val="lvl"/>
          <dgm:resizeHandles val="exact"/>
        </dgm:presLayoutVars>
      </dgm:prSet>
      <dgm:spPr/>
    </dgm:pt>
    <dgm:pt modelId="{A890FB97-1EA3-49A7-A3B6-E197C3C35A06}" type="pres">
      <dgm:prSet presAssocID="{FCDFCCFE-0247-407C-B5E0-7259FD185F9B}" presName="parentText" presStyleLbl="node1" presStyleIdx="0" presStyleCnt="2" custLinFactNeighborX="-1264" custLinFactNeighborY="-30898">
        <dgm:presLayoutVars>
          <dgm:chMax val="0"/>
          <dgm:bulletEnabled val="1"/>
        </dgm:presLayoutVars>
      </dgm:prSet>
      <dgm:spPr/>
    </dgm:pt>
    <dgm:pt modelId="{006B802E-A3EA-4A4F-9195-E7D2EE2763C5}" type="pres">
      <dgm:prSet presAssocID="{FCDFCCFE-0247-407C-B5E0-7259FD185F9B}" presName="childText" presStyleLbl="revTx" presStyleIdx="0" presStyleCnt="2">
        <dgm:presLayoutVars>
          <dgm:bulletEnabled val="1"/>
        </dgm:presLayoutVars>
      </dgm:prSet>
      <dgm:spPr/>
    </dgm:pt>
    <dgm:pt modelId="{8A8B83B6-747B-44D1-ABCF-D463E90E875B}" type="pres">
      <dgm:prSet presAssocID="{1AD8D7C2-8E36-4D35-9FCA-C546F03AF56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5047960-B379-4009-BA75-EE415F0E76CD}" type="pres">
      <dgm:prSet presAssocID="{1AD8D7C2-8E36-4D35-9FCA-C546F03AF56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06B6414-56DA-4B55-AC37-58431FDEB744}" srcId="{FCDFCCFE-0247-407C-B5E0-7259FD185F9B}" destId="{C158EC9F-1EF1-45ED-8D2E-C68157B98617}" srcOrd="1" destOrd="0" parTransId="{383ECC0F-8954-4238-941A-D3CB9DE42037}" sibTransId="{E058BC04-5039-447A-81A3-9B0E63C96FE5}"/>
    <dgm:cxn modelId="{9E296C1B-9796-4DE6-ACB8-A47814EE96DE}" type="presOf" srcId="{C158EC9F-1EF1-45ED-8D2E-C68157B98617}" destId="{006B802E-A3EA-4A4F-9195-E7D2EE2763C5}" srcOrd="0" destOrd="1" presId="urn:microsoft.com/office/officeart/2005/8/layout/vList2"/>
    <dgm:cxn modelId="{285C0E1F-BD7E-4D7C-8ABA-F4240EE98D07}" srcId="{633E9ABE-6FFF-4735-978D-D486DF6839D5}" destId="{FCDFCCFE-0247-407C-B5E0-7259FD185F9B}" srcOrd="0" destOrd="0" parTransId="{6046FD7B-12B8-4347-AC6F-F8496D3E2EEA}" sibTransId="{79E48BE3-9864-47F8-A14F-5DFC9679A957}"/>
    <dgm:cxn modelId="{28282B26-499D-4EE8-B31D-26995332C292}" srcId="{633E9ABE-6FFF-4735-978D-D486DF6839D5}" destId="{1AD8D7C2-8E36-4D35-9FCA-C546F03AF560}" srcOrd="1" destOrd="0" parTransId="{2FCD843C-7737-4DD7-B129-A28B5C5F77DB}" sibTransId="{F8E4276F-C46D-4DB7-B0C2-2C12554F09FF}"/>
    <dgm:cxn modelId="{D3340040-D596-4009-85B3-97AB0C3886C5}" type="presOf" srcId="{1AD8D7C2-8E36-4D35-9FCA-C546F03AF560}" destId="{8A8B83B6-747B-44D1-ABCF-D463E90E875B}" srcOrd="0" destOrd="0" presId="urn:microsoft.com/office/officeart/2005/8/layout/vList2"/>
    <dgm:cxn modelId="{3F46176C-001B-4F04-9C5E-B1B3E10C68C9}" srcId="{1AD8D7C2-8E36-4D35-9FCA-C546F03AF560}" destId="{43160B92-2254-4D13-B99A-7D32E2BAB857}" srcOrd="0" destOrd="0" parTransId="{12C73E5B-68B6-4356-8118-010F081FB827}" sibTransId="{D07F5C41-D153-4F4D-9696-90A54FAFD862}"/>
    <dgm:cxn modelId="{E304B975-C859-4E6C-9E3E-1B9107D4FE9D}" type="presOf" srcId="{43160B92-2254-4D13-B99A-7D32E2BAB857}" destId="{65047960-B379-4009-BA75-EE415F0E76CD}" srcOrd="0" destOrd="0" presId="urn:microsoft.com/office/officeart/2005/8/layout/vList2"/>
    <dgm:cxn modelId="{C790ED76-3288-44F6-9D42-075373A6CF5D}" type="presOf" srcId="{51B5D6DC-85EF-4847-BF16-BAF4E2BDD2F2}" destId="{006B802E-A3EA-4A4F-9195-E7D2EE2763C5}" srcOrd="0" destOrd="0" presId="urn:microsoft.com/office/officeart/2005/8/layout/vList2"/>
    <dgm:cxn modelId="{F286C678-45E0-4A34-BBC1-2605AEBE3968}" type="presOf" srcId="{633E9ABE-6FFF-4735-978D-D486DF6839D5}" destId="{4775645E-8B54-44EF-9BED-61581742F0FD}" srcOrd="0" destOrd="0" presId="urn:microsoft.com/office/officeart/2005/8/layout/vList2"/>
    <dgm:cxn modelId="{E28F7479-E83D-4391-96E8-9BF3512BF06A}" srcId="{C158EC9F-1EF1-45ED-8D2E-C68157B98617}" destId="{47F99B53-DA00-4974-A497-F7DD92E87E58}" srcOrd="1" destOrd="0" parTransId="{461746A3-66D7-4956-80EA-B47F19D4227B}" sibTransId="{32C548EA-4C13-41B9-B9A0-AE6B79878209}"/>
    <dgm:cxn modelId="{7F23CA79-E1CD-4595-B539-DEBF0B984FDF}" type="presOf" srcId="{47F99B53-DA00-4974-A497-F7DD92E87E58}" destId="{006B802E-A3EA-4A4F-9195-E7D2EE2763C5}" srcOrd="0" destOrd="3" presId="urn:microsoft.com/office/officeart/2005/8/layout/vList2"/>
    <dgm:cxn modelId="{D478FB7D-CC65-417D-AB47-E90463C5F8F5}" srcId="{C158EC9F-1EF1-45ED-8D2E-C68157B98617}" destId="{E5FF79B2-2E37-4FBE-859A-B90FACF6D0D9}" srcOrd="0" destOrd="0" parTransId="{6FA0DD2D-0053-4C1E-8DA6-E666F0361BD6}" sibTransId="{E6730B54-8415-4831-8205-10FFF5A470F0}"/>
    <dgm:cxn modelId="{6C953B8B-DC3E-4BD1-9717-0F241EC99078}" srcId="{FCDFCCFE-0247-407C-B5E0-7259FD185F9B}" destId="{51B5D6DC-85EF-4847-BF16-BAF4E2BDD2F2}" srcOrd="0" destOrd="0" parTransId="{A85CF60D-2008-4D5F-8C13-340A3AEF1DE5}" sibTransId="{118E8BAE-0E8A-4A74-8EDE-D4792B1D6EE1}"/>
    <dgm:cxn modelId="{D1D5658D-E038-417E-9CDD-5CF2BFBB1544}" type="presOf" srcId="{FCDFCCFE-0247-407C-B5E0-7259FD185F9B}" destId="{A890FB97-1EA3-49A7-A3B6-E197C3C35A06}" srcOrd="0" destOrd="0" presId="urn:microsoft.com/office/officeart/2005/8/layout/vList2"/>
    <dgm:cxn modelId="{0D5D18A5-530F-404C-B915-FC079AE15B21}" type="presOf" srcId="{66472DFB-78EF-4044-A1B0-5D1FE5E250F7}" destId="{65047960-B379-4009-BA75-EE415F0E76CD}" srcOrd="0" destOrd="1" presId="urn:microsoft.com/office/officeart/2005/8/layout/vList2"/>
    <dgm:cxn modelId="{9231ACA9-054D-44C7-BBDF-8749F92CF4E9}" type="presOf" srcId="{E5FF79B2-2E37-4FBE-859A-B90FACF6D0D9}" destId="{006B802E-A3EA-4A4F-9195-E7D2EE2763C5}" srcOrd="0" destOrd="2" presId="urn:microsoft.com/office/officeart/2005/8/layout/vList2"/>
    <dgm:cxn modelId="{38C930BC-AE9F-4FE3-A134-D73005FFE422}" srcId="{1AD8D7C2-8E36-4D35-9FCA-C546F03AF560}" destId="{66472DFB-78EF-4044-A1B0-5D1FE5E250F7}" srcOrd="1" destOrd="0" parTransId="{D18A92FB-6DF2-48CF-84C5-D5578F32F51D}" sibTransId="{C0AEB943-C374-43AE-A1C2-7201E50FA772}"/>
    <dgm:cxn modelId="{3906B8CF-86DF-41CD-A18F-EBDB5DBEEBAA}" type="presParOf" srcId="{4775645E-8B54-44EF-9BED-61581742F0FD}" destId="{A890FB97-1EA3-49A7-A3B6-E197C3C35A06}" srcOrd="0" destOrd="0" presId="urn:microsoft.com/office/officeart/2005/8/layout/vList2"/>
    <dgm:cxn modelId="{BF568E14-E1B4-432A-ABDC-4C323A0B5580}" type="presParOf" srcId="{4775645E-8B54-44EF-9BED-61581742F0FD}" destId="{006B802E-A3EA-4A4F-9195-E7D2EE2763C5}" srcOrd="1" destOrd="0" presId="urn:microsoft.com/office/officeart/2005/8/layout/vList2"/>
    <dgm:cxn modelId="{EB3BF6EC-DE92-474E-B457-4B7E27709524}" type="presParOf" srcId="{4775645E-8B54-44EF-9BED-61581742F0FD}" destId="{8A8B83B6-747B-44D1-ABCF-D463E90E875B}" srcOrd="2" destOrd="0" presId="urn:microsoft.com/office/officeart/2005/8/layout/vList2"/>
    <dgm:cxn modelId="{07918387-A294-4EF2-9008-04AFE6A5BC50}" type="presParOf" srcId="{4775645E-8B54-44EF-9BED-61581742F0FD}" destId="{65047960-B379-4009-BA75-EE415F0E76C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022D49-CB68-4393-9333-3433F662B60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0CA24BA-BCD5-4F46-BDD6-B39259B74E72}">
      <dgm:prSet/>
      <dgm:spPr/>
      <dgm:t>
        <a:bodyPr/>
        <a:lstStyle/>
        <a:p>
          <a:pPr>
            <a:defRPr cap="all"/>
          </a:pPr>
          <a:r>
            <a:rPr lang="cs-CZ"/>
            <a:t>Sítě – nejlevnější připojení routerů</a:t>
          </a:r>
          <a:endParaRPr lang="en-US"/>
        </a:p>
      </dgm:t>
    </dgm:pt>
    <dgm:pt modelId="{3181FB45-FC6A-4DB6-83C0-CA6E932E766D}" type="parTrans" cxnId="{6E1D69DE-0C63-4A22-A291-F255993E426B}">
      <dgm:prSet/>
      <dgm:spPr/>
      <dgm:t>
        <a:bodyPr/>
        <a:lstStyle/>
        <a:p>
          <a:endParaRPr lang="en-US"/>
        </a:p>
      </dgm:t>
    </dgm:pt>
    <dgm:pt modelId="{1F7C81A8-5DA5-4CB5-A5EB-CAD7BC3DCA28}" type="sibTrans" cxnId="{6E1D69DE-0C63-4A22-A291-F255993E426B}">
      <dgm:prSet/>
      <dgm:spPr/>
      <dgm:t>
        <a:bodyPr/>
        <a:lstStyle/>
        <a:p>
          <a:endParaRPr lang="en-US"/>
        </a:p>
      </dgm:t>
    </dgm:pt>
    <dgm:pt modelId="{F4BEF119-6A86-4EBB-9B04-8E44355B6AF0}">
      <dgm:prSet/>
      <dgm:spPr/>
      <dgm:t>
        <a:bodyPr/>
        <a:lstStyle/>
        <a:p>
          <a:pPr>
            <a:defRPr cap="all"/>
          </a:pPr>
          <a:r>
            <a:rPr lang="cs-CZ"/>
            <a:t>Logistika – optimalizace dopravní sítě</a:t>
          </a:r>
          <a:endParaRPr lang="en-US"/>
        </a:p>
      </dgm:t>
    </dgm:pt>
    <dgm:pt modelId="{C1F156AD-B20B-4417-BE79-47227991D1EF}" type="parTrans" cxnId="{533D1671-8335-46AC-88D8-7A8EF3C92BC2}">
      <dgm:prSet/>
      <dgm:spPr/>
      <dgm:t>
        <a:bodyPr/>
        <a:lstStyle/>
        <a:p>
          <a:endParaRPr lang="en-US"/>
        </a:p>
      </dgm:t>
    </dgm:pt>
    <dgm:pt modelId="{74A88E5C-F7D1-445D-8E90-404FEEF21857}" type="sibTrans" cxnId="{533D1671-8335-46AC-88D8-7A8EF3C92BC2}">
      <dgm:prSet/>
      <dgm:spPr/>
      <dgm:t>
        <a:bodyPr/>
        <a:lstStyle/>
        <a:p>
          <a:endParaRPr lang="en-US"/>
        </a:p>
      </dgm:t>
    </dgm:pt>
    <dgm:pt modelId="{C23A4E07-2D51-4652-B62A-050926D83B64}">
      <dgm:prSet/>
      <dgm:spPr/>
      <dgm:t>
        <a:bodyPr/>
        <a:lstStyle/>
        <a:p>
          <a:pPr>
            <a:defRPr cap="all"/>
          </a:pPr>
          <a:r>
            <a:rPr lang="cs-CZ"/>
            <a:t>Machine Learning – shlukování dat</a:t>
          </a:r>
          <a:endParaRPr lang="en-US"/>
        </a:p>
      </dgm:t>
    </dgm:pt>
    <dgm:pt modelId="{B164C767-9C96-4FEB-9888-19C5CF047843}" type="parTrans" cxnId="{6EDBAB73-36D2-4587-94C2-479C6CB213FB}">
      <dgm:prSet/>
      <dgm:spPr/>
      <dgm:t>
        <a:bodyPr/>
        <a:lstStyle/>
        <a:p>
          <a:endParaRPr lang="en-US"/>
        </a:p>
      </dgm:t>
    </dgm:pt>
    <dgm:pt modelId="{632C3CF5-BB9D-4626-B0DB-3EF6E439A13D}" type="sibTrans" cxnId="{6EDBAB73-36D2-4587-94C2-479C6CB213FB}">
      <dgm:prSet/>
      <dgm:spPr/>
      <dgm:t>
        <a:bodyPr/>
        <a:lstStyle/>
        <a:p>
          <a:endParaRPr lang="en-US"/>
        </a:p>
      </dgm:t>
    </dgm:pt>
    <dgm:pt modelId="{1A23B1CB-5CFA-4D04-97BD-C41FFA153953}" type="pres">
      <dgm:prSet presAssocID="{23022D49-CB68-4393-9333-3433F662B603}" presName="root" presStyleCnt="0">
        <dgm:presLayoutVars>
          <dgm:dir/>
          <dgm:resizeHandles val="exact"/>
        </dgm:presLayoutVars>
      </dgm:prSet>
      <dgm:spPr/>
    </dgm:pt>
    <dgm:pt modelId="{F4FF4C75-90E8-43CF-A124-12527CEE792F}" type="pres">
      <dgm:prSet presAssocID="{30CA24BA-BCD5-4F46-BDD6-B39259B74E72}" presName="compNode" presStyleCnt="0"/>
      <dgm:spPr/>
    </dgm:pt>
    <dgm:pt modelId="{FCE6B6CB-4986-41BD-B97E-DC0B50BCB042}" type="pres">
      <dgm:prSet presAssocID="{30CA24BA-BCD5-4F46-BDD6-B39259B74E7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BC6D2F2-9698-4B21-97D4-A6115BE15279}" type="pres">
      <dgm:prSet presAssocID="{30CA24BA-BCD5-4F46-BDD6-B39259B74E7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zdrátové"/>
        </a:ext>
      </dgm:extLst>
    </dgm:pt>
    <dgm:pt modelId="{EC489C87-C355-4D96-83C3-E9F9143CDF58}" type="pres">
      <dgm:prSet presAssocID="{30CA24BA-BCD5-4F46-BDD6-B39259B74E72}" presName="spaceRect" presStyleCnt="0"/>
      <dgm:spPr/>
    </dgm:pt>
    <dgm:pt modelId="{39BDE68F-562D-4FBC-AD1F-5336DF6B89AC}" type="pres">
      <dgm:prSet presAssocID="{30CA24BA-BCD5-4F46-BDD6-B39259B74E72}" presName="textRect" presStyleLbl="revTx" presStyleIdx="0" presStyleCnt="3">
        <dgm:presLayoutVars>
          <dgm:chMax val="1"/>
          <dgm:chPref val="1"/>
        </dgm:presLayoutVars>
      </dgm:prSet>
      <dgm:spPr/>
    </dgm:pt>
    <dgm:pt modelId="{7623F8E8-B2AE-4CB0-A45C-C377AA8A2498}" type="pres">
      <dgm:prSet presAssocID="{1F7C81A8-5DA5-4CB5-A5EB-CAD7BC3DCA28}" presName="sibTrans" presStyleCnt="0"/>
      <dgm:spPr/>
    </dgm:pt>
    <dgm:pt modelId="{582B2F0E-6EB9-466B-BD71-E632F3A695CC}" type="pres">
      <dgm:prSet presAssocID="{F4BEF119-6A86-4EBB-9B04-8E44355B6AF0}" presName="compNode" presStyleCnt="0"/>
      <dgm:spPr/>
    </dgm:pt>
    <dgm:pt modelId="{0DDEFAB0-7D07-4959-BDF8-E6CA567BF50A}" type="pres">
      <dgm:prSet presAssocID="{F4BEF119-6A86-4EBB-9B04-8E44355B6AF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B440E5C-5B89-4532-920B-F3308E2026E3}" type="pres">
      <dgm:prSet presAssocID="{F4BEF119-6A86-4EBB-9B04-8E44355B6AF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íť"/>
        </a:ext>
      </dgm:extLst>
    </dgm:pt>
    <dgm:pt modelId="{AD3FEE4D-2D8D-4E81-9A6A-8B514B16BB31}" type="pres">
      <dgm:prSet presAssocID="{F4BEF119-6A86-4EBB-9B04-8E44355B6AF0}" presName="spaceRect" presStyleCnt="0"/>
      <dgm:spPr/>
    </dgm:pt>
    <dgm:pt modelId="{B4658BCB-0D73-42CE-B705-8FD8E782F8D1}" type="pres">
      <dgm:prSet presAssocID="{F4BEF119-6A86-4EBB-9B04-8E44355B6AF0}" presName="textRect" presStyleLbl="revTx" presStyleIdx="1" presStyleCnt="3">
        <dgm:presLayoutVars>
          <dgm:chMax val="1"/>
          <dgm:chPref val="1"/>
        </dgm:presLayoutVars>
      </dgm:prSet>
      <dgm:spPr/>
    </dgm:pt>
    <dgm:pt modelId="{966B3981-1BA4-4BFE-9056-BBF1CA651583}" type="pres">
      <dgm:prSet presAssocID="{74A88E5C-F7D1-445D-8E90-404FEEF21857}" presName="sibTrans" presStyleCnt="0"/>
      <dgm:spPr/>
    </dgm:pt>
    <dgm:pt modelId="{B5B3CC57-CBE3-4338-8C33-84FA997B3E05}" type="pres">
      <dgm:prSet presAssocID="{C23A4E07-2D51-4652-B62A-050926D83B64}" presName="compNode" presStyleCnt="0"/>
      <dgm:spPr/>
    </dgm:pt>
    <dgm:pt modelId="{34DE3F31-AD60-4193-B75E-40C2EB958B8F}" type="pres">
      <dgm:prSet presAssocID="{C23A4E07-2D51-4652-B62A-050926D83B6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6C98758-E234-49FC-B278-27D9315390E4}" type="pres">
      <dgm:prSet presAssocID="{C23A4E07-2D51-4652-B62A-050926D83B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5609093-B41B-477A-B9C2-CA99758D2737}" type="pres">
      <dgm:prSet presAssocID="{C23A4E07-2D51-4652-B62A-050926D83B64}" presName="spaceRect" presStyleCnt="0"/>
      <dgm:spPr/>
    </dgm:pt>
    <dgm:pt modelId="{17AA203D-25FA-4380-9017-B9B8D1C9C631}" type="pres">
      <dgm:prSet presAssocID="{C23A4E07-2D51-4652-B62A-050926D83B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06E6B00-4F45-470E-A91B-368321ED4303}" type="presOf" srcId="{30CA24BA-BCD5-4F46-BDD6-B39259B74E72}" destId="{39BDE68F-562D-4FBC-AD1F-5336DF6B89AC}" srcOrd="0" destOrd="0" presId="urn:microsoft.com/office/officeart/2018/5/layout/IconLeafLabelList"/>
    <dgm:cxn modelId="{BEDC4804-5E3A-415D-A6AE-839C68D86BCA}" type="presOf" srcId="{C23A4E07-2D51-4652-B62A-050926D83B64}" destId="{17AA203D-25FA-4380-9017-B9B8D1C9C631}" srcOrd="0" destOrd="0" presId="urn:microsoft.com/office/officeart/2018/5/layout/IconLeafLabelList"/>
    <dgm:cxn modelId="{533D1671-8335-46AC-88D8-7A8EF3C92BC2}" srcId="{23022D49-CB68-4393-9333-3433F662B603}" destId="{F4BEF119-6A86-4EBB-9B04-8E44355B6AF0}" srcOrd="1" destOrd="0" parTransId="{C1F156AD-B20B-4417-BE79-47227991D1EF}" sibTransId="{74A88E5C-F7D1-445D-8E90-404FEEF21857}"/>
    <dgm:cxn modelId="{6EDBAB73-36D2-4587-94C2-479C6CB213FB}" srcId="{23022D49-CB68-4393-9333-3433F662B603}" destId="{C23A4E07-2D51-4652-B62A-050926D83B64}" srcOrd="2" destOrd="0" parTransId="{B164C767-9C96-4FEB-9888-19C5CF047843}" sibTransId="{632C3CF5-BB9D-4626-B0DB-3EF6E439A13D}"/>
    <dgm:cxn modelId="{610144D9-BAD8-4813-9F66-702BC0905FDB}" type="presOf" srcId="{23022D49-CB68-4393-9333-3433F662B603}" destId="{1A23B1CB-5CFA-4D04-97BD-C41FFA153953}" srcOrd="0" destOrd="0" presId="urn:microsoft.com/office/officeart/2018/5/layout/IconLeafLabelList"/>
    <dgm:cxn modelId="{6E1D69DE-0C63-4A22-A291-F255993E426B}" srcId="{23022D49-CB68-4393-9333-3433F662B603}" destId="{30CA24BA-BCD5-4F46-BDD6-B39259B74E72}" srcOrd="0" destOrd="0" parTransId="{3181FB45-FC6A-4DB6-83C0-CA6E932E766D}" sibTransId="{1F7C81A8-5DA5-4CB5-A5EB-CAD7BC3DCA28}"/>
    <dgm:cxn modelId="{BE146EE6-C135-4A78-B3C0-70A8F6944097}" type="presOf" srcId="{F4BEF119-6A86-4EBB-9B04-8E44355B6AF0}" destId="{B4658BCB-0D73-42CE-B705-8FD8E782F8D1}" srcOrd="0" destOrd="0" presId="urn:microsoft.com/office/officeart/2018/5/layout/IconLeafLabelList"/>
    <dgm:cxn modelId="{7D940DED-F082-417F-A2DC-4CD7B01F246A}" type="presParOf" srcId="{1A23B1CB-5CFA-4D04-97BD-C41FFA153953}" destId="{F4FF4C75-90E8-43CF-A124-12527CEE792F}" srcOrd="0" destOrd="0" presId="urn:microsoft.com/office/officeart/2018/5/layout/IconLeafLabelList"/>
    <dgm:cxn modelId="{475DDA13-C425-4DFA-BABC-FD801BC0E886}" type="presParOf" srcId="{F4FF4C75-90E8-43CF-A124-12527CEE792F}" destId="{FCE6B6CB-4986-41BD-B97E-DC0B50BCB042}" srcOrd="0" destOrd="0" presId="urn:microsoft.com/office/officeart/2018/5/layout/IconLeafLabelList"/>
    <dgm:cxn modelId="{9530744C-CCA3-467F-8E24-BCF45A858E0E}" type="presParOf" srcId="{F4FF4C75-90E8-43CF-A124-12527CEE792F}" destId="{8BC6D2F2-9698-4B21-97D4-A6115BE15279}" srcOrd="1" destOrd="0" presId="urn:microsoft.com/office/officeart/2018/5/layout/IconLeafLabelList"/>
    <dgm:cxn modelId="{C1F34AFA-576A-4ED6-A85F-5D86FA3EB3BE}" type="presParOf" srcId="{F4FF4C75-90E8-43CF-A124-12527CEE792F}" destId="{EC489C87-C355-4D96-83C3-E9F9143CDF58}" srcOrd="2" destOrd="0" presId="urn:microsoft.com/office/officeart/2018/5/layout/IconLeafLabelList"/>
    <dgm:cxn modelId="{FC1960C2-DD01-455C-8D7C-645EC271C124}" type="presParOf" srcId="{F4FF4C75-90E8-43CF-A124-12527CEE792F}" destId="{39BDE68F-562D-4FBC-AD1F-5336DF6B89AC}" srcOrd="3" destOrd="0" presId="urn:microsoft.com/office/officeart/2018/5/layout/IconLeafLabelList"/>
    <dgm:cxn modelId="{18E1DF63-A51D-42FF-8B30-7E44D2AB6B52}" type="presParOf" srcId="{1A23B1CB-5CFA-4D04-97BD-C41FFA153953}" destId="{7623F8E8-B2AE-4CB0-A45C-C377AA8A2498}" srcOrd="1" destOrd="0" presId="urn:microsoft.com/office/officeart/2018/5/layout/IconLeafLabelList"/>
    <dgm:cxn modelId="{046E0486-DE39-4C58-BCF5-5468C1A66F1E}" type="presParOf" srcId="{1A23B1CB-5CFA-4D04-97BD-C41FFA153953}" destId="{582B2F0E-6EB9-466B-BD71-E632F3A695CC}" srcOrd="2" destOrd="0" presId="urn:microsoft.com/office/officeart/2018/5/layout/IconLeafLabelList"/>
    <dgm:cxn modelId="{8D80B947-6791-4BD7-A4DB-ABD3F97CBAE6}" type="presParOf" srcId="{582B2F0E-6EB9-466B-BD71-E632F3A695CC}" destId="{0DDEFAB0-7D07-4959-BDF8-E6CA567BF50A}" srcOrd="0" destOrd="0" presId="urn:microsoft.com/office/officeart/2018/5/layout/IconLeafLabelList"/>
    <dgm:cxn modelId="{1BA6571B-E004-48CA-9C32-8AFDAB0EEF72}" type="presParOf" srcId="{582B2F0E-6EB9-466B-BD71-E632F3A695CC}" destId="{4B440E5C-5B89-4532-920B-F3308E2026E3}" srcOrd="1" destOrd="0" presId="urn:microsoft.com/office/officeart/2018/5/layout/IconLeafLabelList"/>
    <dgm:cxn modelId="{369259B1-64C8-41B1-999D-6A174250B9E8}" type="presParOf" srcId="{582B2F0E-6EB9-466B-BD71-E632F3A695CC}" destId="{AD3FEE4D-2D8D-4E81-9A6A-8B514B16BB31}" srcOrd="2" destOrd="0" presId="urn:microsoft.com/office/officeart/2018/5/layout/IconLeafLabelList"/>
    <dgm:cxn modelId="{C1E7B85B-D96E-4CB1-AE5F-C8F017AFBA87}" type="presParOf" srcId="{582B2F0E-6EB9-466B-BD71-E632F3A695CC}" destId="{B4658BCB-0D73-42CE-B705-8FD8E782F8D1}" srcOrd="3" destOrd="0" presId="urn:microsoft.com/office/officeart/2018/5/layout/IconLeafLabelList"/>
    <dgm:cxn modelId="{D561A1F8-1F1F-46AD-92B5-4CF956241F9C}" type="presParOf" srcId="{1A23B1CB-5CFA-4D04-97BD-C41FFA153953}" destId="{966B3981-1BA4-4BFE-9056-BBF1CA651583}" srcOrd="3" destOrd="0" presId="urn:microsoft.com/office/officeart/2018/5/layout/IconLeafLabelList"/>
    <dgm:cxn modelId="{FDEAB746-1CB6-43D3-AA9E-1546837099B5}" type="presParOf" srcId="{1A23B1CB-5CFA-4D04-97BD-C41FFA153953}" destId="{B5B3CC57-CBE3-4338-8C33-84FA997B3E05}" srcOrd="4" destOrd="0" presId="urn:microsoft.com/office/officeart/2018/5/layout/IconLeafLabelList"/>
    <dgm:cxn modelId="{886ECA1E-B012-4349-80BD-32D36AAEF701}" type="presParOf" srcId="{B5B3CC57-CBE3-4338-8C33-84FA997B3E05}" destId="{34DE3F31-AD60-4193-B75E-40C2EB958B8F}" srcOrd="0" destOrd="0" presId="urn:microsoft.com/office/officeart/2018/5/layout/IconLeafLabelList"/>
    <dgm:cxn modelId="{02D71B6B-250B-48D2-B0BC-1C45C3D821B6}" type="presParOf" srcId="{B5B3CC57-CBE3-4338-8C33-84FA997B3E05}" destId="{66C98758-E234-49FC-B278-27D9315390E4}" srcOrd="1" destOrd="0" presId="urn:microsoft.com/office/officeart/2018/5/layout/IconLeafLabelList"/>
    <dgm:cxn modelId="{AE2CB967-F0A3-42A2-8C13-32002155E6C5}" type="presParOf" srcId="{B5B3CC57-CBE3-4338-8C33-84FA997B3E05}" destId="{A5609093-B41B-477A-B9C2-CA99758D2737}" srcOrd="2" destOrd="0" presId="urn:microsoft.com/office/officeart/2018/5/layout/IconLeafLabelList"/>
    <dgm:cxn modelId="{8432F494-D05C-4E8B-AD82-B0D16AB4ED78}" type="presParOf" srcId="{B5B3CC57-CBE3-4338-8C33-84FA997B3E05}" destId="{17AA203D-25FA-4380-9017-B9B8D1C9C63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0FB97-1EA3-49A7-A3B6-E197C3C35A06}">
      <dsp:nvSpPr>
        <dsp:cNvPr id="0" name=""/>
        <dsp:cNvSpPr/>
      </dsp:nvSpPr>
      <dsp:spPr>
        <a:xfrm>
          <a:off x="0" y="0"/>
          <a:ext cx="6666833" cy="8353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400" kern="1200" dirty="0"/>
            <a:t>Kostra grafu</a:t>
          </a:r>
          <a:endParaRPr lang="en-US" sz="3400" kern="1200" dirty="0"/>
        </a:p>
      </dsp:txBody>
      <dsp:txXfrm>
        <a:off x="40780" y="40780"/>
        <a:ext cx="6585273" cy="753820"/>
      </dsp:txXfrm>
    </dsp:sp>
    <dsp:sp modelId="{006B802E-A3EA-4A4F-9195-E7D2EE2763C5}">
      <dsp:nvSpPr>
        <dsp:cNvPr id="0" name=""/>
        <dsp:cNvSpPr/>
      </dsp:nvSpPr>
      <dsp:spPr>
        <a:xfrm>
          <a:off x="0" y="842172"/>
          <a:ext cx="6666833" cy="3026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/>
            <a:t>Pouze pro souvislé, neorientované grafy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/>
            <a:t>Podgraf obsahující všechny vrcholy původního grafu, který je stromem</a:t>
          </a:r>
          <a:endParaRPr lang="en-US" sz="2700" kern="1200"/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/>
            <a:t>Strom má pouze jednu kostru – sám sebe</a:t>
          </a:r>
          <a:endParaRPr lang="en-US" sz="2700" kern="1200"/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/>
            <a:t>Kružnice o </a:t>
          </a:r>
          <a:r>
            <a:rPr lang="cs-CZ" sz="2700" i="1" kern="1200"/>
            <a:t>N</a:t>
          </a:r>
          <a:r>
            <a:rPr lang="cs-CZ" sz="2700" kern="1200"/>
            <a:t> vrcholech má právě </a:t>
          </a:r>
          <a:r>
            <a:rPr lang="cs-CZ" sz="2700" i="1" kern="1200"/>
            <a:t>N</a:t>
          </a:r>
          <a:r>
            <a:rPr lang="cs-CZ" sz="2700" kern="1200"/>
            <a:t> koster</a:t>
          </a:r>
          <a:endParaRPr lang="en-US" sz="2700" kern="1200"/>
        </a:p>
      </dsp:txBody>
      <dsp:txXfrm>
        <a:off x="0" y="842172"/>
        <a:ext cx="6666833" cy="3026340"/>
      </dsp:txXfrm>
    </dsp:sp>
    <dsp:sp modelId="{8A8B83B6-747B-44D1-ABCF-D463E90E875B}">
      <dsp:nvSpPr>
        <dsp:cNvPr id="0" name=""/>
        <dsp:cNvSpPr/>
      </dsp:nvSpPr>
      <dsp:spPr>
        <a:xfrm>
          <a:off x="0" y="3868512"/>
          <a:ext cx="6666833" cy="8353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400" kern="1200" dirty="0"/>
            <a:t>Minimální kostra grafu</a:t>
          </a:r>
          <a:endParaRPr lang="en-US" sz="3400" kern="1200" dirty="0"/>
        </a:p>
      </dsp:txBody>
      <dsp:txXfrm>
        <a:off x="40780" y="3909292"/>
        <a:ext cx="6585273" cy="753820"/>
      </dsp:txXfrm>
    </dsp:sp>
    <dsp:sp modelId="{65047960-B379-4009-BA75-EE415F0E76CD}">
      <dsp:nvSpPr>
        <dsp:cNvPr id="0" name=""/>
        <dsp:cNvSpPr/>
      </dsp:nvSpPr>
      <dsp:spPr>
        <a:xfrm>
          <a:off x="0" y="4703893"/>
          <a:ext cx="6666833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 dirty="0"/>
            <a:t>Pouze pro grafy s ohodnocenými hranami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700" kern="1200" dirty="0"/>
            <a:t>Kostra, kde součet hodnot hran je </a:t>
          </a:r>
          <a:r>
            <a:rPr lang="cs-CZ" sz="2700" i="1" kern="1200" dirty="0"/>
            <a:t>minimální</a:t>
          </a:r>
          <a:endParaRPr lang="en-US" sz="2700" kern="1200" dirty="0"/>
        </a:p>
      </dsp:txBody>
      <dsp:txXfrm>
        <a:off x="0" y="4703893"/>
        <a:ext cx="6666833" cy="1689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6B6CB-4986-41BD-B97E-DC0B50BCB042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6D2F2-9698-4B21-97D4-A6115BE15279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DE68F-562D-4FBC-AD1F-5336DF6B89AC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100" kern="1200"/>
            <a:t>Sítě – nejlevnější připojení routerů</a:t>
          </a:r>
          <a:endParaRPr lang="en-US" sz="2100" kern="1200"/>
        </a:p>
      </dsp:txBody>
      <dsp:txXfrm>
        <a:off x="93445" y="3018902"/>
        <a:ext cx="3206250" cy="720000"/>
      </dsp:txXfrm>
    </dsp:sp>
    <dsp:sp modelId="{0DDEFAB0-7D07-4959-BDF8-E6CA567BF50A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40E5C-5B89-4532-920B-F3308E2026E3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58BCB-0D73-42CE-B705-8FD8E782F8D1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100" kern="1200"/>
            <a:t>Logistika – optimalizace dopravní sítě</a:t>
          </a:r>
          <a:endParaRPr lang="en-US" sz="2100" kern="1200"/>
        </a:p>
      </dsp:txBody>
      <dsp:txXfrm>
        <a:off x="3860789" y="3018902"/>
        <a:ext cx="3206250" cy="720000"/>
      </dsp:txXfrm>
    </dsp:sp>
    <dsp:sp modelId="{34DE3F31-AD60-4193-B75E-40C2EB958B8F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98758-E234-49FC-B278-27D9315390E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A203D-25FA-4380-9017-B9B8D1C9C631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100" kern="1200"/>
            <a:t>Machine Learning – shlukování dat</a:t>
          </a:r>
          <a:endParaRPr lang="en-US" sz="2100" kern="120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055853-E928-0F54-C1A0-6965D2D27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2D5D35C-4636-044D-8BF4-54123994F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875634-532F-223D-BA0B-7BD8F05E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5190942-DC20-E405-1510-A72CB48C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D3E233-B70A-4110-7866-10752552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2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0EF751-F053-7D2B-2C69-82D6EED7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2BC620-2C76-2AE4-760A-5D709662B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469544-A235-5AE0-8BE8-58252440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F4583B9-9326-3A74-C33A-FA134AF2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33981A-90EE-4D89-371E-4BB8C1CD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8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9D3624-44D2-4665-56A2-D9CD3D80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90A2518-736D-FCAF-B2C0-A000BF356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385172-3911-868A-FBFA-DF9A31C3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E8F54E2-6EBE-27DC-5C92-3718E630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E9F3A7-DC10-5A8D-D9D7-C51AAA58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1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478057-A112-A9D9-3E94-70B9181D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AF6367-B823-DD75-7C56-EB561AA6D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6B5486B-F624-75C2-1C4C-0EDC8934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51AD61-388E-1B0B-DD06-968488E3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667C92-C092-4580-4BE0-0167B5AA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478A7E-8D28-11FC-74E1-3DE780C3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2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3D7E57-60B8-FE67-3882-8A72AE2B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756C589-0D12-F5E9-9A12-6839D38C5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C2C6CDE-A5C1-8CEE-12C8-3A28E65C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E7B73D3-72FB-C040-5A8D-A63CAD27D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48819C3-901F-2210-17C3-44739E55C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BB917E8-B677-C308-0102-C699CA3F7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3C601A7-F156-E5FA-16EF-83864989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C5423D5-7A35-A9F5-80F0-9726BD90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4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FCEEC0-F864-A4EB-17D1-7E792E42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F914D79-E65E-FD1D-D9C7-08B5397D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472EB0A-2E88-0FB4-32CE-23C32AB8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DA4A955-3353-2AC4-1DA7-65DAD25C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4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8132365-D42D-3607-2C55-11775BE3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52CCAEC-3B05-B68C-EB6E-40F71859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9EA3A3C-6519-F3C9-F649-C6332BC5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4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A98BB1-62CE-7E22-63D8-440F9A88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3E0BDE-0623-AE85-B821-3651BD04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154B993-CB5B-FBF4-6219-8801A976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E4AA144-88E5-6E61-FD93-EEEFAAB0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6077857-FDFB-6DE4-4B77-3CC5EB9D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5E02E67-9D9E-A6FD-8DEA-EEA4EAB2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1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450F3-8020-C641-7A41-2B0BF4E2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57D089C-7228-681D-DBFC-19074316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87D3C83-A524-E614-1B1F-2F6142278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96B456-CB71-3B3F-FE33-1079FF34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4855B7B-ADAE-68AE-ECCC-4A8E5D94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2B8E91-54AC-3718-8480-AFB4D8E6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6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56CA87-A7F8-A5B0-87DE-85166637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4FC20B1-7AC5-17FA-3BF4-DC3BFF6DC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80AEFD2-80C7-62F0-F2DF-F2698F96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149246-B61C-C4C6-C547-D731542C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419624F-A0D9-B2C0-837B-88DA97E5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5DA4FFB-5E63-8E0F-ABC9-4E35F96D4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EE507C-2CD9-CAC0-B2DD-031F88874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B6E697-E16A-EB51-6762-BDA7C926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8ED0647-58C7-8DEE-939F-23F317DB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9BD6A45-3687-A9B9-2588-26C2947C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4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4377164-2C5B-9E72-62A9-E94FAB4E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178B754-C7FB-4C95-9D7E-0CA3CC73A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2414F9D-3BF0-8703-D0AB-F052E1D5E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C6128-D5DB-42D4-981E-392BEF18A1C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C98E68B-64FB-A78A-777A-73DAA97DB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244FEB7-37BD-5089-F90A-0DC3590DA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2CE4E-B78F-492E-AFA1-3AEF1BEC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8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svg"/><Relationship Id="rId3" Type="http://schemas.openxmlformats.org/officeDocument/2006/relationships/image" Target="../media/image19.sv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Relationship Id="rId1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91A630-2EED-BCB4-7630-2988DFFBC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23. Minim</a:t>
            </a:r>
            <a:r>
              <a:rPr lang="cs-CZ" dirty="0" err="1"/>
              <a:t>ální</a:t>
            </a:r>
            <a:r>
              <a:rPr lang="cs-CZ" dirty="0"/>
              <a:t> kostra grafu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6110CD2-3440-6AFB-1D83-9342B6149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Jan Bernat 8. 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5ED05D-9CDD-E5B0-EB80-FE879C01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Definice minimální kostry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B36C836-A26B-ACBA-B74C-BCEAA949A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194980"/>
              </p:ext>
            </p:extLst>
          </p:nvPr>
        </p:nvGraphicFramePr>
        <p:xfrm>
          <a:off x="4624302" y="229093"/>
          <a:ext cx="6666833" cy="6399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760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991F8-C6EA-C91B-14D5-57203FC1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cs-CZ" sz="4000" dirty="0"/>
              <a:t>Jarníkův algoritmus</a:t>
            </a:r>
            <a:endParaRPr lang="en-US" sz="40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D9240B-55EA-9D45-470B-CBA8D7F8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cs-CZ" sz="2000" dirty="0"/>
              <a:t>Hladový algoritmus</a:t>
            </a:r>
          </a:p>
          <a:p>
            <a:r>
              <a:rPr lang="cs-CZ" sz="2000" dirty="0"/>
              <a:t>Vždy nalezne optimální řešení</a:t>
            </a:r>
          </a:p>
          <a:p>
            <a:r>
              <a:rPr lang="cs-CZ" sz="2000" dirty="0"/>
              <a:t>Časová složitost</a:t>
            </a:r>
            <a:r>
              <a:rPr lang="en-US" sz="2000" dirty="0"/>
              <a:t>:</a:t>
            </a:r>
          </a:p>
          <a:p>
            <a:pPr lvl="1"/>
            <a:r>
              <a:rPr lang="cs-CZ" sz="2000" dirty="0"/>
              <a:t>pole: O</a:t>
            </a:r>
            <a:r>
              <a:rPr lang="en-US" sz="2000" dirty="0"/>
              <a:t>(nm)</a:t>
            </a:r>
          </a:p>
          <a:p>
            <a:pPr lvl="1"/>
            <a:r>
              <a:rPr lang="en-US" sz="2000" dirty="0" err="1"/>
              <a:t>halda</a:t>
            </a:r>
            <a:r>
              <a:rPr lang="en-US" sz="2000" dirty="0"/>
              <a:t>: O(m*log(n))</a:t>
            </a:r>
          </a:p>
          <a:p>
            <a:pPr lvl="1"/>
            <a:r>
              <a:rPr lang="en-US" sz="2000" dirty="0" err="1"/>
              <a:t>Fibbonacciho</a:t>
            </a:r>
            <a:r>
              <a:rPr lang="en-US" sz="2000" dirty="0"/>
              <a:t> </a:t>
            </a:r>
            <a:r>
              <a:rPr lang="en-US" sz="2000" dirty="0" err="1"/>
              <a:t>halda</a:t>
            </a:r>
            <a:r>
              <a:rPr lang="en-US" sz="2000" dirty="0"/>
              <a:t>: O(</a:t>
            </a:r>
            <a:r>
              <a:rPr lang="en-US" sz="2000" dirty="0" err="1"/>
              <a:t>m+n</a:t>
            </a:r>
            <a:r>
              <a:rPr lang="en-US" sz="2000" dirty="0"/>
              <a:t>*log(n))</a:t>
            </a:r>
          </a:p>
          <a:p>
            <a:r>
              <a:rPr lang="en-US" sz="2000" dirty="0" err="1"/>
              <a:t>Prostorov</a:t>
            </a:r>
            <a:r>
              <a:rPr lang="cs-CZ" sz="2000" dirty="0"/>
              <a:t>á složitost</a:t>
            </a:r>
            <a:r>
              <a:rPr lang="en-US" sz="2000" dirty="0"/>
              <a:t>: O(</a:t>
            </a:r>
            <a:r>
              <a:rPr lang="en-US" sz="2000" dirty="0" err="1"/>
              <a:t>n+m</a:t>
            </a:r>
            <a:r>
              <a:rPr lang="en-US" sz="2000" dirty="0"/>
              <a:t>)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BE62BCA-C847-0B77-214B-19C39E067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259330"/>
            <a:ext cx="3712869" cy="1290222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C2F2F7CB-575F-57CD-1509-EF4C4C1F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35" y="2709593"/>
            <a:ext cx="4938065" cy="3691205"/>
          </a:xfrm>
          <a:prstGeom prst="rect">
            <a:avLst/>
          </a:prstGeom>
        </p:spPr>
      </p:pic>
      <p:sp>
        <p:nvSpPr>
          <p:cNvPr id="21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9D4977-407A-A66D-A582-CAB40660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cs-CZ" sz="4000"/>
              <a:t>Řezové lemma</a:t>
            </a:r>
            <a:endParaRPr lang="en-US" sz="40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645718-0920-B375-C42E-2542A1D8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cs-CZ" sz="1700"/>
              <a:t>Pojmy:</a:t>
            </a:r>
          </a:p>
          <a:p>
            <a:pPr lvl="1"/>
            <a:r>
              <a:rPr lang="cs-CZ" sz="1700"/>
              <a:t>Graf G</a:t>
            </a:r>
          </a:p>
          <a:p>
            <a:pPr lvl="1"/>
            <a:r>
              <a:rPr lang="cs-CZ" sz="1700"/>
              <a:t>Podgraf A</a:t>
            </a:r>
          </a:p>
          <a:p>
            <a:pPr lvl="1"/>
            <a:r>
              <a:rPr lang="cs-CZ" sz="1700"/>
              <a:t>Doplněk B</a:t>
            </a:r>
          </a:p>
          <a:p>
            <a:pPr lvl="1"/>
            <a:r>
              <a:rPr lang="cs-CZ" sz="1700" i="1"/>
              <a:t>Elementární řez </a:t>
            </a:r>
            <a:r>
              <a:rPr lang="cs-CZ" sz="1700"/>
              <a:t>– množina hran mezi A, B</a:t>
            </a:r>
          </a:p>
          <a:p>
            <a:pPr lvl="1"/>
            <a:r>
              <a:rPr lang="cs-CZ" sz="1700" i="1"/>
              <a:t>e</a:t>
            </a:r>
            <a:r>
              <a:rPr lang="cs-CZ" sz="1700"/>
              <a:t> </a:t>
            </a:r>
            <a:r>
              <a:rPr lang="en-US" sz="1700"/>
              <a:t>– </a:t>
            </a:r>
            <a:r>
              <a:rPr lang="cs-CZ" sz="1700"/>
              <a:t>minimální hrana elementárního řezu</a:t>
            </a:r>
          </a:p>
          <a:p>
            <a:r>
              <a:rPr lang="cs-CZ" sz="1700" i="1"/>
              <a:t>e</a:t>
            </a:r>
            <a:r>
              <a:rPr lang="cs-CZ" sz="1700"/>
              <a:t> musí ležet v minimální kostře</a:t>
            </a:r>
          </a:p>
          <a:p>
            <a:pPr lvl="1"/>
            <a:r>
              <a:rPr lang="cs-CZ" sz="1700"/>
              <a:t>Alespoň jedna hrana elementárního řezu musí být v kostře</a:t>
            </a:r>
          </a:p>
          <a:p>
            <a:pPr lvl="1"/>
            <a:r>
              <a:rPr lang="cs-CZ" sz="1700"/>
              <a:t>Pokud se nejedná o minimální hranu, můžeme ji minimální hranou nahradit a zmenšit kostru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C6DF31D6-9165-5505-2360-567A384B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2139577"/>
            <a:ext cx="4833657" cy="299650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9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F5C687-300D-04DB-1CED-97EFBDED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Jarník</a:t>
            </a:r>
            <a:r>
              <a:rPr lang="cs-CZ" dirty="0"/>
              <a:t> demonstrace</a:t>
            </a:r>
            <a:endParaRPr lang="en-US" dirty="0"/>
          </a:p>
        </p:txBody>
      </p:sp>
      <p:pic>
        <p:nvPicPr>
          <p:cNvPr id="33" name="Grafický objekt 32">
            <a:extLst>
              <a:ext uri="{FF2B5EF4-FFF2-40B4-BE49-F238E27FC236}">
                <a16:creationId xmlns:a16="http://schemas.microsoft.com/office/drawing/2014/main" id="{BA9F12E7-1ABF-4600-4C69-08E9A70C71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35" name="Grafický objekt 34">
            <a:extLst>
              <a:ext uri="{FF2B5EF4-FFF2-40B4-BE49-F238E27FC236}">
                <a16:creationId xmlns:a16="http://schemas.microsoft.com/office/drawing/2014/main" id="{AA1D50B8-2E51-685C-CD46-0D0B26F42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37" name="Grafický objekt 36">
            <a:extLst>
              <a:ext uri="{FF2B5EF4-FFF2-40B4-BE49-F238E27FC236}">
                <a16:creationId xmlns:a16="http://schemas.microsoft.com/office/drawing/2014/main" id="{A5ED5E52-9FA0-EC54-51DD-C238122D1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39" name="Grafický objekt 38">
            <a:extLst>
              <a:ext uri="{FF2B5EF4-FFF2-40B4-BE49-F238E27FC236}">
                <a16:creationId xmlns:a16="http://schemas.microsoft.com/office/drawing/2014/main" id="{FB7F4A21-CC1F-E9D6-EDF8-4E2FB8642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41" name="Grafický objekt 40">
            <a:extLst>
              <a:ext uri="{FF2B5EF4-FFF2-40B4-BE49-F238E27FC236}">
                <a16:creationId xmlns:a16="http://schemas.microsoft.com/office/drawing/2014/main" id="{A5FCBCCF-0DDB-F42D-CA1B-BB6D74D48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43" name="Grafický objekt 42">
            <a:extLst>
              <a:ext uri="{FF2B5EF4-FFF2-40B4-BE49-F238E27FC236}">
                <a16:creationId xmlns:a16="http://schemas.microsoft.com/office/drawing/2014/main" id="{51E672D2-F299-45D3-735A-4C401EB65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45" name="Grafický objekt 44">
            <a:extLst>
              <a:ext uri="{FF2B5EF4-FFF2-40B4-BE49-F238E27FC236}">
                <a16:creationId xmlns:a16="http://schemas.microsoft.com/office/drawing/2014/main" id="{4F0D1B0A-8D55-0C49-1C7D-25BBFBF76F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47" name="Grafický objekt 46">
            <a:extLst>
              <a:ext uri="{FF2B5EF4-FFF2-40B4-BE49-F238E27FC236}">
                <a16:creationId xmlns:a16="http://schemas.microsoft.com/office/drawing/2014/main" id="{68EE0671-E9E4-3EF7-4EEA-8F84107F3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100" y="1806575"/>
            <a:ext cx="6019800" cy="4686300"/>
          </a:xfrm>
          <a:prstGeom prst="rect">
            <a:avLst/>
          </a:prstGeom>
        </p:spPr>
      </p:pic>
      <p:pic>
        <p:nvPicPr>
          <p:cNvPr id="49" name="Grafický objekt 48">
            <a:extLst>
              <a:ext uri="{FF2B5EF4-FFF2-40B4-BE49-F238E27FC236}">
                <a16:creationId xmlns:a16="http://schemas.microsoft.com/office/drawing/2014/main" id="{8C687109-D2D2-AD7F-97F7-7E584DBF05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5166" y="1806575"/>
            <a:ext cx="6019800" cy="4686300"/>
          </a:xfrm>
          <a:prstGeom prst="rect">
            <a:avLst/>
          </a:prstGeom>
        </p:spPr>
      </p:pic>
      <p:pic>
        <p:nvPicPr>
          <p:cNvPr id="51" name="Grafický objekt 50">
            <a:extLst>
              <a:ext uri="{FF2B5EF4-FFF2-40B4-BE49-F238E27FC236}">
                <a16:creationId xmlns:a16="http://schemas.microsoft.com/office/drawing/2014/main" id="{DA4E32E2-3CDE-F360-CC72-DC13BFE2D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65166" y="1806575"/>
            <a:ext cx="6019800" cy="4686300"/>
          </a:xfrm>
          <a:prstGeom prst="rect">
            <a:avLst/>
          </a:prstGeom>
        </p:spPr>
      </p:pic>
      <p:pic>
        <p:nvPicPr>
          <p:cNvPr id="53" name="Grafický objekt 52">
            <a:extLst>
              <a:ext uri="{FF2B5EF4-FFF2-40B4-BE49-F238E27FC236}">
                <a16:creationId xmlns:a16="http://schemas.microsoft.com/office/drawing/2014/main" id="{C1F98422-F26B-30AA-453D-1906B3EC7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5166" y="1806575"/>
            <a:ext cx="6019800" cy="4686300"/>
          </a:xfrm>
          <a:prstGeom prst="rect">
            <a:avLst/>
          </a:prstGeom>
        </p:spPr>
      </p:pic>
      <p:pic>
        <p:nvPicPr>
          <p:cNvPr id="55" name="Grafický objekt 54">
            <a:extLst>
              <a:ext uri="{FF2B5EF4-FFF2-40B4-BE49-F238E27FC236}">
                <a16:creationId xmlns:a16="http://schemas.microsoft.com/office/drawing/2014/main" id="{993E1B0B-A49A-6903-BAA4-56C121ED3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65166" y="1806575"/>
            <a:ext cx="6019800" cy="4686300"/>
          </a:xfrm>
          <a:prstGeom prst="rect">
            <a:avLst/>
          </a:prstGeom>
        </p:spPr>
      </p:pic>
      <p:pic>
        <p:nvPicPr>
          <p:cNvPr id="57" name="Grafický objekt 56">
            <a:extLst>
              <a:ext uri="{FF2B5EF4-FFF2-40B4-BE49-F238E27FC236}">
                <a16:creationId xmlns:a16="http://schemas.microsoft.com/office/drawing/2014/main" id="{D68F8024-1528-EE74-5B22-2918A61CD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65166" y="1806575"/>
            <a:ext cx="6019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5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22E8D2-160C-F3CF-3E41-FC2E0947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 dirty="0"/>
              <a:t>Bor</a:t>
            </a:r>
            <a:r>
              <a:rPr lang="cs-CZ" sz="4000" dirty="0" err="1"/>
              <a:t>ůvkův</a:t>
            </a:r>
            <a:r>
              <a:rPr lang="cs-CZ" sz="4000" dirty="0"/>
              <a:t> algoritmus</a:t>
            </a:r>
            <a:endParaRPr lang="en-US" sz="4000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DE68B00-48F1-0CB2-DF52-C8E6608CE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sz="2000" dirty="0"/>
              <a:t>D</a:t>
            </a:r>
            <a:r>
              <a:rPr lang="cs-CZ" sz="2000" dirty="0" err="1"/>
              <a:t>ůkaz</a:t>
            </a:r>
            <a:r>
              <a:rPr lang="cs-CZ" sz="2000" dirty="0"/>
              <a:t> správnosti podobný Jarníkově algoritmu</a:t>
            </a:r>
          </a:p>
          <a:p>
            <a:r>
              <a:rPr lang="cs-CZ" sz="2000" dirty="0"/>
              <a:t>Časová složitost O</a:t>
            </a:r>
            <a:r>
              <a:rPr lang="en-US" sz="2000" dirty="0"/>
              <a:t>(m*log(n))</a:t>
            </a:r>
          </a:p>
          <a:p>
            <a:pPr lvl="1"/>
            <a:r>
              <a:rPr lang="cs-CZ" sz="1600" dirty="0"/>
              <a:t>Algoritmus provede nejvýše log</a:t>
            </a:r>
            <a:r>
              <a:rPr lang="en-US" sz="1600" dirty="0"/>
              <a:t>(n) iter</a:t>
            </a:r>
            <a:r>
              <a:rPr lang="cs-CZ" sz="1600" dirty="0" err="1"/>
              <a:t>ací</a:t>
            </a:r>
            <a:endParaRPr lang="cs-CZ" sz="1600" dirty="0"/>
          </a:p>
          <a:p>
            <a:pPr lvl="1"/>
            <a:r>
              <a:rPr lang="cs-CZ" sz="1600" dirty="0"/>
              <a:t>Během jedné iterace lineárně nalezne komponenty souvislosti a nejlehčí hranu</a:t>
            </a:r>
          </a:p>
          <a:p>
            <a:r>
              <a:rPr lang="cs-CZ" sz="2000" dirty="0"/>
              <a:t>Nutnost unikátních vah</a:t>
            </a:r>
            <a:r>
              <a:rPr lang="en-US" sz="2000" dirty="0"/>
              <a:t>, </a:t>
            </a:r>
            <a:r>
              <a:rPr lang="en-US" sz="2000" dirty="0" err="1"/>
              <a:t>jinak</a:t>
            </a:r>
            <a:r>
              <a:rPr lang="en-US" sz="2000" dirty="0"/>
              <a:t> m</a:t>
            </a:r>
            <a:r>
              <a:rPr lang="cs-CZ" sz="2000" dirty="0" err="1"/>
              <a:t>ůže</a:t>
            </a:r>
            <a:r>
              <a:rPr lang="cs-CZ" sz="2000" dirty="0"/>
              <a:t> vzniknout cyklus</a:t>
            </a:r>
            <a:endParaRPr lang="en-US" sz="2000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E7BC125E-3522-64FE-1961-65E2FB1AC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99" y="2421197"/>
            <a:ext cx="4997195" cy="172403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9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E27159-ECD4-CA70-8CCB-F8771E95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710"/>
          </a:xfrm>
        </p:spPr>
        <p:txBody>
          <a:bodyPr/>
          <a:lstStyle/>
          <a:p>
            <a:r>
              <a:rPr lang="cs-CZ" dirty="0"/>
              <a:t>Borůvka demonstrace</a:t>
            </a:r>
            <a:endParaRPr lang="en-US" dirty="0"/>
          </a:p>
        </p:txBody>
      </p:sp>
      <p:pic>
        <p:nvPicPr>
          <p:cNvPr id="41" name="Grafický objekt 40">
            <a:extLst>
              <a:ext uri="{FF2B5EF4-FFF2-40B4-BE49-F238E27FC236}">
                <a16:creationId xmlns:a16="http://schemas.microsoft.com/office/drawing/2014/main" id="{B4298182-C331-4AA4-F1AF-1EC660D4E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  <p:pic>
        <p:nvPicPr>
          <p:cNvPr id="43" name="Grafický objekt 42">
            <a:extLst>
              <a:ext uri="{FF2B5EF4-FFF2-40B4-BE49-F238E27FC236}">
                <a16:creationId xmlns:a16="http://schemas.microsoft.com/office/drawing/2014/main" id="{5042687B-456F-9C7C-40E0-FC7E1A637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  <p:pic>
        <p:nvPicPr>
          <p:cNvPr id="45" name="Grafický objekt 44">
            <a:extLst>
              <a:ext uri="{FF2B5EF4-FFF2-40B4-BE49-F238E27FC236}">
                <a16:creationId xmlns:a16="http://schemas.microsoft.com/office/drawing/2014/main" id="{2316F0CB-87A8-AE86-E9FA-BFC4352442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  <p:pic>
        <p:nvPicPr>
          <p:cNvPr id="47" name="Grafický objekt 46">
            <a:extLst>
              <a:ext uri="{FF2B5EF4-FFF2-40B4-BE49-F238E27FC236}">
                <a16:creationId xmlns:a16="http://schemas.microsoft.com/office/drawing/2014/main" id="{FDA10079-2058-4FFF-2B1A-84C0D742B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  <p:pic>
        <p:nvPicPr>
          <p:cNvPr id="49" name="Grafický objekt 48">
            <a:extLst>
              <a:ext uri="{FF2B5EF4-FFF2-40B4-BE49-F238E27FC236}">
                <a16:creationId xmlns:a16="http://schemas.microsoft.com/office/drawing/2014/main" id="{1FBBAA86-3B7C-887B-F70B-7E925E3DA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  <p:pic>
        <p:nvPicPr>
          <p:cNvPr id="51" name="Grafický objekt 50">
            <a:extLst>
              <a:ext uri="{FF2B5EF4-FFF2-40B4-BE49-F238E27FC236}">
                <a16:creationId xmlns:a16="http://schemas.microsoft.com/office/drawing/2014/main" id="{A70CAB76-8082-1CC0-125F-D2127E154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6100" y="1653009"/>
            <a:ext cx="6019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4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17BAC-5DC8-A921-CB7F-6BF1478A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11B0376-466E-E58E-D5C3-405086EDD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CDC07C-D1AE-701D-61C0-44BED78E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 dirty="0"/>
              <a:t>Kru</a:t>
            </a:r>
            <a:r>
              <a:rPr lang="cs-CZ" sz="4000" dirty="0" err="1"/>
              <a:t>skalův</a:t>
            </a:r>
            <a:r>
              <a:rPr lang="cs-CZ" sz="4000" dirty="0"/>
              <a:t> algoritmus</a:t>
            </a:r>
            <a:endParaRPr lang="en-US" sz="4000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0C47178-14F8-0D73-2A36-055AD9B48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cs-CZ" dirty="0"/>
              <a:t>Časová složitost O</a:t>
            </a:r>
            <a:r>
              <a:rPr lang="en-US" dirty="0"/>
              <a:t>(m*log(n))</a:t>
            </a:r>
          </a:p>
          <a:p>
            <a:r>
              <a:rPr lang="cs-CZ" dirty="0"/>
              <a:t>Využití struktury Union-</a:t>
            </a:r>
            <a:r>
              <a:rPr lang="cs-CZ" dirty="0" err="1"/>
              <a:t>Find</a:t>
            </a:r>
            <a:endParaRPr lang="cs-CZ" dirty="0"/>
          </a:p>
          <a:p>
            <a:pPr lvl="1"/>
            <a:r>
              <a:rPr lang="en-US" dirty="0"/>
              <a:t>(</a:t>
            </a:r>
            <a:r>
              <a:rPr lang="cs-CZ" dirty="0"/>
              <a:t>keříková implementace</a:t>
            </a:r>
            <a:r>
              <a:rPr lang="en-US" dirty="0"/>
              <a:t>)</a:t>
            </a:r>
            <a:endParaRPr lang="cs-CZ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EBB208-2D4A-C317-E40A-B5CA643EB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50558E-AE71-73C5-1355-53D04C47C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9E60957-9454-B53C-9C0B-B11B73D62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94" y="219105"/>
            <a:ext cx="5649113" cy="1991003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69295CDD-5BFF-2A17-5445-41BA40DD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861" y="2358682"/>
            <a:ext cx="4458322" cy="153373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4DFBDDAD-B03B-FC6D-8A93-CB2C48A45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694" y="3995954"/>
            <a:ext cx="2667372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9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83CDCF-1A13-1EC8-8571-AF1713D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Kruskal</a:t>
            </a:r>
            <a:r>
              <a:rPr lang="cs-CZ" dirty="0"/>
              <a:t> demonstrace</a:t>
            </a:r>
            <a:endParaRPr lang="en-US" dirty="0"/>
          </a:p>
        </p:txBody>
      </p:sp>
      <p:pic>
        <p:nvPicPr>
          <p:cNvPr id="19" name="Zástupný obsah 18">
            <a:extLst>
              <a:ext uri="{FF2B5EF4-FFF2-40B4-BE49-F238E27FC236}">
                <a16:creationId xmlns:a16="http://schemas.microsoft.com/office/drawing/2014/main" id="{15CD34A3-340C-F7B5-19D3-2672BD85D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6100" y="1690688"/>
            <a:ext cx="6019800" cy="4686299"/>
          </a:xfrm>
          <a:prstGeom prst="rect">
            <a:avLst/>
          </a:prstGeom>
        </p:spPr>
      </p:pic>
      <p:pic>
        <p:nvPicPr>
          <p:cNvPr id="21" name="Grafický objekt 20">
            <a:extLst>
              <a:ext uri="{FF2B5EF4-FFF2-40B4-BE49-F238E27FC236}">
                <a16:creationId xmlns:a16="http://schemas.microsoft.com/office/drawing/2014/main" id="{85986DD0-7EE8-CD31-699D-6CCD4914F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6100" y="1690687"/>
            <a:ext cx="6019800" cy="4686300"/>
          </a:xfrm>
          <a:prstGeom prst="rect">
            <a:avLst/>
          </a:prstGeom>
        </p:spPr>
      </p:pic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DA40C834-F4C5-FEC0-C715-48ACAF28E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100" y="1690687"/>
            <a:ext cx="6019800" cy="4686300"/>
          </a:xfrm>
          <a:prstGeom prst="rect">
            <a:avLst/>
          </a:prstGeom>
        </p:spPr>
      </p:pic>
      <p:pic>
        <p:nvPicPr>
          <p:cNvPr id="25" name="Grafický objekt 24">
            <a:extLst>
              <a:ext uri="{FF2B5EF4-FFF2-40B4-BE49-F238E27FC236}">
                <a16:creationId xmlns:a16="http://schemas.microsoft.com/office/drawing/2014/main" id="{A4FB19A5-DBB9-CC99-B863-3287E23EE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6100" y="1690686"/>
            <a:ext cx="6019800" cy="4686300"/>
          </a:xfrm>
          <a:prstGeom prst="rect">
            <a:avLst/>
          </a:prstGeom>
        </p:spPr>
      </p:pic>
      <p:pic>
        <p:nvPicPr>
          <p:cNvPr id="27" name="Grafický objekt 26">
            <a:extLst>
              <a:ext uri="{FF2B5EF4-FFF2-40B4-BE49-F238E27FC236}">
                <a16:creationId xmlns:a16="http://schemas.microsoft.com/office/drawing/2014/main" id="{5A9FD7A7-4E86-CEAB-19E1-3744903AB9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6100" y="1690685"/>
            <a:ext cx="6019800" cy="4686300"/>
          </a:xfrm>
          <a:prstGeom prst="rect">
            <a:avLst/>
          </a:prstGeom>
        </p:spPr>
      </p:pic>
      <p:pic>
        <p:nvPicPr>
          <p:cNvPr id="29" name="Grafický objekt 28">
            <a:extLst>
              <a:ext uri="{FF2B5EF4-FFF2-40B4-BE49-F238E27FC236}">
                <a16:creationId xmlns:a16="http://schemas.microsoft.com/office/drawing/2014/main" id="{F1F816CD-279F-9536-B718-2A7CDF4F2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6100" y="1690684"/>
            <a:ext cx="6019800" cy="4686300"/>
          </a:xfrm>
          <a:prstGeom prst="rect">
            <a:avLst/>
          </a:prstGeom>
        </p:spPr>
      </p:pic>
      <p:pic>
        <p:nvPicPr>
          <p:cNvPr id="31" name="Grafický objekt 30">
            <a:extLst>
              <a:ext uri="{FF2B5EF4-FFF2-40B4-BE49-F238E27FC236}">
                <a16:creationId xmlns:a16="http://schemas.microsoft.com/office/drawing/2014/main" id="{64F2AE4E-85AE-465E-C631-2563AB2D1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100" y="1690684"/>
            <a:ext cx="6019800" cy="4686300"/>
          </a:xfrm>
          <a:prstGeom prst="rect">
            <a:avLst/>
          </a:prstGeom>
        </p:spPr>
      </p:pic>
      <p:pic>
        <p:nvPicPr>
          <p:cNvPr id="33" name="Grafický objekt 32">
            <a:extLst>
              <a:ext uri="{FF2B5EF4-FFF2-40B4-BE49-F238E27FC236}">
                <a16:creationId xmlns:a16="http://schemas.microsoft.com/office/drawing/2014/main" id="{B3414A9C-0BD9-2F00-7507-C158B9447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100" y="1690684"/>
            <a:ext cx="6019800" cy="4686300"/>
          </a:xfrm>
          <a:prstGeom prst="rect">
            <a:avLst/>
          </a:prstGeom>
        </p:spPr>
      </p:pic>
      <p:pic>
        <p:nvPicPr>
          <p:cNvPr id="35" name="Grafický objekt 34">
            <a:extLst>
              <a:ext uri="{FF2B5EF4-FFF2-40B4-BE49-F238E27FC236}">
                <a16:creationId xmlns:a16="http://schemas.microsoft.com/office/drawing/2014/main" id="{8EF62632-5945-A81A-F14D-EF352EBE3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86100" y="1690684"/>
            <a:ext cx="6019800" cy="4686300"/>
          </a:xfrm>
          <a:prstGeom prst="rect">
            <a:avLst/>
          </a:prstGeom>
        </p:spPr>
      </p:pic>
      <p:pic>
        <p:nvPicPr>
          <p:cNvPr id="37" name="Grafický objekt 36">
            <a:extLst>
              <a:ext uri="{FF2B5EF4-FFF2-40B4-BE49-F238E27FC236}">
                <a16:creationId xmlns:a16="http://schemas.microsoft.com/office/drawing/2014/main" id="{F4C65EEC-580A-F80D-7166-E6886BAD1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86100" y="1690684"/>
            <a:ext cx="6019800" cy="4686300"/>
          </a:xfrm>
          <a:prstGeom prst="rect">
            <a:avLst/>
          </a:prstGeom>
        </p:spPr>
      </p:pic>
      <p:pic>
        <p:nvPicPr>
          <p:cNvPr id="39" name="Grafický objekt 38">
            <a:extLst>
              <a:ext uri="{FF2B5EF4-FFF2-40B4-BE49-F238E27FC236}">
                <a16:creationId xmlns:a16="http://schemas.microsoft.com/office/drawing/2014/main" id="{6089271F-46B8-117A-2985-F86D7BA68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6100" y="1690683"/>
            <a:ext cx="6019800" cy="4686300"/>
          </a:xfrm>
          <a:prstGeom prst="rect">
            <a:avLst/>
          </a:prstGeom>
        </p:spPr>
      </p:pic>
      <p:pic>
        <p:nvPicPr>
          <p:cNvPr id="41" name="Grafický objekt 40">
            <a:extLst>
              <a:ext uri="{FF2B5EF4-FFF2-40B4-BE49-F238E27FC236}">
                <a16:creationId xmlns:a16="http://schemas.microsoft.com/office/drawing/2014/main" id="{29D8918D-274E-F582-4352-6249BCCF6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6100" y="1690682"/>
            <a:ext cx="6019800" cy="4686300"/>
          </a:xfrm>
          <a:prstGeom prst="rect">
            <a:avLst/>
          </a:prstGeom>
        </p:spPr>
      </p:pic>
      <p:pic>
        <p:nvPicPr>
          <p:cNvPr id="43" name="Grafický objekt 42">
            <a:extLst>
              <a:ext uri="{FF2B5EF4-FFF2-40B4-BE49-F238E27FC236}">
                <a16:creationId xmlns:a16="http://schemas.microsoft.com/office/drawing/2014/main" id="{0152AFBA-F851-A4B8-15C4-37BAFF15D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86100" y="1690681"/>
            <a:ext cx="6019800" cy="4686300"/>
          </a:xfrm>
          <a:prstGeom prst="rect">
            <a:avLst/>
          </a:prstGeom>
        </p:spPr>
      </p:pic>
      <p:pic>
        <p:nvPicPr>
          <p:cNvPr id="45" name="Grafický objekt 44">
            <a:extLst>
              <a:ext uri="{FF2B5EF4-FFF2-40B4-BE49-F238E27FC236}">
                <a16:creationId xmlns:a16="http://schemas.microsoft.com/office/drawing/2014/main" id="{669EE280-C292-8417-8E87-B52433A1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86100" y="1690680"/>
            <a:ext cx="6019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9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26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D7DB6F-AD0D-7799-FF48-B3D76A49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Využití minimální kostry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8B8AF82-8408-D9D5-32B5-2E944DEF47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8580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319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109006-1F47-6893-2DFE-DE983AAC0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8800" dirty="0"/>
              <a:t>Děkuji za pozornost</a:t>
            </a:r>
            <a:endParaRPr lang="en-US" sz="88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7CA959D-B582-0AC3-05BB-691A304F4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3600" dirty="0"/>
              <a:t>A za vaše loňské prezentace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8501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269</Words>
  <Application>Microsoft Office PowerPoint</Application>
  <PresentationFormat>Širokoúhlá obrazovka</PresentationFormat>
  <Paragraphs>48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Motiv Office</vt:lpstr>
      <vt:lpstr>23. Minimální kostra grafu</vt:lpstr>
      <vt:lpstr>Definice minimální kostry</vt:lpstr>
      <vt:lpstr>Jarníkův algoritmus</vt:lpstr>
      <vt:lpstr>Řezové lemma</vt:lpstr>
      <vt:lpstr>Jarník demonstrace</vt:lpstr>
      <vt:lpstr>Borůvkův algoritmus</vt:lpstr>
      <vt:lpstr>Borůvka demonstrace</vt:lpstr>
      <vt:lpstr>Kruskalův algoritmus</vt:lpstr>
      <vt:lpstr>Kruskal demonstrace</vt:lpstr>
      <vt:lpstr>Využití minimální kostry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Bernat</dc:creator>
  <cp:lastModifiedBy>Jan Bernat</cp:lastModifiedBy>
  <cp:revision>3</cp:revision>
  <dcterms:created xsi:type="dcterms:W3CDTF">2026-04-12T08:17:17Z</dcterms:created>
  <dcterms:modified xsi:type="dcterms:W3CDTF">2026-04-12T17:01:54Z</dcterms:modified>
</cp:coreProperties>
</file>