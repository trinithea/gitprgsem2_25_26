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2C5A47-A672-4A96-9CDD-F84255419C64}">
  <a:tblStyle styleId="{BD2C5A47-A672-4A96-9CDD-F84255419C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7695994ad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7695994ad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695994a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7695994a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695994a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7695994a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695994a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7695994a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7695994a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7695994a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7695994a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7695994a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7695994a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7695994a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7695994a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7695994a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7695994a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7695994a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52475" y="15678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cs">
                <a:latin typeface="Arial"/>
                <a:ea typeface="Arial"/>
                <a:cs typeface="Arial"/>
                <a:sym typeface="Arial"/>
              </a:rPr>
              <a:t>pojové datové struktury. Pole.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Lukáš Andrle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</a:t>
            </a:r>
            <a:r>
              <a:rPr lang="cs"/>
              <a:t>atová struktura x Datový typ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s"/>
              <a:t>Datový typ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cs"/>
              <a:t>Š</a:t>
            </a:r>
            <a:r>
              <a:rPr lang="cs"/>
              <a:t>títek, který říká kompilátoru nebo interpretu, jakou hodnotu proměnná nese a co se s ní dá dělat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s"/>
              <a:t>Datová struktura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cs"/>
              <a:t>Způsob</a:t>
            </a:r>
            <a:r>
              <a:rPr lang="cs"/>
              <a:t> organizace a ukládání dat v paměti počítače tak, aby k nim bylo možné efektivně přistupovat a upravovat je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cs"/>
              <a:t>Skládá se z datových typů uspořádaných podle určitých pravidel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Klasifikace datových struktur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Nelineární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Příklady: stromové a grafové datové struktury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Lineární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Statické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cs">
                <a:latin typeface="Arial"/>
                <a:ea typeface="Arial"/>
                <a:cs typeface="Arial"/>
                <a:sym typeface="Arial"/>
              </a:rPr>
              <a:t>evná velikost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Příklad: pole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Dynamické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Velikost není pevně stanovená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Příklady: zásobník, fronta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425" y="1003445"/>
            <a:ext cx="3630074" cy="19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Pole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cs">
                <a:latin typeface="Arial"/>
                <a:ea typeface="Arial"/>
                <a:cs typeface="Arial"/>
                <a:sym typeface="Arial"/>
              </a:rPr>
              <a:t>ineární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Kolekce prvků stejného datového typu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Prvky leží v operační paměti vedle sebe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Výhody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Přístup O(1) - máme základní adresu a každý prvek má stejnou velikost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Adresa = Začátek pole + (Index x Velikost datového typu)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123" y="509948"/>
            <a:ext cx="3424250" cy="15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Spojové struktury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Lineární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Prvky nejsou uloženy </a:t>
            </a:r>
            <a:r>
              <a:rPr lang="cs">
                <a:latin typeface="Arial"/>
                <a:ea typeface="Arial"/>
                <a:cs typeface="Arial"/>
                <a:sym typeface="Arial"/>
              </a:rPr>
              <a:t>vedle sebe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Prvky jsou propojeny pomocí ukazatelů (pointerů)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Základní stavební jednotka: Uzel (Node)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575" y="171500"/>
            <a:ext cx="4228050" cy="17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Typy spojových seznamů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2306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Jednosměrný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cs" sz="1200"/>
              <a:t>Každý uzel má referenci pouze na následující prvek</a:t>
            </a:r>
            <a:endParaRPr sz="1200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3604200" y="1567550"/>
            <a:ext cx="2306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Obousměrný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cs" sz="1200"/>
              <a:t>Uzel ukazuje na následníka i na předchůdce</a:t>
            </a:r>
            <a:endParaRPr sz="12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5910900" y="1567550"/>
            <a:ext cx="2306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Kruhový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cs" sz="1200"/>
              <a:t>Poslední prvek neukazuje na null, ale zpět na začátek seznamu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List&lt;T&gt; x LinkedList&lt;T&gt;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List&lt;T&gt; (Dynamické pole)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Pole, které automaticky mění svou velikost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Při zaplnění, C# vytvoří nové, větší pole a všechna data do něj překopíruje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LinkedList&lt;T&gt; (Spojový seznam)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Skládá se z uzlů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Uzel obsahuje samotná data a dva ukazatele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Srovnání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910175" y="144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{BD2C5A47-A672-4A96-9CDD-F84255419C64}</a:tableStyleId>
              </a:tblPr>
              <a:tblGrid>
                <a:gridCol w="2425350"/>
                <a:gridCol w="2425350"/>
                <a:gridCol w="2425350"/>
              </a:tblGrid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Struktura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Paměťová náročnost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Charakteristika v paměti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Array (Pole)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Nejnižší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Fixní blok paměti. Pouze data.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List&lt;T&gt;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Střední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Interně pole, které může mít nevyužitou kapacitu (buffer) pro budoucí růst. (až 50%)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LinkedList&lt;T&gt;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Nejvyšší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Každý prvek je zabalen v objektu Node, který obsahuje dva ukazatele (8–16 bytů navíc na prvek).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Arial"/>
                <a:ea typeface="Arial"/>
                <a:cs typeface="Arial"/>
                <a:sym typeface="Arial"/>
              </a:rPr>
              <a:t>Srovnání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21"/>
          <p:cNvGraphicFramePr/>
          <p:nvPr/>
        </p:nvGraphicFramePr>
        <p:xfrm>
          <a:off x="8520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{BD2C5A47-A672-4A96-9CDD-F84255419C64}</a:tableStyleId>
              </a:tblPr>
              <a:tblGrid>
                <a:gridCol w="1488000"/>
                <a:gridCol w="1488000"/>
                <a:gridCol w="1488000"/>
                <a:gridCol w="1488000"/>
                <a:gridCol w="148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Datová struktura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Indexování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Hledání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Vkládání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Mazání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Array (Pole)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List&lt;T&gt;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LinkedList&lt;T&gt;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">
                          <a:solidFill>
                            <a:schemeClr val="lt1"/>
                          </a:solidFill>
                        </a:rPr>
                        <a:t>O(1)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 zvolit?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3270250" y="936650"/>
            <a:ext cx="2540000" cy="751400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Mám pevný počet prvků?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253575" y="1862675"/>
            <a:ext cx="3271300" cy="914100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Potřebuju rychle přidávat/mazat prvky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2031850" y="2205250"/>
            <a:ext cx="1238400" cy="39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ato"/>
                <a:ea typeface="Lato"/>
                <a:cs typeface="Lato"/>
                <a:sym typeface="Lato"/>
              </a:rPr>
              <a:t>Array (pole)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253575" y="3209225"/>
            <a:ext cx="1297500" cy="39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ato"/>
                <a:ea typeface="Lato"/>
                <a:cs typeface="Lato"/>
                <a:sym typeface="Lato"/>
              </a:rPr>
              <a:t>LinkedList&lt;T&gt;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7376475" y="3209225"/>
            <a:ext cx="1238400" cy="39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latin typeface="Lato"/>
                <a:ea typeface="Lato"/>
                <a:cs typeface="Lato"/>
                <a:sym typeface="Lato"/>
              </a:rPr>
              <a:t>List&lt;T&gt;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" name="Google Shape;200;p22"/>
          <p:cNvCxnSpPr>
            <a:stCxn id="195" idx="2"/>
            <a:endCxn id="197" idx="0"/>
          </p:cNvCxnSpPr>
          <p:nvPr/>
        </p:nvCxnSpPr>
        <p:spPr>
          <a:xfrm flipH="1">
            <a:off x="2651150" y="1688050"/>
            <a:ext cx="1889100" cy="5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2"/>
          <p:cNvCxnSpPr>
            <a:stCxn id="195" idx="2"/>
            <a:endCxn id="196" idx="0"/>
          </p:cNvCxnSpPr>
          <p:nvPr/>
        </p:nvCxnSpPr>
        <p:spPr>
          <a:xfrm>
            <a:off x="4540250" y="1688050"/>
            <a:ext cx="2349000" cy="1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>
            <a:stCxn id="196" idx="2"/>
            <a:endCxn id="198" idx="0"/>
          </p:cNvCxnSpPr>
          <p:nvPr/>
        </p:nvCxnSpPr>
        <p:spPr>
          <a:xfrm flipH="1">
            <a:off x="5902225" y="2776775"/>
            <a:ext cx="9870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>
            <a:stCxn id="196" idx="2"/>
            <a:endCxn id="199" idx="0"/>
          </p:cNvCxnSpPr>
          <p:nvPr/>
        </p:nvCxnSpPr>
        <p:spPr>
          <a:xfrm>
            <a:off x="6889225" y="2776775"/>
            <a:ext cx="11064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2"/>
          <p:cNvSpPr txBox="1"/>
          <p:nvPr/>
        </p:nvSpPr>
        <p:spPr>
          <a:xfrm>
            <a:off x="3153825" y="1656300"/>
            <a:ext cx="80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5993575" y="2713575"/>
            <a:ext cx="80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464150" y="1407550"/>
            <a:ext cx="80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410425" y="2740050"/>
            <a:ext cx="80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